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
<Relationships xmlns="http://schemas.openxmlformats.org/package/2006/relationships">
    <Relationship Id="rId3" Type="http://schemas.openxmlformats.org/package/2006/relationships/metadata/core-properties" Target="docProps/core.xml" />
    <Relationship Id="rId2" Type="http://schemas.openxmlformats.org/package/2006/relationships/metadata/thumbnail" Target="docProps/thumbnail.jpeg" />
    <Relationship Id="rId1" Type="http://schemas.openxmlformats.org/officeDocument/2006/relationships/officeDocument" Target="ppt/presentation.xml" />
    <Relationship Id="rId4" Type="http://schemas.openxmlformats.org/officeDocument/2006/relationships/extended-properties" Target="docProps/app.xml" />
    <Relationship Id="rId5"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8" r:id="rId3"/>
    <p:sldId id="259" r:id="rId4"/>
    <p:sldId id="257"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17"/>
    <p:restoredTop sz="96327"/>
  </p:normalViewPr>
  <p:slideViewPr>
    <p:cSldViewPr snapToGrid="0" snapToObjects="1">
      <p:cViewPr varScale="1">
        <p:scale>
          <a:sx n="88" d="100"/>
          <a:sy n="88" d="100"/>
        </p:scale>
        <p:origin x="60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3789164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3380270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3379326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2910104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1117651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4194543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3341722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2331456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410909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3578555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E9686CC-6718-D241-8080-026096F8A2CD}" type="datetimeFigureOut">
              <a:rPr kumimoji="1" lang="ja-JP" altLang="en-US" smtClean="0"/>
              <a:t>2023/2/15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1248644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9686CC-6718-D241-8080-026096F8A2CD}" type="datetimeFigureOut">
              <a:rPr kumimoji="1" lang="ja-JP" altLang="en-US" smtClean="0"/>
              <a:t>2023/2/15</a:t>
            </a:fld>
            <a:endParaRPr kumimoji="1" lang="ja-JP"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4F7F83-C9B3-6048-AEEE-A21F257CA524}" type="slidenum">
              <a:rPr kumimoji="1" lang="ja-JP" altLang="en-US" smtClean="0"/>
              <a:t>‹#›</a:t>
            </a:fld>
            <a:endParaRPr kumimoji="1" lang="ja-JP" altLang="en-US"/>
          </a:p>
        </p:txBody>
      </p:sp>
    </p:spTree>
    <p:extLst>
      <p:ext uri="{BB962C8B-B14F-4D97-AF65-F5344CB8AC3E}">
        <p14:creationId xmlns:p14="http://schemas.microsoft.com/office/powerpoint/2010/main" val="9021569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9264"/>
            <a:ext cx="4598947" cy="409636"/>
          </a:xfrm>
          <a:solidFill>
            <a:schemeClr val="accent2"/>
          </a:solidFill>
        </p:spPr>
        <p:txBody>
          <a:bodyPr anchor="ctr" anchorCtr="0">
            <a:normAutofit fontScale="90000"/>
          </a:bodyPr>
          <a:lstStyle/>
          <a:p>
            <a:pPr algn="l"/>
            <a:r>
              <a:rPr lang="en-US" altLang="ja-JP" sz="2600" dirty="0">
                <a:solidFill>
                  <a:schemeClr val="bg1"/>
                </a:solidFill>
                <a:latin typeface="等线 Light" panose="02010600030101010101" pitchFamily="2" charset="-122"/>
                <a:ea typeface="等线 Light" panose="02010600030101010101" pitchFamily="2" charset="-122"/>
              </a:rPr>
              <a:t>01</a:t>
            </a:r>
            <a:r>
              <a:rPr lang="ja-JP" altLang="en-US" sz="2600" dirty="0">
                <a:solidFill>
                  <a:schemeClr val="bg1"/>
                </a:solidFill>
                <a:latin typeface="等线 Light" panose="02010600030101010101" pitchFamily="2" charset="-122"/>
                <a:ea typeface="等线 Light" panose="02010600030101010101" pitchFamily="2" charset="-122"/>
              </a:rPr>
              <a:t>　ＭＥＣＥ</a:t>
            </a:r>
            <a:r>
              <a:rPr lang="zh-CN" altLang="en-US" sz="2600" dirty="0">
                <a:solidFill>
                  <a:schemeClr val="bg1"/>
                </a:solidFill>
                <a:latin typeface="等线 Light" panose="02010600030101010101" pitchFamily="2" charset="-122"/>
                <a:ea typeface="等线 Light" panose="02010600030101010101" pitchFamily="2" charset="-122"/>
              </a:rPr>
              <a:t>原则 </a:t>
            </a:r>
            <a:r>
              <a:rPr lang="ja-JP" altLang="en-US" sz="1625" dirty="0">
                <a:solidFill>
                  <a:schemeClr val="bg1"/>
                </a:solidFill>
                <a:latin typeface="等线 Light" panose="02010600030101010101" pitchFamily="2" charset="-122"/>
                <a:ea typeface="等线 Light" panose="02010600030101010101" pitchFamily="2" charset="-122"/>
              </a:rPr>
              <a:t>→</a:t>
            </a:r>
            <a:r>
              <a:rPr lang="zh-CN" altLang="en-US" sz="1625" dirty="0">
                <a:solidFill>
                  <a:schemeClr val="bg1"/>
                </a:solidFill>
                <a:latin typeface="等线 Light" panose="02010600030101010101" pitchFamily="2" charset="-122"/>
                <a:ea typeface="等线 Light" panose="02010600030101010101" pitchFamily="2" charset="-122"/>
              </a:rPr>
              <a:t>本书第</a:t>
            </a:r>
            <a:r>
              <a:rPr lang="en-US" altLang="zh-CN" sz="1625" dirty="0">
                <a:solidFill>
                  <a:schemeClr val="bg1"/>
                </a:solidFill>
                <a:latin typeface="等线 Light" panose="02010600030101010101" pitchFamily="2" charset="-122"/>
                <a:ea typeface="等线 Light" panose="02010600030101010101" pitchFamily="2" charset="-122"/>
              </a:rPr>
              <a:t>2</a:t>
            </a:r>
            <a:r>
              <a:rPr lang="zh-CN" altLang="en-US" sz="1625" dirty="0">
                <a:solidFill>
                  <a:schemeClr val="bg1"/>
                </a:solidFill>
                <a:latin typeface="等线 Light" panose="02010600030101010101" pitchFamily="2" charset="-122"/>
                <a:ea typeface="等线 Light" panose="02010600030101010101" pitchFamily="2" charset="-122"/>
              </a:rPr>
              <a:t>页</a:t>
            </a:r>
            <a:endParaRPr lang="ja-JP" altLang="en-US" sz="2600" dirty="0">
              <a:solidFill>
                <a:schemeClr val="bg1"/>
              </a:solidFill>
              <a:latin typeface="等线 Light" panose="02010600030101010101" pitchFamily="2" charset="-122"/>
              <a:ea typeface="等线 Light" panose="02010600030101010101" pitchFamily="2" charset="-122"/>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9264"/>
            <a:ext cx="4598947" cy="409636"/>
          </a:xfrm>
          <a:solidFill>
            <a:schemeClr val="accent2">
              <a:lumMod val="20000"/>
              <a:lumOff val="80000"/>
            </a:schemeClr>
          </a:solidFill>
        </p:spPr>
        <p:txBody>
          <a:bodyPr anchor="ctr" anchorCtr="0">
            <a:normAutofit/>
          </a:bodyPr>
          <a:lstStyle/>
          <a:p>
            <a:pPr algn="l"/>
            <a:r>
              <a:rPr lang="zh-CN" altLang="en-US" sz="1138" dirty="0">
                <a:latin typeface="宋体" panose="02010600030101010101" pitchFamily="2" charset="-122"/>
                <a:ea typeface="宋体" panose="02010600030101010101" pitchFamily="2" charset="-122"/>
              </a:rPr>
              <a:t>将分析对象设定为顾客或销售额等，然后将其划分为不同的构成要素，确认是否有遗漏或重复。</a:t>
            </a:r>
            <a:endParaRPr lang="ja-JP" altLang="en-US" sz="1138" dirty="0">
              <a:latin typeface="宋体" panose="02010600030101010101" pitchFamily="2" charset="-122"/>
              <a:ea typeface="宋体" panose="02010600030101010101" pitchFamily="2" charset="-122"/>
            </a:endParaRPr>
          </a:p>
        </p:txBody>
      </p:sp>
      <p:sp>
        <p:nvSpPr>
          <p:cNvPr id="4" name="角丸四角形 3">
            <a:extLst>
              <a:ext uri="{FF2B5EF4-FFF2-40B4-BE49-F238E27FC236}">
                <a16:creationId xmlns:a16="http://schemas.microsoft.com/office/drawing/2014/main" id="{7AE324DD-4D64-2147-A427-AB9F077504C9}"/>
              </a:ext>
            </a:extLst>
          </p:cNvPr>
          <p:cNvSpPr/>
          <p:nvPr/>
        </p:nvSpPr>
        <p:spPr>
          <a:xfrm>
            <a:off x="3519168" y="1396828"/>
            <a:ext cx="2851322" cy="391555"/>
          </a:xfrm>
          <a:prstGeom prst="roundRect">
            <a:avLst/>
          </a:prstGeom>
          <a:solidFill>
            <a:schemeClr val="bg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463">
              <a:solidFill>
                <a:schemeClr val="tx1"/>
              </a:solidFill>
              <a:latin typeface="宋体" panose="02010600030101010101" pitchFamily="2" charset="-122"/>
              <a:ea typeface="宋体" panose="02010600030101010101" pitchFamily="2" charset="-122"/>
            </a:endParaRPr>
          </a:p>
        </p:txBody>
      </p:sp>
      <p:sp>
        <p:nvSpPr>
          <p:cNvPr id="7" name="角丸四角形 6">
            <a:extLst>
              <a:ext uri="{FF2B5EF4-FFF2-40B4-BE49-F238E27FC236}">
                <a16:creationId xmlns:a16="http://schemas.microsoft.com/office/drawing/2014/main" id="{09149935-5AB5-EC43-B0F1-F748E4814173}"/>
              </a:ext>
            </a:extLst>
          </p:cNvPr>
          <p:cNvSpPr/>
          <p:nvPr/>
        </p:nvSpPr>
        <p:spPr>
          <a:xfrm>
            <a:off x="7992846" y="2398470"/>
            <a:ext cx="463762" cy="1574823"/>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12" name="角丸四角形 11">
            <a:extLst>
              <a:ext uri="{FF2B5EF4-FFF2-40B4-BE49-F238E27FC236}">
                <a16:creationId xmlns:a16="http://schemas.microsoft.com/office/drawing/2014/main" id="{7B57C4DA-99A7-094D-A4C3-E1B2CE33A3CA}"/>
              </a:ext>
            </a:extLst>
          </p:cNvPr>
          <p:cNvSpPr/>
          <p:nvPr/>
        </p:nvSpPr>
        <p:spPr>
          <a:xfrm>
            <a:off x="8531493" y="4916927"/>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17" name="角丸四角形 16">
            <a:extLst>
              <a:ext uri="{FF2B5EF4-FFF2-40B4-BE49-F238E27FC236}">
                <a16:creationId xmlns:a16="http://schemas.microsoft.com/office/drawing/2014/main" id="{5AA5335D-5A05-0749-83A7-F7F504505850}"/>
              </a:ext>
            </a:extLst>
          </p:cNvPr>
          <p:cNvSpPr/>
          <p:nvPr/>
        </p:nvSpPr>
        <p:spPr>
          <a:xfrm>
            <a:off x="9075883" y="4916926"/>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23" name="角丸四角形 22">
            <a:extLst>
              <a:ext uri="{FF2B5EF4-FFF2-40B4-BE49-F238E27FC236}">
                <a16:creationId xmlns:a16="http://schemas.microsoft.com/office/drawing/2014/main" id="{5EFBBBF9-9169-AE4B-9A17-3880EC997323}"/>
              </a:ext>
            </a:extLst>
          </p:cNvPr>
          <p:cNvSpPr/>
          <p:nvPr/>
        </p:nvSpPr>
        <p:spPr>
          <a:xfrm>
            <a:off x="7986879" y="4925037"/>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cxnSp>
        <p:nvCxnSpPr>
          <p:cNvPr id="33" name="カギ線コネクタ 32">
            <a:extLst>
              <a:ext uri="{FF2B5EF4-FFF2-40B4-BE49-F238E27FC236}">
                <a16:creationId xmlns:a16="http://schemas.microsoft.com/office/drawing/2014/main" id="{755F437A-866A-4440-9AFE-DBDC38B65006}"/>
              </a:ext>
            </a:extLst>
          </p:cNvPr>
          <p:cNvCxnSpPr>
            <a:cxnSpLocks/>
            <a:stCxn id="4" idx="2"/>
            <a:endCxn id="7" idx="0"/>
          </p:cNvCxnSpPr>
          <p:nvPr/>
        </p:nvCxnSpPr>
        <p:spPr>
          <a:xfrm rot="16200000" flipH="1">
            <a:off x="6279735" y="453477"/>
            <a:ext cx="610087" cy="3279898"/>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63" name="カギ線コネクタ 62">
            <a:extLst>
              <a:ext uri="{FF2B5EF4-FFF2-40B4-BE49-F238E27FC236}">
                <a16:creationId xmlns:a16="http://schemas.microsoft.com/office/drawing/2014/main" id="{4BF5A8A3-D860-0E48-B8D0-D0A82C530E8C}"/>
              </a:ext>
            </a:extLst>
          </p:cNvPr>
          <p:cNvCxnSpPr>
            <a:cxnSpLocks/>
            <a:stCxn id="7" idx="2"/>
            <a:endCxn id="17" idx="0"/>
          </p:cNvCxnSpPr>
          <p:nvPr/>
        </p:nvCxnSpPr>
        <p:spPr>
          <a:xfrm rot="16200000" flipH="1">
            <a:off x="8294429" y="3903590"/>
            <a:ext cx="943633" cy="108303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66" name="カギ線コネクタ 65">
            <a:extLst>
              <a:ext uri="{FF2B5EF4-FFF2-40B4-BE49-F238E27FC236}">
                <a16:creationId xmlns:a16="http://schemas.microsoft.com/office/drawing/2014/main" id="{E368786E-672E-DC4E-A84D-EF573CE258F3}"/>
              </a:ext>
            </a:extLst>
          </p:cNvPr>
          <p:cNvCxnSpPr>
            <a:cxnSpLocks/>
            <a:stCxn id="7" idx="2"/>
            <a:endCxn id="12" idx="0"/>
          </p:cNvCxnSpPr>
          <p:nvPr/>
        </p:nvCxnSpPr>
        <p:spPr>
          <a:xfrm rot="16200000" flipH="1">
            <a:off x="8022233" y="4175786"/>
            <a:ext cx="943634" cy="53864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69" name="カギ線コネクタ 68">
            <a:extLst>
              <a:ext uri="{FF2B5EF4-FFF2-40B4-BE49-F238E27FC236}">
                <a16:creationId xmlns:a16="http://schemas.microsoft.com/office/drawing/2014/main" id="{01BF5E74-71F5-2C4B-BD4D-66F921DD5892}"/>
              </a:ext>
            </a:extLst>
          </p:cNvPr>
          <p:cNvCxnSpPr>
            <a:cxnSpLocks/>
            <a:stCxn id="7" idx="2"/>
            <a:endCxn id="23" idx="0"/>
          </p:cNvCxnSpPr>
          <p:nvPr/>
        </p:nvCxnSpPr>
        <p:spPr>
          <a:xfrm rot="5400000">
            <a:off x="7745872" y="4446182"/>
            <a:ext cx="951744" cy="596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sp>
        <p:nvSpPr>
          <p:cNvPr id="46" name="テキスト ボックス 45">
            <a:extLst>
              <a:ext uri="{FF2B5EF4-FFF2-40B4-BE49-F238E27FC236}">
                <a16:creationId xmlns:a16="http://schemas.microsoft.com/office/drawing/2014/main" id="{2B68C4F9-7C4E-C84B-AE96-FAD3A82A1F21}"/>
              </a:ext>
            </a:extLst>
          </p:cNvPr>
          <p:cNvSpPr txBox="1"/>
          <p:nvPr/>
        </p:nvSpPr>
        <p:spPr>
          <a:xfrm>
            <a:off x="3466417" y="1127586"/>
            <a:ext cx="800219" cy="276999"/>
          </a:xfrm>
          <a:prstGeom prst="rect">
            <a:avLst/>
          </a:prstGeom>
          <a:noFill/>
        </p:spPr>
        <p:txBody>
          <a:bodyPr wrap="none" rtlCol="0">
            <a:spAutoFit/>
          </a:bodyPr>
          <a:lstStyle/>
          <a:p>
            <a:r>
              <a:rPr kumimoji="1" lang="zh-CN" altLang="en-US" sz="1200" dirty="0">
                <a:latin typeface="宋体" panose="02010600030101010101" pitchFamily="2" charset="-122"/>
                <a:ea typeface="宋体" panose="02010600030101010101" pitchFamily="2" charset="-122"/>
              </a:rPr>
              <a:t>分析对象</a:t>
            </a:r>
            <a:endParaRPr kumimoji="1" lang="ja-JP" altLang="en-US" sz="1200" dirty="0">
              <a:latin typeface="宋体" panose="02010600030101010101" pitchFamily="2" charset="-122"/>
              <a:ea typeface="宋体" panose="02010600030101010101" pitchFamily="2" charset="-122"/>
            </a:endParaRPr>
          </a:p>
        </p:txBody>
      </p:sp>
      <p:sp>
        <p:nvSpPr>
          <p:cNvPr id="47" name="テキスト ボックス 46">
            <a:extLst>
              <a:ext uri="{FF2B5EF4-FFF2-40B4-BE49-F238E27FC236}">
                <a16:creationId xmlns:a16="http://schemas.microsoft.com/office/drawing/2014/main" id="{2AB181B9-181A-8240-BCEC-1EF3CBB51A67}"/>
              </a:ext>
            </a:extLst>
          </p:cNvPr>
          <p:cNvSpPr txBox="1"/>
          <p:nvPr/>
        </p:nvSpPr>
        <p:spPr>
          <a:xfrm>
            <a:off x="537331" y="4466118"/>
            <a:ext cx="492443" cy="276999"/>
          </a:xfrm>
          <a:prstGeom prst="rect">
            <a:avLst/>
          </a:prstGeom>
          <a:noFill/>
        </p:spPr>
        <p:txBody>
          <a:bodyPr wrap="none" rtlCol="0">
            <a:spAutoFit/>
          </a:bodyPr>
          <a:lstStyle/>
          <a:p>
            <a:r>
              <a:rPr kumimoji="1" lang="ja-JP" altLang="en-US" sz="1200">
                <a:latin typeface="宋体" panose="02010600030101010101" pitchFamily="2" charset="-122"/>
                <a:ea typeface="宋体" panose="02010600030101010101" pitchFamily="2" charset="-122"/>
              </a:rPr>
              <a:t>要素</a:t>
            </a:r>
          </a:p>
        </p:txBody>
      </p:sp>
      <p:sp>
        <p:nvSpPr>
          <p:cNvPr id="49" name="テキスト ボックス 48">
            <a:extLst>
              <a:ext uri="{FF2B5EF4-FFF2-40B4-BE49-F238E27FC236}">
                <a16:creationId xmlns:a16="http://schemas.microsoft.com/office/drawing/2014/main" id="{9470BA0B-05FB-A44E-94CE-0AC019F05314}"/>
              </a:ext>
            </a:extLst>
          </p:cNvPr>
          <p:cNvSpPr txBox="1"/>
          <p:nvPr/>
        </p:nvSpPr>
        <p:spPr>
          <a:xfrm>
            <a:off x="1932673" y="2389505"/>
            <a:ext cx="492443" cy="276999"/>
          </a:xfrm>
          <a:prstGeom prst="rect">
            <a:avLst/>
          </a:prstGeom>
          <a:noFill/>
        </p:spPr>
        <p:txBody>
          <a:bodyPr wrap="none" rtlCol="0">
            <a:spAutoFit/>
          </a:bodyPr>
          <a:lstStyle/>
          <a:p>
            <a:r>
              <a:rPr kumimoji="1" lang="zh-CN" altLang="en-US" sz="1200" dirty="0">
                <a:latin typeface="宋体" panose="02010600030101010101" pitchFamily="2" charset="-122"/>
                <a:ea typeface="宋体" panose="02010600030101010101" pitchFamily="2" charset="-122"/>
              </a:rPr>
              <a:t>要素</a:t>
            </a:r>
            <a:endParaRPr kumimoji="1" lang="ja-JP" altLang="en-US" sz="1200" dirty="0">
              <a:latin typeface="宋体" panose="02010600030101010101" pitchFamily="2" charset="-122"/>
              <a:ea typeface="宋体" panose="02010600030101010101" pitchFamily="2" charset="-122"/>
            </a:endParaRPr>
          </a:p>
        </p:txBody>
      </p:sp>
      <p:sp>
        <p:nvSpPr>
          <p:cNvPr id="62" name="角丸四角形 61">
            <a:extLst>
              <a:ext uri="{FF2B5EF4-FFF2-40B4-BE49-F238E27FC236}">
                <a16:creationId xmlns:a16="http://schemas.microsoft.com/office/drawing/2014/main" id="{55B92938-5EA5-9246-8A8D-02D27F885A18}"/>
              </a:ext>
            </a:extLst>
          </p:cNvPr>
          <p:cNvSpPr/>
          <p:nvPr/>
        </p:nvSpPr>
        <p:spPr>
          <a:xfrm>
            <a:off x="7447729" y="4923275"/>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64" name="角丸四角形 63">
            <a:extLst>
              <a:ext uri="{FF2B5EF4-FFF2-40B4-BE49-F238E27FC236}">
                <a16:creationId xmlns:a16="http://schemas.microsoft.com/office/drawing/2014/main" id="{E9198D8E-9D6E-F941-8BF2-3D80F75FF920}"/>
              </a:ext>
            </a:extLst>
          </p:cNvPr>
          <p:cNvSpPr/>
          <p:nvPr/>
        </p:nvSpPr>
        <p:spPr>
          <a:xfrm>
            <a:off x="6908578" y="4923275"/>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cxnSp>
        <p:nvCxnSpPr>
          <p:cNvPr id="65" name="カギ線コネクタ 64">
            <a:extLst>
              <a:ext uri="{FF2B5EF4-FFF2-40B4-BE49-F238E27FC236}">
                <a16:creationId xmlns:a16="http://schemas.microsoft.com/office/drawing/2014/main" id="{C45837D8-C61C-8949-9346-41BA340B244B}"/>
              </a:ext>
            </a:extLst>
          </p:cNvPr>
          <p:cNvCxnSpPr>
            <a:cxnSpLocks/>
            <a:stCxn id="7" idx="2"/>
            <a:endCxn id="64" idx="0"/>
          </p:cNvCxnSpPr>
          <p:nvPr/>
        </p:nvCxnSpPr>
        <p:spPr>
          <a:xfrm rot="5400000">
            <a:off x="7207602" y="3906150"/>
            <a:ext cx="949982" cy="1084268"/>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67" name="カギ線コネクタ 66">
            <a:extLst>
              <a:ext uri="{FF2B5EF4-FFF2-40B4-BE49-F238E27FC236}">
                <a16:creationId xmlns:a16="http://schemas.microsoft.com/office/drawing/2014/main" id="{6ECC98A0-CF99-AD48-89E0-85A73721A12E}"/>
              </a:ext>
            </a:extLst>
          </p:cNvPr>
          <p:cNvCxnSpPr>
            <a:cxnSpLocks/>
            <a:stCxn id="7" idx="2"/>
            <a:endCxn id="62" idx="0"/>
          </p:cNvCxnSpPr>
          <p:nvPr/>
        </p:nvCxnSpPr>
        <p:spPr>
          <a:xfrm rot="5400000">
            <a:off x="7477178" y="4175726"/>
            <a:ext cx="949982" cy="54511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sp>
        <p:nvSpPr>
          <p:cNvPr id="76" name="角丸四角形 75">
            <a:extLst>
              <a:ext uri="{FF2B5EF4-FFF2-40B4-BE49-F238E27FC236}">
                <a16:creationId xmlns:a16="http://schemas.microsoft.com/office/drawing/2014/main" id="{8ABCF8CC-B9C6-2D4B-8CF6-6C37BA371198}"/>
              </a:ext>
            </a:extLst>
          </p:cNvPr>
          <p:cNvSpPr/>
          <p:nvPr/>
        </p:nvSpPr>
        <p:spPr>
          <a:xfrm>
            <a:off x="4718914" y="2398469"/>
            <a:ext cx="463762" cy="1574823"/>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77" name="角丸四角形 76">
            <a:extLst>
              <a:ext uri="{FF2B5EF4-FFF2-40B4-BE49-F238E27FC236}">
                <a16:creationId xmlns:a16="http://schemas.microsoft.com/office/drawing/2014/main" id="{2A699D47-89AE-A149-88BC-091E5AA532F4}"/>
              </a:ext>
            </a:extLst>
          </p:cNvPr>
          <p:cNvSpPr/>
          <p:nvPr/>
        </p:nvSpPr>
        <p:spPr>
          <a:xfrm>
            <a:off x="5257561" y="4916926"/>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79" name="角丸四角形 78">
            <a:extLst>
              <a:ext uri="{FF2B5EF4-FFF2-40B4-BE49-F238E27FC236}">
                <a16:creationId xmlns:a16="http://schemas.microsoft.com/office/drawing/2014/main" id="{DF024F4B-B2D6-4D42-9BE3-13623D676DCA}"/>
              </a:ext>
            </a:extLst>
          </p:cNvPr>
          <p:cNvSpPr/>
          <p:nvPr/>
        </p:nvSpPr>
        <p:spPr>
          <a:xfrm>
            <a:off x="5801951" y="4916925"/>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80" name="角丸四角形 79">
            <a:extLst>
              <a:ext uri="{FF2B5EF4-FFF2-40B4-BE49-F238E27FC236}">
                <a16:creationId xmlns:a16="http://schemas.microsoft.com/office/drawing/2014/main" id="{A024DB2A-60BD-3648-9465-C6CB295C7D05}"/>
              </a:ext>
            </a:extLst>
          </p:cNvPr>
          <p:cNvSpPr/>
          <p:nvPr/>
        </p:nvSpPr>
        <p:spPr>
          <a:xfrm>
            <a:off x="4712947" y="4925036"/>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cxnSp>
        <p:nvCxnSpPr>
          <p:cNvPr id="82" name="カギ線コネクタ 81">
            <a:extLst>
              <a:ext uri="{FF2B5EF4-FFF2-40B4-BE49-F238E27FC236}">
                <a16:creationId xmlns:a16="http://schemas.microsoft.com/office/drawing/2014/main" id="{B4A93549-9A6C-AE4F-A32B-793F42E15787}"/>
              </a:ext>
            </a:extLst>
          </p:cNvPr>
          <p:cNvCxnSpPr>
            <a:cxnSpLocks/>
            <a:stCxn id="76" idx="2"/>
            <a:endCxn id="79" idx="0"/>
          </p:cNvCxnSpPr>
          <p:nvPr/>
        </p:nvCxnSpPr>
        <p:spPr>
          <a:xfrm rot="16200000" flipH="1">
            <a:off x="5020497" y="3903589"/>
            <a:ext cx="943633" cy="108303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83" name="カギ線コネクタ 82">
            <a:extLst>
              <a:ext uri="{FF2B5EF4-FFF2-40B4-BE49-F238E27FC236}">
                <a16:creationId xmlns:a16="http://schemas.microsoft.com/office/drawing/2014/main" id="{C1A2E2FF-419D-3C42-B9E4-ACE855B73175}"/>
              </a:ext>
            </a:extLst>
          </p:cNvPr>
          <p:cNvCxnSpPr>
            <a:cxnSpLocks/>
            <a:stCxn id="76" idx="2"/>
            <a:endCxn id="77" idx="0"/>
          </p:cNvCxnSpPr>
          <p:nvPr/>
        </p:nvCxnSpPr>
        <p:spPr>
          <a:xfrm rot="16200000" flipH="1">
            <a:off x="4748301" y="4175785"/>
            <a:ext cx="943634" cy="53864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85" name="カギ線コネクタ 84">
            <a:extLst>
              <a:ext uri="{FF2B5EF4-FFF2-40B4-BE49-F238E27FC236}">
                <a16:creationId xmlns:a16="http://schemas.microsoft.com/office/drawing/2014/main" id="{42B16C8D-52D2-F345-A8E7-453517C6A409}"/>
              </a:ext>
            </a:extLst>
          </p:cNvPr>
          <p:cNvCxnSpPr>
            <a:cxnSpLocks/>
            <a:stCxn id="76" idx="2"/>
            <a:endCxn id="80" idx="0"/>
          </p:cNvCxnSpPr>
          <p:nvPr/>
        </p:nvCxnSpPr>
        <p:spPr>
          <a:xfrm rot="5400000">
            <a:off x="4471940" y="4446181"/>
            <a:ext cx="951744" cy="596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sp>
        <p:nvSpPr>
          <p:cNvPr id="86" name="角丸四角形 85">
            <a:extLst>
              <a:ext uri="{FF2B5EF4-FFF2-40B4-BE49-F238E27FC236}">
                <a16:creationId xmlns:a16="http://schemas.microsoft.com/office/drawing/2014/main" id="{8735802B-CE34-024D-886A-FFEB78120002}"/>
              </a:ext>
            </a:extLst>
          </p:cNvPr>
          <p:cNvSpPr/>
          <p:nvPr/>
        </p:nvSpPr>
        <p:spPr>
          <a:xfrm>
            <a:off x="4173797" y="4923274"/>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88" name="角丸四角形 87">
            <a:extLst>
              <a:ext uri="{FF2B5EF4-FFF2-40B4-BE49-F238E27FC236}">
                <a16:creationId xmlns:a16="http://schemas.microsoft.com/office/drawing/2014/main" id="{29FF2ACB-64F4-7A4F-8787-0B9A671DF5DD}"/>
              </a:ext>
            </a:extLst>
          </p:cNvPr>
          <p:cNvSpPr/>
          <p:nvPr/>
        </p:nvSpPr>
        <p:spPr>
          <a:xfrm>
            <a:off x="3634646" y="4923274"/>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cxnSp>
        <p:nvCxnSpPr>
          <p:cNvPr id="89" name="カギ線コネクタ 88">
            <a:extLst>
              <a:ext uri="{FF2B5EF4-FFF2-40B4-BE49-F238E27FC236}">
                <a16:creationId xmlns:a16="http://schemas.microsoft.com/office/drawing/2014/main" id="{11C0ACF4-5161-3840-A04B-F7C29FF083AB}"/>
              </a:ext>
            </a:extLst>
          </p:cNvPr>
          <p:cNvCxnSpPr>
            <a:cxnSpLocks/>
            <a:stCxn id="76" idx="2"/>
            <a:endCxn id="88" idx="0"/>
          </p:cNvCxnSpPr>
          <p:nvPr/>
        </p:nvCxnSpPr>
        <p:spPr>
          <a:xfrm rot="5400000">
            <a:off x="3933670" y="3906149"/>
            <a:ext cx="949982" cy="1084268"/>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90" name="カギ線コネクタ 89">
            <a:extLst>
              <a:ext uri="{FF2B5EF4-FFF2-40B4-BE49-F238E27FC236}">
                <a16:creationId xmlns:a16="http://schemas.microsoft.com/office/drawing/2014/main" id="{8BCEB75D-40E2-7D40-ADB3-9B7E45D2DD48}"/>
              </a:ext>
            </a:extLst>
          </p:cNvPr>
          <p:cNvCxnSpPr>
            <a:cxnSpLocks/>
            <a:stCxn id="76" idx="2"/>
            <a:endCxn id="86" idx="0"/>
          </p:cNvCxnSpPr>
          <p:nvPr/>
        </p:nvCxnSpPr>
        <p:spPr>
          <a:xfrm rot="5400000">
            <a:off x="4203246" y="4175725"/>
            <a:ext cx="949982" cy="54511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sp>
        <p:nvSpPr>
          <p:cNvPr id="91" name="角丸四角形 90">
            <a:extLst>
              <a:ext uri="{FF2B5EF4-FFF2-40B4-BE49-F238E27FC236}">
                <a16:creationId xmlns:a16="http://schemas.microsoft.com/office/drawing/2014/main" id="{036B016D-CBC4-E94C-928A-01988B154F3A}"/>
              </a:ext>
            </a:extLst>
          </p:cNvPr>
          <p:cNvSpPr/>
          <p:nvPr/>
        </p:nvSpPr>
        <p:spPr>
          <a:xfrm>
            <a:off x="1446520" y="2397262"/>
            <a:ext cx="463762" cy="1574823"/>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92" name="角丸四角形 91">
            <a:extLst>
              <a:ext uri="{FF2B5EF4-FFF2-40B4-BE49-F238E27FC236}">
                <a16:creationId xmlns:a16="http://schemas.microsoft.com/office/drawing/2014/main" id="{211D94F7-9DEA-484E-9B81-4955C5316572}"/>
              </a:ext>
            </a:extLst>
          </p:cNvPr>
          <p:cNvSpPr/>
          <p:nvPr/>
        </p:nvSpPr>
        <p:spPr>
          <a:xfrm>
            <a:off x="1985167" y="4915719"/>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93" name="角丸四角形 92">
            <a:extLst>
              <a:ext uri="{FF2B5EF4-FFF2-40B4-BE49-F238E27FC236}">
                <a16:creationId xmlns:a16="http://schemas.microsoft.com/office/drawing/2014/main" id="{9524D831-EFC7-C341-8A2C-9075338DF772}"/>
              </a:ext>
            </a:extLst>
          </p:cNvPr>
          <p:cNvSpPr/>
          <p:nvPr/>
        </p:nvSpPr>
        <p:spPr>
          <a:xfrm>
            <a:off x="2529557" y="4915718"/>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94" name="角丸四角形 93">
            <a:extLst>
              <a:ext uri="{FF2B5EF4-FFF2-40B4-BE49-F238E27FC236}">
                <a16:creationId xmlns:a16="http://schemas.microsoft.com/office/drawing/2014/main" id="{47360B5A-2C47-1F41-83A1-5DFF138BEEC3}"/>
              </a:ext>
            </a:extLst>
          </p:cNvPr>
          <p:cNvSpPr/>
          <p:nvPr/>
        </p:nvSpPr>
        <p:spPr>
          <a:xfrm>
            <a:off x="1440553" y="4923829"/>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cxnSp>
        <p:nvCxnSpPr>
          <p:cNvPr id="95" name="カギ線コネクタ 94">
            <a:extLst>
              <a:ext uri="{FF2B5EF4-FFF2-40B4-BE49-F238E27FC236}">
                <a16:creationId xmlns:a16="http://schemas.microsoft.com/office/drawing/2014/main" id="{C1DCD940-5483-9643-B313-B82A893BE98B}"/>
              </a:ext>
            </a:extLst>
          </p:cNvPr>
          <p:cNvCxnSpPr>
            <a:cxnSpLocks/>
            <a:stCxn id="91" idx="2"/>
            <a:endCxn id="93" idx="0"/>
          </p:cNvCxnSpPr>
          <p:nvPr/>
        </p:nvCxnSpPr>
        <p:spPr>
          <a:xfrm rot="16200000" flipH="1">
            <a:off x="1748103" y="3902382"/>
            <a:ext cx="943633" cy="108303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96" name="カギ線コネクタ 95">
            <a:extLst>
              <a:ext uri="{FF2B5EF4-FFF2-40B4-BE49-F238E27FC236}">
                <a16:creationId xmlns:a16="http://schemas.microsoft.com/office/drawing/2014/main" id="{2A0147CB-773F-5A47-BD3B-7E6A9447C4A5}"/>
              </a:ext>
            </a:extLst>
          </p:cNvPr>
          <p:cNvCxnSpPr>
            <a:cxnSpLocks/>
            <a:stCxn id="91" idx="2"/>
            <a:endCxn id="92" idx="0"/>
          </p:cNvCxnSpPr>
          <p:nvPr/>
        </p:nvCxnSpPr>
        <p:spPr>
          <a:xfrm rot="16200000" flipH="1">
            <a:off x="1475907" y="4174578"/>
            <a:ext cx="943634" cy="53864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97" name="カギ線コネクタ 96">
            <a:extLst>
              <a:ext uri="{FF2B5EF4-FFF2-40B4-BE49-F238E27FC236}">
                <a16:creationId xmlns:a16="http://schemas.microsoft.com/office/drawing/2014/main" id="{5D7F05E0-0C2C-ED4F-BA51-6966C9760A64}"/>
              </a:ext>
            </a:extLst>
          </p:cNvPr>
          <p:cNvCxnSpPr>
            <a:cxnSpLocks/>
            <a:stCxn id="91" idx="2"/>
            <a:endCxn id="94" idx="0"/>
          </p:cNvCxnSpPr>
          <p:nvPr/>
        </p:nvCxnSpPr>
        <p:spPr>
          <a:xfrm rot="5400000">
            <a:off x="1199546" y="4444974"/>
            <a:ext cx="951744" cy="596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sp>
        <p:nvSpPr>
          <p:cNvPr id="98" name="角丸四角形 97">
            <a:extLst>
              <a:ext uri="{FF2B5EF4-FFF2-40B4-BE49-F238E27FC236}">
                <a16:creationId xmlns:a16="http://schemas.microsoft.com/office/drawing/2014/main" id="{BF446DB3-C8E6-8542-982A-96A87075951A}"/>
              </a:ext>
            </a:extLst>
          </p:cNvPr>
          <p:cNvSpPr/>
          <p:nvPr/>
        </p:nvSpPr>
        <p:spPr>
          <a:xfrm>
            <a:off x="901403" y="4922067"/>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sp>
        <p:nvSpPr>
          <p:cNvPr id="99" name="角丸四角形 98">
            <a:extLst>
              <a:ext uri="{FF2B5EF4-FFF2-40B4-BE49-F238E27FC236}">
                <a16:creationId xmlns:a16="http://schemas.microsoft.com/office/drawing/2014/main" id="{9DDB665A-1F4E-4A43-8F88-7CF3DFC78756}"/>
              </a:ext>
            </a:extLst>
          </p:cNvPr>
          <p:cNvSpPr/>
          <p:nvPr/>
        </p:nvSpPr>
        <p:spPr>
          <a:xfrm>
            <a:off x="362252" y="4922067"/>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chemeClr val="tx1"/>
              </a:solidFill>
              <a:latin typeface="宋体" panose="02010600030101010101" pitchFamily="2" charset="-122"/>
              <a:ea typeface="宋体" panose="02010600030101010101" pitchFamily="2" charset="-122"/>
            </a:endParaRPr>
          </a:p>
        </p:txBody>
      </p:sp>
      <p:cxnSp>
        <p:nvCxnSpPr>
          <p:cNvPr id="100" name="カギ線コネクタ 99">
            <a:extLst>
              <a:ext uri="{FF2B5EF4-FFF2-40B4-BE49-F238E27FC236}">
                <a16:creationId xmlns:a16="http://schemas.microsoft.com/office/drawing/2014/main" id="{1F13564B-5695-0B4C-8193-2AC1FEAE9E1F}"/>
              </a:ext>
            </a:extLst>
          </p:cNvPr>
          <p:cNvCxnSpPr>
            <a:cxnSpLocks/>
            <a:stCxn id="91" idx="2"/>
            <a:endCxn id="99" idx="0"/>
          </p:cNvCxnSpPr>
          <p:nvPr/>
        </p:nvCxnSpPr>
        <p:spPr>
          <a:xfrm rot="5400000">
            <a:off x="661276" y="3904942"/>
            <a:ext cx="949982" cy="1084268"/>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101" name="カギ線コネクタ 100">
            <a:extLst>
              <a:ext uri="{FF2B5EF4-FFF2-40B4-BE49-F238E27FC236}">
                <a16:creationId xmlns:a16="http://schemas.microsoft.com/office/drawing/2014/main" id="{05E6C7FE-3E01-2E4E-A92F-8C0DFCCAA7E7}"/>
              </a:ext>
            </a:extLst>
          </p:cNvPr>
          <p:cNvCxnSpPr>
            <a:cxnSpLocks/>
            <a:stCxn id="91" idx="2"/>
            <a:endCxn id="98" idx="0"/>
          </p:cNvCxnSpPr>
          <p:nvPr/>
        </p:nvCxnSpPr>
        <p:spPr>
          <a:xfrm rot="5400000">
            <a:off x="930852" y="4174518"/>
            <a:ext cx="949982" cy="54511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102" name="カギ線コネクタ 101">
            <a:extLst>
              <a:ext uri="{FF2B5EF4-FFF2-40B4-BE49-F238E27FC236}">
                <a16:creationId xmlns:a16="http://schemas.microsoft.com/office/drawing/2014/main" id="{497338FB-F1C0-D645-8C56-3A32B8D302E1}"/>
              </a:ext>
            </a:extLst>
          </p:cNvPr>
          <p:cNvCxnSpPr>
            <a:cxnSpLocks/>
            <a:stCxn id="4" idx="2"/>
            <a:endCxn id="91" idx="0"/>
          </p:cNvCxnSpPr>
          <p:nvPr/>
        </p:nvCxnSpPr>
        <p:spPr>
          <a:xfrm rot="5400000">
            <a:off x="3007176" y="459608"/>
            <a:ext cx="608879" cy="3266428"/>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103" name="カギ線コネクタ 102">
            <a:extLst>
              <a:ext uri="{FF2B5EF4-FFF2-40B4-BE49-F238E27FC236}">
                <a16:creationId xmlns:a16="http://schemas.microsoft.com/office/drawing/2014/main" id="{CD06E403-65CF-124A-94B4-D179DF382885}"/>
              </a:ext>
            </a:extLst>
          </p:cNvPr>
          <p:cNvCxnSpPr>
            <a:cxnSpLocks/>
            <a:stCxn id="4" idx="2"/>
            <a:endCxn id="76" idx="0"/>
          </p:cNvCxnSpPr>
          <p:nvPr/>
        </p:nvCxnSpPr>
        <p:spPr>
          <a:xfrm rot="16200000" flipH="1">
            <a:off x="4642769" y="2090443"/>
            <a:ext cx="610086" cy="5966"/>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46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9264"/>
            <a:ext cx="4598947" cy="409636"/>
          </a:xfrm>
          <a:solidFill>
            <a:schemeClr val="accent2"/>
          </a:solidFill>
        </p:spPr>
        <p:txBody>
          <a:bodyPr anchor="ctr" anchorCtr="0">
            <a:normAutofit fontScale="90000"/>
          </a:bodyPr>
          <a:lstStyle/>
          <a:p>
            <a:pPr algn="l"/>
            <a:r>
              <a:rPr lang="en-US" altLang="ja-JP" sz="2600" dirty="0">
                <a:solidFill>
                  <a:schemeClr val="bg1"/>
                </a:solidFill>
                <a:latin typeface="等线 Light" panose="02010600030101010101" pitchFamily="2" charset="-122"/>
                <a:ea typeface="等线 Light" panose="02010600030101010101" pitchFamily="2" charset="-122"/>
              </a:rPr>
              <a:t>02</a:t>
            </a:r>
            <a:r>
              <a:rPr lang="ja-JP" altLang="en-US" sz="2600" dirty="0">
                <a:solidFill>
                  <a:schemeClr val="bg1"/>
                </a:solidFill>
                <a:latin typeface="等线 Light" panose="02010600030101010101" pitchFamily="2" charset="-122"/>
                <a:ea typeface="等线 Light" panose="02010600030101010101" pitchFamily="2" charset="-122"/>
              </a:rPr>
              <a:t>　</a:t>
            </a:r>
            <a:r>
              <a:rPr lang="zh-CN" altLang="en-US" sz="2600" dirty="0">
                <a:solidFill>
                  <a:schemeClr val="bg1"/>
                </a:solidFill>
                <a:latin typeface="等线 Light" panose="02010600030101010101" pitchFamily="2" charset="-122"/>
                <a:ea typeface="等线 Light" panose="02010600030101010101" pitchFamily="2" charset="-122"/>
              </a:rPr>
              <a:t>金字塔结构 </a:t>
            </a:r>
            <a:r>
              <a:rPr lang="ja-JP" altLang="en-US" sz="1625" dirty="0">
                <a:solidFill>
                  <a:schemeClr val="bg1"/>
                </a:solidFill>
                <a:latin typeface="等线 Light" panose="02010600030101010101" pitchFamily="2" charset="-122"/>
                <a:ea typeface="等线 Light" panose="02010600030101010101" pitchFamily="2" charset="-122"/>
              </a:rPr>
              <a:t>→</a:t>
            </a:r>
            <a:r>
              <a:rPr lang="zh-CN" altLang="en-US" sz="1625" dirty="0">
                <a:solidFill>
                  <a:schemeClr val="bg1"/>
                </a:solidFill>
                <a:latin typeface="等线 Light" panose="02010600030101010101" pitchFamily="2" charset="-122"/>
                <a:ea typeface="等线 Light" panose="02010600030101010101" pitchFamily="2" charset="-122"/>
              </a:rPr>
              <a:t>本书第</a:t>
            </a:r>
            <a:r>
              <a:rPr lang="en-US" altLang="zh-CN" sz="1625" dirty="0">
                <a:solidFill>
                  <a:schemeClr val="bg1"/>
                </a:solidFill>
                <a:latin typeface="等线 Light" panose="02010600030101010101" pitchFamily="2" charset="-122"/>
                <a:ea typeface="等线 Light" panose="02010600030101010101" pitchFamily="2" charset="-122"/>
              </a:rPr>
              <a:t>6</a:t>
            </a:r>
            <a:r>
              <a:rPr lang="zh-CN" altLang="en-US" sz="1625" dirty="0">
                <a:solidFill>
                  <a:schemeClr val="bg1"/>
                </a:solidFill>
                <a:latin typeface="等线 Light" panose="02010600030101010101" pitchFamily="2" charset="-122"/>
                <a:ea typeface="等线 Light" panose="02010600030101010101" pitchFamily="2" charset="-122"/>
              </a:rPr>
              <a:t>页</a:t>
            </a:r>
            <a:endParaRPr lang="ja-JP" altLang="en-US" sz="2600" dirty="0">
              <a:solidFill>
                <a:schemeClr val="bg1"/>
              </a:solidFill>
              <a:latin typeface="等线 Light" panose="02010600030101010101" pitchFamily="2" charset="-122"/>
              <a:ea typeface="等线 Light" panose="02010600030101010101" pitchFamily="2" charset="-122"/>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9264"/>
            <a:ext cx="4598947" cy="409636"/>
          </a:xfrm>
          <a:solidFill>
            <a:schemeClr val="accent2">
              <a:lumMod val="20000"/>
              <a:lumOff val="80000"/>
            </a:schemeClr>
          </a:solidFill>
        </p:spPr>
        <p:txBody>
          <a:bodyPr anchor="ctr" anchorCtr="0">
            <a:normAutofit/>
          </a:bodyPr>
          <a:lstStyle/>
          <a:p>
            <a:pPr algn="l"/>
            <a:r>
              <a:rPr lang="zh-CN" altLang="en-US" sz="1138" dirty="0">
                <a:latin typeface="宋体" panose="02010600030101010101" pitchFamily="2" charset="-122"/>
                <a:ea typeface="宋体" panose="02010600030101010101" pitchFamily="2" charset="-122"/>
              </a:rPr>
              <a:t>在顶端写上自己的论点，下面罗列三四能够证明论点的论据，再在底部举出支撑这些论据的论据。</a:t>
            </a:r>
            <a:endParaRPr lang="ja-JP" altLang="en-US" sz="1138" dirty="0">
              <a:latin typeface="宋体" panose="02010600030101010101" pitchFamily="2" charset="-122"/>
              <a:ea typeface="宋体" panose="02010600030101010101" pitchFamily="2" charset="-122"/>
            </a:endParaRPr>
          </a:p>
        </p:txBody>
      </p:sp>
      <p:sp>
        <p:nvSpPr>
          <p:cNvPr id="4" name="角丸四角形 3">
            <a:extLst>
              <a:ext uri="{FF2B5EF4-FFF2-40B4-BE49-F238E27FC236}">
                <a16:creationId xmlns:a16="http://schemas.microsoft.com/office/drawing/2014/main" id="{7AE324DD-4D64-2147-A427-AB9F077504C9}"/>
              </a:ext>
            </a:extLst>
          </p:cNvPr>
          <p:cNvSpPr/>
          <p:nvPr/>
        </p:nvSpPr>
        <p:spPr>
          <a:xfrm>
            <a:off x="3543068" y="1411239"/>
            <a:ext cx="2851322" cy="391555"/>
          </a:xfrm>
          <a:prstGeom prst="roundRect">
            <a:avLst/>
          </a:prstGeom>
          <a:solidFill>
            <a:schemeClr val="bg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463">
              <a:solidFill>
                <a:srgbClr val="FF0000"/>
              </a:solidFill>
            </a:endParaRPr>
          </a:p>
        </p:txBody>
      </p:sp>
      <p:sp>
        <p:nvSpPr>
          <p:cNvPr id="5" name="角丸四角形 4">
            <a:extLst>
              <a:ext uri="{FF2B5EF4-FFF2-40B4-BE49-F238E27FC236}">
                <a16:creationId xmlns:a16="http://schemas.microsoft.com/office/drawing/2014/main" id="{8E0994B9-05E4-8148-AD70-622CFC22DEE1}"/>
              </a:ext>
            </a:extLst>
          </p:cNvPr>
          <p:cNvSpPr/>
          <p:nvPr/>
        </p:nvSpPr>
        <p:spPr>
          <a:xfrm>
            <a:off x="889082" y="2569273"/>
            <a:ext cx="463762" cy="1574823"/>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6" name="角丸四角形 5">
            <a:extLst>
              <a:ext uri="{FF2B5EF4-FFF2-40B4-BE49-F238E27FC236}">
                <a16:creationId xmlns:a16="http://schemas.microsoft.com/office/drawing/2014/main" id="{2108C83D-7C07-D940-AC84-7F4BAAD3B6EE}"/>
              </a:ext>
            </a:extLst>
          </p:cNvPr>
          <p:cNvSpPr/>
          <p:nvPr/>
        </p:nvSpPr>
        <p:spPr>
          <a:xfrm>
            <a:off x="3476148" y="2577385"/>
            <a:ext cx="463762" cy="1574823"/>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7" name="角丸四角形 6">
            <a:extLst>
              <a:ext uri="{FF2B5EF4-FFF2-40B4-BE49-F238E27FC236}">
                <a16:creationId xmlns:a16="http://schemas.microsoft.com/office/drawing/2014/main" id="{09149935-5AB5-EC43-B0F1-F748E4814173}"/>
              </a:ext>
            </a:extLst>
          </p:cNvPr>
          <p:cNvSpPr/>
          <p:nvPr/>
        </p:nvSpPr>
        <p:spPr>
          <a:xfrm>
            <a:off x="5965106" y="2583734"/>
            <a:ext cx="463762" cy="1574823"/>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8" name="角丸四角形 7">
            <a:extLst>
              <a:ext uri="{FF2B5EF4-FFF2-40B4-BE49-F238E27FC236}">
                <a16:creationId xmlns:a16="http://schemas.microsoft.com/office/drawing/2014/main" id="{01792BCD-CC54-F34E-82FA-E30D83EFB227}"/>
              </a:ext>
            </a:extLst>
          </p:cNvPr>
          <p:cNvSpPr/>
          <p:nvPr/>
        </p:nvSpPr>
        <p:spPr>
          <a:xfrm>
            <a:off x="8543796" y="2577385"/>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10" name="角丸四角形 9">
            <a:extLst>
              <a:ext uri="{FF2B5EF4-FFF2-40B4-BE49-F238E27FC236}">
                <a16:creationId xmlns:a16="http://schemas.microsoft.com/office/drawing/2014/main" id="{A6A86779-349E-0A43-B80F-F2D81C5D165B}"/>
              </a:ext>
            </a:extLst>
          </p:cNvPr>
          <p:cNvSpPr/>
          <p:nvPr/>
        </p:nvSpPr>
        <p:spPr>
          <a:xfrm>
            <a:off x="354053" y="4915165"/>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11" name="角丸四角形 10">
            <a:extLst>
              <a:ext uri="{FF2B5EF4-FFF2-40B4-BE49-F238E27FC236}">
                <a16:creationId xmlns:a16="http://schemas.microsoft.com/office/drawing/2014/main" id="{4E4726B3-60D0-F142-B260-3AA5FC7A8DB4}"/>
              </a:ext>
            </a:extLst>
          </p:cNvPr>
          <p:cNvSpPr/>
          <p:nvPr/>
        </p:nvSpPr>
        <p:spPr>
          <a:xfrm>
            <a:off x="2928511" y="4923277"/>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12" name="角丸四角形 11">
            <a:extLst>
              <a:ext uri="{FF2B5EF4-FFF2-40B4-BE49-F238E27FC236}">
                <a16:creationId xmlns:a16="http://schemas.microsoft.com/office/drawing/2014/main" id="{7B57C4DA-99A7-094D-A4C3-E1B2CE33A3CA}"/>
              </a:ext>
            </a:extLst>
          </p:cNvPr>
          <p:cNvSpPr/>
          <p:nvPr/>
        </p:nvSpPr>
        <p:spPr>
          <a:xfrm>
            <a:off x="5962211" y="4923277"/>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13" name="角丸四角形 12">
            <a:extLst>
              <a:ext uri="{FF2B5EF4-FFF2-40B4-BE49-F238E27FC236}">
                <a16:creationId xmlns:a16="http://schemas.microsoft.com/office/drawing/2014/main" id="{7175E7CD-9091-0F4B-8630-3E9B48FF82F0}"/>
              </a:ext>
            </a:extLst>
          </p:cNvPr>
          <p:cNvSpPr/>
          <p:nvPr/>
        </p:nvSpPr>
        <p:spPr>
          <a:xfrm>
            <a:off x="8543796" y="4923277"/>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16" name="角丸四角形 15">
            <a:extLst>
              <a:ext uri="{FF2B5EF4-FFF2-40B4-BE49-F238E27FC236}">
                <a16:creationId xmlns:a16="http://schemas.microsoft.com/office/drawing/2014/main" id="{64748768-36CA-B64A-8764-F2544B6ED063}"/>
              </a:ext>
            </a:extLst>
          </p:cNvPr>
          <p:cNvSpPr/>
          <p:nvPr/>
        </p:nvSpPr>
        <p:spPr>
          <a:xfrm>
            <a:off x="9088185" y="4923276"/>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17" name="角丸四角形 16">
            <a:extLst>
              <a:ext uri="{FF2B5EF4-FFF2-40B4-BE49-F238E27FC236}">
                <a16:creationId xmlns:a16="http://schemas.microsoft.com/office/drawing/2014/main" id="{5AA5335D-5A05-0749-83A7-F7F504505850}"/>
              </a:ext>
            </a:extLst>
          </p:cNvPr>
          <p:cNvSpPr/>
          <p:nvPr/>
        </p:nvSpPr>
        <p:spPr>
          <a:xfrm>
            <a:off x="6506601" y="4923276"/>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18" name="角丸四角形 17">
            <a:extLst>
              <a:ext uri="{FF2B5EF4-FFF2-40B4-BE49-F238E27FC236}">
                <a16:creationId xmlns:a16="http://schemas.microsoft.com/office/drawing/2014/main" id="{F7E17CEA-E89E-0E4E-8936-3C45B1228F1F}"/>
              </a:ext>
            </a:extLst>
          </p:cNvPr>
          <p:cNvSpPr/>
          <p:nvPr/>
        </p:nvSpPr>
        <p:spPr>
          <a:xfrm>
            <a:off x="3469780" y="4923275"/>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19" name="角丸四角形 18">
            <a:extLst>
              <a:ext uri="{FF2B5EF4-FFF2-40B4-BE49-F238E27FC236}">
                <a16:creationId xmlns:a16="http://schemas.microsoft.com/office/drawing/2014/main" id="{1A00CDAE-7D73-2E4C-BEA5-5DEB34BB3B77}"/>
              </a:ext>
            </a:extLst>
          </p:cNvPr>
          <p:cNvSpPr/>
          <p:nvPr/>
        </p:nvSpPr>
        <p:spPr>
          <a:xfrm>
            <a:off x="889082" y="4923275"/>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21" name="角丸四角形 20">
            <a:extLst>
              <a:ext uri="{FF2B5EF4-FFF2-40B4-BE49-F238E27FC236}">
                <a16:creationId xmlns:a16="http://schemas.microsoft.com/office/drawing/2014/main" id="{9B4C9309-8DE3-4A44-A08B-F342BBD89EF2}"/>
              </a:ext>
            </a:extLst>
          </p:cNvPr>
          <p:cNvSpPr/>
          <p:nvPr/>
        </p:nvSpPr>
        <p:spPr>
          <a:xfrm>
            <a:off x="1436591" y="4923275"/>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22" name="角丸四角形 21">
            <a:extLst>
              <a:ext uri="{FF2B5EF4-FFF2-40B4-BE49-F238E27FC236}">
                <a16:creationId xmlns:a16="http://schemas.microsoft.com/office/drawing/2014/main" id="{7581538A-5FAC-3A46-9C67-CE176C0B5F63}"/>
              </a:ext>
            </a:extLst>
          </p:cNvPr>
          <p:cNvSpPr/>
          <p:nvPr/>
        </p:nvSpPr>
        <p:spPr>
          <a:xfrm>
            <a:off x="7999181" y="4931387"/>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23" name="角丸四角形 22">
            <a:extLst>
              <a:ext uri="{FF2B5EF4-FFF2-40B4-BE49-F238E27FC236}">
                <a16:creationId xmlns:a16="http://schemas.microsoft.com/office/drawing/2014/main" id="{5EFBBBF9-9169-AE4B-9A17-3880EC997323}"/>
              </a:ext>
            </a:extLst>
          </p:cNvPr>
          <p:cNvSpPr/>
          <p:nvPr/>
        </p:nvSpPr>
        <p:spPr>
          <a:xfrm>
            <a:off x="5417597" y="4931387"/>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sp>
        <p:nvSpPr>
          <p:cNvPr id="24" name="角丸四角形 23">
            <a:extLst>
              <a:ext uri="{FF2B5EF4-FFF2-40B4-BE49-F238E27FC236}">
                <a16:creationId xmlns:a16="http://schemas.microsoft.com/office/drawing/2014/main" id="{049DF633-6B15-B64A-A9F1-EF3EBC1FC204}"/>
              </a:ext>
            </a:extLst>
          </p:cNvPr>
          <p:cNvSpPr/>
          <p:nvPr/>
        </p:nvSpPr>
        <p:spPr>
          <a:xfrm>
            <a:off x="4015281" y="4923275"/>
            <a:ext cx="463762" cy="157482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138">
              <a:solidFill>
                <a:srgbClr val="FF0000"/>
              </a:solidFill>
            </a:endParaRPr>
          </a:p>
        </p:txBody>
      </p:sp>
      <p:cxnSp>
        <p:nvCxnSpPr>
          <p:cNvPr id="27" name="カギ線コネクタ 26">
            <a:extLst>
              <a:ext uri="{FF2B5EF4-FFF2-40B4-BE49-F238E27FC236}">
                <a16:creationId xmlns:a16="http://schemas.microsoft.com/office/drawing/2014/main" id="{2B21574C-231F-C647-88A6-6011BC8D9A49}"/>
              </a:ext>
            </a:extLst>
          </p:cNvPr>
          <p:cNvCxnSpPr>
            <a:cxnSpLocks/>
            <a:stCxn id="4" idx="2"/>
            <a:endCxn id="5" idx="0"/>
          </p:cNvCxnSpPr>
          <p:nvPr/>
        </p:nvCxnSpPr>
        <p:spPr>
          <a:xfrm rot="5400000">
            <a:off x="2661607" y="262150"/>
            <a:ext cx="766479" cy="3847766"/>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30" name="カギ線コネクタ 29">
            <a:extLst>
              <a:ext uri="{FF2B5EF4-FFF2-40B4-BE49-F238E27FC236}">
                <a16:creationId xmlns:a16="http://schemas.microsoft.com/office/drawing/2014/main" id="{85C408D0-0038-1C45-A6A0-0FF0A85BF969}"/>
              </a:ext>
            </a:extLst>
          </p:cNvPr>
          <p:cNvCxnSpPr>
            <a:cxnSpLocks/>
            <a:stCxn id="4" idx="2"/>
            <a:endCxn id="8" idx="0"/>
          </p:cNvCxnSpPr>
          <p:nvPr/>
        </p:nvCxnSpPr>
        <p:spPr>
          <a:xfrm rot="16200000" flipH="1">
            <a:off x="6484908" y="286615"/>
            <a:ext cx="774591" cy="3806948"/>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33" name="カギ線コネクタ 32">
            <a:extLst>
              <a:ext uri="{FF2B5EF4-FFF2-40B4-BE49-F238E27FC236}">
                <a16:creationId xmlns:a16="http://schemas.microsoft.com/office/drawing/2014/main" id="{755F437A-866A-4440-9AFE-DBDC38B65006}"/>
              </a:ext>
            </a:extLst>
          </p:cNvPr>
          <p:cNvCxnSpPr>
            <a:cxnSpLocks/>
            <a:stCxn id="4" idx="2"/>
            <a:endCxn id="7" idx="0"/>
          </p:cNvCxnSpPr>
          <p:nvPr/>
        </p:nvCxnSpPr>
        <p:spPr>
          <a:xfrm rot="16200000" flipH="1">
            <a:off x="5192388" y="1579135"/>
            <a:ext cx="780940" cy="1228258"/>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36" name="カギ線コネクタ 35">
            <a:extLst>
              <a:ext uri="{FF2B5EF4-FFF2-40B4-BE49-F238E27FC236}">
                <a16:creationId xmlns:a16="http://schemas.microsoft.com/office/drawing/2014/main" id="{20908675-22FB-4245-A88C-70DBC660EDD5}"/>
              </a:ext>
            </a:extLst>
          </p:cNvPr>
          <p:cNvCxnSpPr>
            <a:cxnSpLocks/>
            <a:stCxn id="4" idx="2"/>
            <a:endCxn id="6" idx="0"/>
          </p:cNvCxnSpPr>
          <p:nvPr/>
        </p:nvCxnSpPr>
        <p:spPr>
          <a:xfrm rot="5400000">
            <a:off x="3951084" y="1559739"/>
            <a:ext cx="774591" cy="1260700"/>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54" name="カギ線コネクタ 53">
            <a:extLst>
              <a:ext uri="{FF2B5EF4-FFF2-40B4-BE49-F238E27FC236}">
                <a16:creationId xmlns:a16="http://schemas.microsoft.com/office/drawing/2014/main" id="{B6C1D702-416D-C842-AA7D-D09D9FCF5BF1}"/>
              </a:ext>
            </a:extLst>
          </p:cNvPr>
          <p:cNvCxnSpPr>
            <a:cxnSpLocks/>
            <a:stCxn id="8" idx="2"/>
            <a:endCxn id="16" idx="0"/>
          </p:cNvCxnSpPr>
          <p:nvPr/>
        </p:nvCxnSpPr>
        <p:spPr>
          <a:xfrm rot="16200000" flipH="1">
            <a:off x="8662337" y="4265547"/>
            <a:ext cx="771068" cy="544389"/>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57" name="カギ線コネクタ 56">
            <a:extLst>
              <a:ext uri="{FF2B5EF4-FFF2-40B4-BE49-F238E27FC236}">
                <a16:creationId xmlns:a16="http://schemas.microsoft.com/office/drawing/2014/main" id="{E7D5FA32-166B-8C48-AADD-A11B98BE8DFC}"/>
              </a:ext>
            </a:extLst>
          </p:cNvPr>
          <p:cNvCxnSpPr>
            <a:cxnSpLocks/>
            <a:stCxn id="8" idx="2"/>
            <a:endCxn id="22" idx="0"/>
          </p:cNvCxnSpPr>
          <p:nvPr/>
        </p:nvCxnSpPr>
        <p:spPr>
          <a:xfrm rot="5400000">
            <a:off x="8113781" y="4269490"/>
            <a:ext cx="779179" cy="544615"/>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60" name="カギ線コネクタ 59">
            <a:extLst>
              <a:ext uri="{FF2B5EF4-FFF2-40B4-BE49-F238E27FC236}">
                <a16:creationId xmlns:a16="http://schemas.microsoft.com/office/drawing/2014/main" id="{B91A6E30-FF0E-7C4A-8160-780AB6F87CE7}"/>
              </a:ext>
            </a:extLst>
          </p:cNvPr>
          <p:cNvCxnSpPr>
            <a:cxnSpLocks/>
            <a:stCxn id="8" idx="2"/>
            <a:endCxn id="13" idx="0"/>
          </p:cNvCxnSpPr>
          <p:nvPr/>
        </p:nvCxnSpPr>
        <p:spPr>
          <a:xfrm rot="5400000">
            <a:off x="8390143" y="4537742"/>
            <a:ext cx="771069" cy="12700"/>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66" name="カギ線コネクタ 65">
            <a:extLst>
              <a:ext uri="{FF2B5EF4-FFF2-40B4-BE49-F238E27FC236}">
                <a16:creationId xmlns:a16="http://schemas.microsoft.com/office/drawing/2014/main" id="{E368786E-672E-DC4E-A84D-EF573CE258F3}"/>
              </a:ext>
            </a:extLst>
          </p:cNvPr>
          <p:cNvCxnSpPr>
            <a:cxnSpLocks/>
            <a:stCxn id="7" idx="2"/>
            <a:endCxn id="12" idx="0"/>
          </p:cNvCxnSpPr>
          <p:nvPr/>
        </p:nvCxnSpPr>
        <p:spPr>
          <a:xfrm rot="5400000">
            <a:off x="5813180" y="4539470"/>
            <a:ext cx="764720" cy="2895"/>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69" name="カギ線コネクタ 68">
            <a:extLst>
              <a:ext uri="{FF2B5EF4-FFF2-40B4-BE49-F238E27FC236}">
                <a16:creationId xmlns:a16="http://schemas.microsoft.com/office/drawing/2014/main" id="{01BF5E74-71F5-2C4B-BD4D-66F921DD5892}"/>
              </a:ext>
            </a:extLst>
          </p:cNvPr>
          <p:cNvCxnSpPr>
            <a:cxnSpLocks/>
            <a:stCxn id="7" idx="2"/>
            <a:endCxn id="23" idx="0"/>
          </p:cNvCxnSpPr>
          <p:nvPr/>
        </p:nvCxnSpPr>
        <p:spPr>
          <a:xfrm rot="5400000">
            <a:off x="5536818" y="4271218"/>
            <a:ext cx="772830" cy="547509"/>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75" name="カギ線コネクタ 74">
            <a:extLst>
              <a:ext uri="{FF2B5EF4-FFF2-40B4-BE49-F238E27FC236}">
                <a16:creationId xmlns:a16="http://schemas.microsoft.com/office/drawing/2014/main" id="{EFA8D6D2-11EB-064A-ABD1-F8233FFD2C28}"/>
              </a:ext>
            </a:extLst>
          </p:cNvPr>
          <p:cNvCxnSpPr>
            <a:cxnSpLocks/>
            <a:stCxn id="6" idx="2"/>
            <a:endCxn id="11" idx="0"/>
          </p:cNvCxnSpPr>
          <p:nvPr/>
        </p:nvCxnSpPr>
        <p:spPr>
          <a:xfrm rot="5400000">
            <a:off x="3048677" y="4263924"/>
            <a:ext cx="771069" cy="547637"/>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78" name="カギ線コネクタ 77">
            <a:extLst>
              <a:ext uri="{FF2B5EF4-FFF2-40B4-BE49-F238E27FC236}">
                <a16:creationId xmlns:a16="http://schemas.microsoft.com/office/drawing/2014/main" id="{3E3CA921-5A47-EA4B-B2D6-015A00EDDF26}"/>
              </a:ext>
            </a:extLst>
          </p:cNvPr>
          <p:cNvCxnSpPr>
            <a:cxnSpLocks/>
            <a:stCxn id="6" idx="2"/>
            <a:endCxn id="18" idx="0"/>
          </p:cNvCxnSpPr>
          <p:nvPr/>
        </p:nvCxnSpPr>
        <p:spPr>
          <a:xfrm rot="5400000">
            <a:off x="3319312" y="4534557"/>
            <a:ext cx="771067" cy="6368"/>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81" name="カギ線コネクタ 80">
            <a:extLst>
              <a:ext uri="{FF2B5EF4-FFF2-40B4-BE49-F238E27FC236}">
                <a16:creationId xmlns:a16="http://schemas.microsoft.com/office/drawing/2014/main" id="{C8BB76E6-A3D4-F84E-ADAE-DDA542089C11}"/>
              </a:ext>
            </a:extLst>
          </p:cNvPr>
          <p:cNvCxnSpPr>
            <a:cxnSpLocks/>
            <a:stCxn id="5" idx="2"/>
            <a:endCxn id="21" idx="0"/>
          </p:cNvCxnSpPr>
          <p:nvPr/>
        </p:nvCxnSpPr>
        <p:spPr>
          <a:xfrm rot="16200000" flipH="1">
            <a:off x="1005128" y="4259930"/>
            <a:ext cx="779179" cy="547509"/>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84" name="カギ線コネクタ 83">
            <a:extLst>
              <a:ext uri="{FF2B5EF4-FFF2-40B4-BE49-F238E27FC236}">
                <a16:creationId xmlns:a16="http://schemas.microsoft.com/office/drawing/2014/main" id="{1AAF3DBC-BD90-7B48-823F-5D1771B72D39}"/>
              </a:ext>
            </a:extLst>
          </p:cNvPr>
          <p:cNvCxnSpPr>
            <a:cxnSpLocks/>
            <a:stCxn id="5" idx="2"/>
            <a:endCxn id="19" idx="0"/>
          </p:cNvCxnSpPr>
          <p:nvPr/>
        </p:nvCxnSpPr>
        <p:spPr>
          <a:xfrm rot="5400000">
            <a:off x="731374" y="4533685"/>
            <a:ext cx="779179" cy="12700"/>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87" name="カギ線コネクタ 86">
            <a:extLst>
              <a:ext uri="{FF2B5EF4-FFF2-40B4-BE49-F238E27FC236}">
                <a16:creationId xmlns:a16="http://schemas.microsoft.com/office/drawing/2014/main" id="{6532C8E9-6228-8346-80AF-D3DCAE960BC1}"/>
              </a:ext>
            </a:extLst>
          </p:cNvPr>
          <p:cNvCxnSpPr>
            <a:cxnSpLocks/>
            <a:stCxn id="5" idx="2"/>
            <a:endCxn id="10" idx="0"/>
          </p:cNvCxnSpPr>
          <p:nvPr/>
        </p:nvCxnSpPr>
        <p:spPr>
          <a:xfrm rot="5400000">
            <a:off x="467915" y="4262116"/>
            <a:ext cx="771069" cy="535029"/>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sp>
        <p:nvSpPr>
          <p:cNvPr id="46" name="テキスト ボックス 45">
            <a:extLst>
              <a:ext uri="{FF2B5EF4-FFF2-40B4-BE49-F238E27FC236}">
                <a16:creationId xmlns:a16="http://schemas.microsoft.com/office/drawing/2014/main" id="{45210EA3-8542-574C-971C-82002664E223}"/>
              </a:ext>
            </a:extLst>
          </p:cNvPr>
          <p:cNvSpPr txBox="1"/>
          <p:nvPr/>
        </p:nvSpPr>
        <p:spPr>
          <a:xfrm>
            <a:off x="3476277" y="1134237"/>
            <a:ext cx="1107996" cy="276999"/>
          </a:xfrm>
          <a:prstGeom prst="rect">
            <a:avLst/>
          </a:prstGeom>
          <a:noFill/>
        </p:spPr>
        <p:txBody>
          <a:bodyPr wrap="none" rtlCol="0">
            <a:spAutoFit/>
          </a:bodyPr>
          <a:lstStyle/>
          <a:p>
            <a:r>
              <a:rPr kumimoji="1" lang="ja-JP" altLang="en-US" sz="1200" dirty="0"/>
              <a:t>主題（</a:t>
            </a:r>
            <a:r>
              <a:rPr kumimoji="1" lang="zh-CN" altLang="en-US" sz="1200" dirty="0"/>
              <a:t>论点</a:t>
            </a:r>
            <a:r>
              <a:rPr kumimoji="1" lang="ja-JP" altLang="en-US" sz="1200" dirty="0"/>
              <a:t>）</a:t>
            </a:r>
          </a:p>
        </p:txBody>
      </p:sp>
      <p:sp>
        <p:nvSpPr>
          <p:cNvPr id="47" name="テキスト ボックス 46">
            <a:extLst>
              <a:ext uri="{FF2B5EF4-FFF2-40B4-BE49-F238E27FC236}">
                <a16:creationId xmlns:a16="http://schemas.microsoft.com/office/drawing/2014/main" id="{0D714C12-322B-0D48-8230-E764A3B49898}"/>
              </a:ext>
            </a:extLst>
          </p:cNvPr>
          <p:cNvSpPr txBox="1"/>
          <p:nvPr/>
        </p:nvSpPr>
        <p:spPr>
          <a:xfrm>
            <a:off x="1120962" y="2283722"/>
            <a:ext cx="492443" cy="276999"/>
          </a:xfrm>
          <a:prstGeom prst="rect">
            <a:avLst/>
          </a:prstGeom>
          <a:noFill/>
        </p:spPr>
        <p:txBody>
          <a:bodyPr wrap="none" rtlCol="0">
            <a:spAutoFit/>
          </a:bodyPr>
          <a:lstStyle/>
          <a:p>
            <a:r>
              <a:rPr kumimoji="1" lang="zh-CN" altLang="en-US" sz="1200" dirty="0"/>
              <a:t>论据</a:t>
            </a:r>
            <a:endParaRPr kumimoji="1" lang="ja-JP" altLang="en-US" sz="1200" dirty="0"/>
          </a:p>
        </p:txBody>
      </p:sp>
      <p:sp>
        <p:nvSpPr>
          <p:cNvPr id="49" name="テキスト ボックス 48">
            <a:extLst>
              <a:ext uri="{FF2B5EF4-FFF2-40B4-BE49-F238E27FC236}">
                <a16:creationId xmlns:a16="http://schemas.microsoft.com/office/drawing/2014/main" id="{A9EDC9F6-4EB0-5046-A4C9-86F79DD2AFC1}"/>
              </a:ext>
            </a:extLst>
          </p:cNvPr>
          <p:cNvSpPr txBox="1"/>
          <p:nvPr/>
        </p:nvSpPr>
        <p:spPr>
          <a:xfrm>
            <a:off x="580026" y="4604228"/>
            <a:ext cx="492443" cy="276999"/>
          </a:xfrm>
          <a:prstGeom prst="rect">
            <a:avLst/>
          </a:prstGeom>
          <a:noFill/>
        </p:spPr>
        <p:txBody>
          <a:bodyPr wrap="none" rtlCol="0">
            <a:spAutoFit/>
          </a:bodyPr>
          <a:lstStyle/>
          <a:p>
            <a:r>
              <a:rPr kumimoji="1" lang="zh-CN" altLang="en-US" sz="1200" dirty="0"/>
              <a:t>论据</a:t>
            </a:r>
            <a:endParaRPr kumimoji="1" lang="ja-JP" altLang="en-US" sz="1200" dirty="0"/>
          </a:p>
        </p:txBody>
      </p:sp>
      <p:cxnSp>
        <p:nvCxnSpPr>
          <p:cNvPr id="100" name="カギ線コネクタ 99">
            <a:extLst>
              <a:ext uri="{FF2B5EF4-FFF2-40B4-BE49-F238E27FC236}">
                <a16:creationId xmlns:a16="http://schemas.microsoft.com/office/drawing/2014/main" id="{11E660B2-15B5-DD4F-A26A-131EE0047732}"/>
              </a:ext>
            </a:extLst>
          </p:cNvPr>
          <p:cNvCxnSpPr>
            <a:cxnSpLocks/>
            <a:stCxn id="6" idx="2"/>
            <a:endCxn id="24" idx="0"/>
          </p:cNvCxnSpPr>
          <p:nvPr/>
        </p:nvCxnSpPr>
        <p:spPr>
          <a:xfrm rot="16200000" flipH="1">
            <a:off x="3592062" y="4268174"/>
            <a:ext cx="771067" cy="539133"/>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106" name="カギ線コネクタ 105">
            <a:extLst>
              <a:ext uri="{FF2B5EF4-FFF2-40B4-BE49-F238E27FC236}">
                <a16:creationId xmlns:a16="http://schemas.microsoft.com/office/drawing/2014/main" id="{09C8AB4F-D7AF-EE4C-A4A1-592D77F4114D}"/>
              </a:ext>
            </a:extLst>
          </p:cNvPr>
          <p:cNvCxnSpPr>
            <a:cxnSpLocks/>
            <a:stCxn id="7" idx="2"/>
            <a:endCxn id="17" idx="0"/>
          </p:cNvCxnSpPr>
          <p:nvPr/>
        </p:nvCxnSpPr>
        <p:spPr>
          <a:xfrm rot="16200000" flipH="1">
            <a:off x="6085375" y="4270168"/>
            <a:ext cx="764719" cy="541495"/>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97571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正方形/長方形 72">
            <a:extLst>
              <a:ext uri="{FF2B5EF4-FFF2-40B4-BE49-F238E27FC236}">
                <a16:creationId xmlns:a16="http://schemas.microsoft.com/office/drawing/2014/main" id="{47861968-1D66-A842-93A5-00BDABD18E59}"/>
              </a:ext>
            </a:extLst>
          </p:cNvPr>
          <p:cNvSpPr/>
          <p:nvPr/>
        </p:nvSpPr>
        <p:spPr>
          <a:xfrm>
            <a:off x="6576060" y="1066800"/>
            <a:ext cx="1531619" cy="1367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4000" dirty="0">
                <a:solidFill>
                  <a:schemeClr val="tx1"/>
                </a:solidFill>
              </a:rPr>
              <a:t>蓝</a:t>
            </a:r>
            <a:endParaRPr kumimoji="1" lang="ja-JP" altLang="en-US" sz="4000" dirty="0">
              <a:solidFill>
                <a:schemeClr val="tx1"/>
              </a:solidFill>
            </a:endParaRPr>
          </a:p>
        </p:txBody>
      </p:sp>
      <p:sp>
        <p:nvSpPr>
          <p:cNvPr id="86" name="正方形/長方形 85">
            <a:extLst>
              <a:ext uri="{FF2B5EF4-FFF2-40B4-BE49-F238E27FC236}">
                <a16:creationId xmlns:a16="http://schemas.microsoft.com/office/drawing/2014/main" id="{87BE29C3-67E2-0D46-A9A9-598773E30FD7}"/>
              </a:ext>
            </a:extLst>
          </p:cNvPr>
          <p:cNvSpPr/>
          <p:nvPr/>
        </p:nvSpPr>
        <p:spPr>
          <a:xfrm>
            <a:off x="5004295" y="3790948"/>
            <a:ext cx="1550949" cy="136779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tx1"/>
                </a:solidFill>
              </a:rPr>
              <a:t>积极</a:t>
            </a:r>
            <a:endParaRPr kumimoji="1" lang="ja-JP" altLang="en-US" sz="2400" dirty="0">
              <a:solidFill>
                <a:schemeClr val="tx1"/>
              </a:solidFill>
            </a:endParaRPr>
          </a:p>
        </p:txBody>
      </p:sp>
      <p:sp>
        <p:nvSpPr>
          <p:cNvPr id="80" name="正方形/長方形 79">
            <a:extLst>
              <a:ext uri="{FF2B5EF4-FFF2-40B4-BE49-F238E27FC236}">
                <a16:creationId xmlns:a16="http://schemas.microsoft.com/office/drawing/2014/main" id="{D302B990-8B4A-2D44-9031-05137EAC3EA9}"/>
              </a:ext>
            </a:extLst>
          </p:cNvPr>
          <p:cNvSpPr/>
          <p:nvPr/>
        </p:nvSpPr>
        <p:spPr>
          <a:xfrm>
            <a:off x="1923770" y="1059181"/>
            <a:ext cx="1550949" cy="13677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tx1"/>
                </a:solidFill>
              </a:rPr>
              <a:t>客观</a:t>
            </a:r>
            <a:endParaRPr kumimoji="1" lang="ja-JP" altLang="en-US" sz="2400" dirty="0">
              <a:solidFill>
                <a:schemeClr val="tx1"/>
              </a:solidFill>
            </a:endParaRPr>
          </a:p>
        </p:txBody>
      </p:sp>
      <p:sp>
        <p:nvSpPr>
          <p:cNvPr id="82" name="正方形/長方形 81">
            <a:extLst>
              <a:ext uri="{FF2B5EF4-FFF2-40B4-BE49-F238E27FC236}">
                <a16:creationId xmlns:a16="http://schemas.microsoft.com/office/drawing/2014/main" id="{983E3BEC-63BC-F240-835C-4C6665ECEB35}"/>
              </a:ext>
            </a:extLst>
          </p:cNvPr>
          <p:cNvSpPr/>
          <p:nvPr/>
        </p:nvSpPr>
        <p:spPr>
          <a:xfrm>
            <a:off x="5047973" y="1066800"/>
            <a:ext cx="1513412" cy="13677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tx1"/>
                </a:solidFill>
              </a:rPr>
              <a:t>消极</a:t>
            </a:r>
            <a:endParaRPr kumimoji="1" lang="ja-JP" altLang="en-US" sz="2400" dirty="0">
              <a:solidFill>
                <a:schemeClr val="tx1"/>
              </a:solidFill>
            </a:endParaRPr>
          </a:p>
        </p:txBody>
      </p:sp>
      <p:sp>
        <p:nvSpPr>
          <p:cNvPr id="83" name="正方形/長方形 82">
            <a:extLst>
              <a:ext uri="{FF2B5EF4-FFF2-40B4-BE49-F238E27FC236}">
                <a16:creationId xmlns:a16="http://schemas.microsoft.com/office/drawing/2014/main" id="{DA14022A-0EBD-4146-A70E-78ED8FF3AAF9}"/>
              </a:ext>
            </a:extLst>
          </p:cNvPr>
          <p:cNvSpPr/>
          <p:nvPr/>
        </p:nvSpPr>
        <p:spPr>
          <a:xfrm>
            <a:off x="8080266" y="1059182"/>
            <a:ext cx="1467590" cy="1367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tx1"/>
                </a:solidFill>
              </a:rPr>
              <a:t>整体</a:t>
            </a:r>
            <a:endParaRPr kumimoji="1" lang="ja-JP" altLang="en-US" sz="2400" dirty="0">
              <a:solidFill>
                <a:schemeClr val="tx1"/>
              </a:solidFill>
            </a:endParaRPr>
          </a:p>
        </p:txBody>
      </p:sp>
      <p:sp>
        <p:nvSpPr>
          <p:cNvPr id="85" name="正方形/長方形 84">
            <a:extLst>
              <a:ext uri="{FF2B5EF4-FFF2-40B4-BE49-F238E27FC236}">
                <a16:creationId xmlns:a16="http://schemas.microsoft.com/office/drawing/2014/main" id="{34AE492C-243C-8348-B515-28A5B03FD66E}"/>
              </a:ext>
            </a:extLst>
          </p:cNvPr>
          <p:cNvSpPr/>
          <p:nvPr/>
        </p:nvSpPr>
        <p:spPr>
          <a:xfrm>
            <a:off x="8007455" y="3794761"/>
            <a:ext cx="1550949" cy="13677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tx1"/>
                </a:solidFill>
              </a:rPr>
              <a:t>创新</a:t>
            </a:r>
            <a:endParaRPr kumimoji="1" lang="ja-JP" altLang="en-US" sz="2400" dirty="0">
              <a:solidFill>
                <a:schemeClr val="tx1"/>
              </a:solidFill>
            </a:endParaRPr>
          </a:p>
        </p:txBody>
      </p:sp>
      <p:sp>
        <p:nvSpPr>
          <p:cNvPr id="88" name="正方形/長方形 87">
            <a:extLst>
              <a:ext uri="{FF2B5EF4-FFF2-40B4-BE49-F238E27FC236}">
                <a16:creationId xmlns:a16="http://schemas.microsoft.com/office/drawing/2014/main" id="{C1B47E7C-6A0D-C442-AAEC-688891E8CF8C}"/>
              </a:ext>
            </a:extLst>
          </p:cNvPr>
          <p:cNvSpPr/>
          <p:nvPr/>
        </p:nvSpPr>
        <p:spPr>
          <a:xfrm>
            <a:off x="1914671" y="3787140"/>
            <a:ext cx="1578218" cy="136779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tx1"/>
                </a:solidFill>
              </a:rPr>
              <a:t>主观</a:t>
            </a:r>
            <a:endParaRPr kumimoji="1" lang="ja-JP" altLang="en-US" sz="2400" dirty="0">
              <a:solidFill>
                <a:schemeClr val="tx1"/>
              </a:solidFill>
            </a:endParaRPr>
          </a:p>
        </p:txBody>
      </p:sp>
      <p:sp>
        <p:nvSpPr>
          <p:cNvPr id="39" name="正方形/長方形 38">
            <a:extLst>
              <a:ext uri="{FF2B5EF4-FFF2-40B4-BE49-F238E27FC236}">
                <a16:creationId xmlns:a16="http://schemas.microsoft.com/office/drawing/2014/main" id="{3D178644-DAC9-FD44-A351-20EA2708D76F}"/>
              </a:ext>
            </a:extLst>
          </p:cNvPr>
          <p:cNvSpPr/>
          <p:nvPr/>
        </p:nvSpPr>
        <p:spPr>
          <a:xfrm>
            <a:off x="354051" y="1066800"/>
            <a:ext cx="1550949" cy="13677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chemeClr val="tx1"/>
                </a:solidFill>
              </a:rPr>
              <a:t>白</a:t>
            </a:r>
          </a:p>
        </p:txBody>
      </p:sp>
      <p:sp>
        <p:nvSpPr>
          <p:cNvPr id="71" name="正方形/長方形 70">
            <a:extLst>
              <a:ext uri="{FF2B5EF4-FFF2-40B4-BE49-F238E27FC236}">
                <a16:creationId xmlns:a16="http://schemas.microsoft.com/office/drawing/2014/main" id="{D89A6DAA-EDEF-A345-992E-3EA807F3D2BE}"/>
              </a:ext>
            </a:extLst>
          </p:cNvPr>
          <p:cNvSpPr/>
          <p:nvPr/>
        </p:nvSpPr>
        <p:spPr>
          <a:xfrm>
            <a:off x="3499346" y="1066800"/>
            <a:ext cx="1550949" cy="13677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chemeClr val="tx1"/>
                </a:solidFill>
              </a:rPr>
              <a:t>黒</a:t>
            </a:r>
          </a:p>
        </p:txBody>
      </p:sp>
      <p:sp>
        <p:nvSpPr>
          <p:cNvPr id="76" name="正方形/長方形 75">
            <a:extLst>
              <a:ext uri="{FF2B5EF4-FFF2-40B4-BE49-F238E27FC236}">
                <a16:creationId xmlns:a16="http://schemas.microsoft.com/office/drawing/2014/main" id="{563BC6F9-0F4B-8C43-829C-843E4ECD1AF9}"/>
              </a:ext>
            </a:extLst>
          </p:cNvPr>
          <p:cNvSpPr/>
          <p:nvPr/>
        </p:nvSpPr>
        <p:spPr>
          <a:xfrm>
            <a:off x="354051" y="3798569"/>
            <a:ext cx="1550949" cy="136779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4000" dirty="0">
                <a:solidFill>
                  <a:schemeClr val="tx1"/>
                </a:solidFill>
              </a:rPr>
              <a:t>红</a:t>
            </a:r>
            <a:endParaRPr kumimoji="1" lang="ja-JP" altLang="en-US" sz="4000" dirty="0">
              <a:solidFill>
                <a:schemeClr val="tx1"/>
              </a:solidFill>
            </a:endParaRPr>
          </a:p>
        </p:txBody>
      </p:sp>
      <p:sp>
        <p:nvSpPr>
          <p:cNvPr id="77" name="正方形/長方形 76">
            <a:extLst>
              <a:ext uri="{FF2B5EF4-FFF2-40B4-BE49-F238E27FC236}">
                <a16:creationId xmlns:a16="http://schemas.microsoft.com/office/drawing/2014/main" id="{403AD406-8A6C-CA41-9F91-F82627979A04}"/>
              </a:ext>
            </a:extLst>
          </p:cNvPr>
          <p:cNvSpPr/>
          <p:nvPr/>
        </p:nvSpPr>
        <p:spPr>
          <a:xfrm>
            <a:off x="3499346" y="3794760"/>
            <a:ext cx="1550949" cy="136779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chemeClr val="tx1"/>
                </a:solidFill>
              </a:rPr>
              <a:t>黄</a:t>
            </a:r>
          </a:p>
        </p:txBody>
      </p:sp>
      <p:sp>
        <p:nvSpPr>
          <p:cNvPr id="79" name="正方形/長方形 78">
            <a:extLst>
              <a:ext uri="{FF2B5EF4-FFF2-40B4-BE49-F238E27FC236}">
                <a16:creationId xmlns:a16="http://schemas.microsoft.com/office/drawing/2014/main" id="{B14EFF09-85B0-B144-868B-7081F21D77D5}"/>
              </a:ext>
            </a:extLst>
          </p:cNvPr>
          <p:cNvSpPr/>
          <p:nvPr/>
        </p:nvSpPr>
        <p:spPr>
          <a:xfrm>
            <a:off x="6566674" y="3794760"/>
            <a:ext cx="1550949" cy="13677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4000" dirty="0">
                <a:solidFill>
                  <a:schemeClr val="tx1"/>
                </a:solidFill>
              </a:rPr>
              <a:t>绿</a:t>
            </a:r>
            <a:endParaRPr kumimoji="1" lang="ja-JP" altLang="en-US" sz="4000" dirty="0">
              <a:solidFill>
                <a:schemeClr val="tx1"/>
              </a:solidFill>
            </a:endParaRPr>
          </a:p>
        </p:txBody>
      </p:sp>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9264"/>
            <a:ext cx="4598947" cy="409636"/>
          </a:xfrm>
          <a:solidFill>
            <a:schemeClr val="accent2"/>
          </a:solidFill>
        </p:spPr>
        <p:txBody>
          <a:bodyPr anchor="ctr" anchorCtr="0">
            <a:normAutofit fontScale="90000"/>
          </a:bodyPr>
          <a:lstStyle/>
          <a:p>
            <a:pPr algn="l"/>
            <a:r>
              <a:rPr lang="en-US" altLang="ja-JP" sz="2600" dirty="0">
                <a:solidFill>
                  <a:schemeClr val="bg1"/>
                </a:solidFill>
                <a:latin typeface="等线 Light" panose="02010600030101010101" pitchFamily="2" charset="-122"/>
                <a:ea typeface="等线 Light" panose="02010600030101010101" pitchFamily="2" charset="-122"/>
              </a:rPr>
              <a:t>03</a:t>
            </a:r>
            <a:r>
              <a:rPr lang="ja-JP" altLang="en-US" sz="2600" dirty="0">
                <a:solidFill>
                  <a:schemeClr val="bg1"/>
                </a:solidFill>
                <a:latin typeface="等线 Light" panose="02010600030101010101" pitchFamily="2" charset="-122"/>
                <a:ea typeface="等线 Light" panose="02010600030101010101" pitchFamily="2" charset="-122"/>
              </a:rPr>
              <a:t>　</a:t>
            </a:r>
            <a:r>
              <a:rPr lang="zh-CN" altLang="en-US" sz="2600" dirty="0">
                <a:solidFill>
                  <a:schemeClr val="bg1"/>
                </a:solidFill>
                <a:latin typeface="等线 Light" panose="02010600030101010101" pitchFamily="2" charset="-122"/>
                <a:ea typeface="等线 Light" panose="02010600030101010101" pitchFamily="2" charset="-122"/>
              </a:rPr>
              <a:t>六顶思考帽</a:t>
            </a:r>
            <a:r>
              <a:rPr lang="ja-JP" altLang="en-US" sz="2600" dirty="0">
                <a:solidFill>
                  <a:schemeClr val="bg1"/>
                </a:solidFill>
                <a:latin typeface="等线 Light" panose="02010600030101010101" pitchFamily="2" charset="-122"/>
                <a:ea typeface="等线 Light" panose="02010600030101010101" pitchFamily="2" charset="-122"/>
              </a:rPr>
              <a:t>法 </a:t>
            </a:r>
            <a:r>
              <a:rPr lang="ja-JP" altLang="en-US" sz="1625" dirty="0">
                <a:solidFill>
                  <a:schemeClr val="bg1"/>
                </a:solidFill>
                <a:latin typeface="等线 Light" panose="02010600030101010101" pitchFamily="2" charset="-122"/>
                <a:ea typeface="等线 Light" panose="02010600030101010101" pitchFamily="2" charset="-122"/>
              </a:rPr>
              <a:t>→</a:t>
            </a:r>
            <a:r>
              <a:rPr lang="zh-CN" altLang="en-US" sz="1625" dirty="0">
                <a:solidFill>
                  <a:schemeClr val="bg1"/>
                </a:solidFill>
                <a:latin typeface="等线 Light" panose="02010600030101010101" pitchFamily="2" charset="-122"/>
                <a:ea typeface="等线 Light" panose="02010600030101010101" pitchFamily="2" charset="-122"/>
              </a:rPr>
              <a:t>本书第</a:t>
            </a:r>
            <a:r>
              <a:rPr lang="en-US" altLang="zh-CN" sz="1625" dirty="0">
                <a:solidFill>
                  <a:schemeClr val="bg1"/>
                </a:solidFill>
                <a:latin typeface="等线 Light" panose="02010600030101010101" pitchFamily="2" charset="-122"/>
                <a:ea typeface="等线 Light" panose="02010600030101010101" pitchFamily="2" charset="-122"/>
              </a:rPr>
              <a:t>10</a:t>
            </a:r>
            <a:r>
              <a:rPr lang="zh-CN" altLang="en-US" sz="1625" dirty="0">
                <a:solidFill>
                  <a:schemeClr val="bg1"/>
                </a:solidFill>
                <a:latin typeface="等线 Light" panose="02010600030101010101" pitchFamily="2" charset="-122"/>
                <a:ea typeface="等线 Light" panose="02010600030101010101" pitchFamily="2" charset="-122"/>
              </a:rPr>
              <a:t>页</a:t>
            </a:r>
            <a:endParaRPr lang="ja-JP" altLang="en-US" sz="2600" dirty="0">
              <a:solidFill>
                <a:schemeClr val="bg1"/>
              </a:solidFill>
              <a:latin typeface="等线 Light" panose="02010600030101010101" pitchFamily="2" charset="-122"/>
              <a:ea typeface="等线 Light" panose="02010600030101010101" pitchFamily="2" charset="-122"/>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9264"/>
            <a:ext cx="4598947" cy="409636"/>
          </a:xfrm>
          <a:solidFill>
            <a:schemeClr val="accent2">
              <a:lumMod val="20000"/>
              <a:lumOff val="80000"/>
            </a:schemeClr>
          </a:solidFill>
        </p:spPr>
        <p:txBody>
          <a:bodyPr anchor="ctr" anchorCtr="0">
            <a:normAutofit/>
          </a:bodyPr>
          <a:lstStyle/>
          <a:p>
            <a:pPr algn="l"/>
            <a:r>
              <a:rPr lang="zh-CN" altLang="en-US" sz="1138" dirty="0">
                <a:latin typeface="宋体" panose="02010600030101010101" pitchFamily="2" charset="-122"/>
                <a:ea typeface="宋体" panose="02010600030101010101" pitchFamily="2" charset="-122"/>
              </a:rPr>
              <a:t>填写扮演不同角色的人的名字。你也可以把它打印出来，把虚线部分剪下来，放在每个人面前，让每个人都有自己的想法。 </a:t>
            </a:r>
            <a:endParaRPr lang="ja-JP" altLang="en-US" sz="1138" dirty="0">
              <a:latin typeface="宋体" panose="02010600030101010101" pitchFamily="2" charset="-122"/>
              <a:ea typeface="宋体" panose="02010600030101010101" pitchFamily="2" charset="-122"/>
            </a:endParaRPr>
          </a:p>
        </p:txBody>
      </p:sp>
      <p:sp>
        <p:nvSpPr>
          <p:cNvPr id="29" name="正方形/長方形 28">
            <a:extLst>
              <a:ext uri="{FF2B5EF4-FFF2-40B4-BE49-F238E27FC236}">
                <a16:creationId xmlns:a16="http://schemas.microsoft.com/office/drawing/2014/main" id="{C85D3B05-540F-BF48-A054-1886C8802A55}"/>
              </a:ext>
            </a:extLst>
          </p:cNvPr>
          <p:cNvSpPr/>
          <p:nvPr/>
        </p:nvSpPr>
        <p:spPr>
          <a:xfrm>
            <a:off x="354052" y="1066800"/>
            <a:ext cx="9197895" cy="54330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直線コネクタ 49">
            <a:extLst>
              <a:ext uri="{FF2B5EF4-FFF2-40B4-BE49-F238E27FC236}">
                <a16:creationId xmlns:a16="http://schemas.microsoft.com/office/drawing/2014/main" id="{7CEFC870-15D7-AE45-A3C3-9CED118D2758}"/>
              </a:ext>
            </a:extLst>
          </p:cNvPr>
          <p:cNvCxnSpPr>
            <a:cxnSpLocks/>
            <a:stCxn id="29" idx="1"/>
            <a:endCxn id="29" idx="3"/>
          </p:cNvCxnSpPr>
          <p:nvPr/>
        </p:nvCxnSpPr>
        <p:spPr>
          <a:xfrm>
            <a:off x="354052" y="3783330"/>
            <a:ext cx="9197895"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59" name="直線コネクタ 58">
            <a:extLst>
              <a:ext uri="{FF2B5EF4-FFF2-40B4-BE49-F238E27FC236}">
                <a16:creationId xmlns:a16="http://schemas.microsoft.com/office/drawing/2014/main" id="{BCEB377E-60D1-C84E-827A-0A0C1AF5CD28}"/>
              </a:ext>
            </a:extLst>
          </p:cNvPr>
          <p:cNvCxnSpPr>
            <a:cxnSpLocks/>
          </p:cNvCxnSpPr>
          <p:nvPr/>
        </p:nvCxnSpPr>
        <p:spPr>
          <a:xfrm>
            <a:off x="354051" y="2434590"/>
            <a:ext cx="91978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66C59ACE-E925-0545-9A40-F94F5F42F4F2}"/>
              </a:ext>
            </a:extLst>
          </p:cNvPr>
          <p:cNvCxnSpPr>
            <a:cxnSpLocks/>
          </p:cNvCxnSpPr>
          <p:nvPr/>
        </p:nvCxnSpPr>
        <p:spPr>
          <a:xfrm>
            <a:off x="1905000" y="1066800"/>
            <a:ext cx="0" cy="1367790"/>
          </a:xfrm>
          <a:prstGeom prst="line">
            <a:avLst/>
          </a:prstGeom>
          <a:ln w="6350">
            <a:prstDash val="solid"/>
          </a:ln>
        </p:spPr>
        <p:style>
          <a:lnRef idx="1">
            <a:schemeClr val="dk1"/>
          </a:lnRef>
          <a:fillRef idx="0">
            <a:schemeClr val="dk1"/>
          </a:fillRef>
          <a:effectRef idx="0">
            <a:schemeClr val="dk1"/>
          </a:effectRef>
          <a:fontRef idx="minor">
            <a:schemeClr val="tx1"/>
          </a:fontRef>
        </p:style>
      </p:cxnSp>
      <p:cxnSp>
        <p:nvCxnSpPr>
          <p:cNvPr id="62" name="直線コネクタ 61">
            <a:extLst>
              <a:ext uri="{FF2B5EF4-FFF2-40B4-BE49-F238E27FC236}">
                <a16:creationId xmlns:a16="http://schemas.microsoft.com/office/drawing/2014/main" id="{3B87FBF4-8DAC-BA4B-BD3F-4996B460AF91}"/>
              </a:ext>
            </a:extLst>
          </p:cNvPr>
          <p:cNvCxnSpPr>
            <a:cxnSpLocks/>
          </p:cNvCxnSpPr>
          <p:nvPr/>
        </p:nvCxnSpPr>
        <p:spPr>
          <a:xfrm>
            <a:off x="5044440" y="1066800"/>
            <a:ext cx="0" cy="1367790"/>
          </a:xfrm>
          <a:prstGeom prst="line">
            <a:avLst/>
          </a:prstGeom>
          <a:ln w="6350">
            <a:prstDash val="solid"/>
          </a:ln>
        </p:spPr>
        <p:style>
          <a:lnRef idx="1">
            <a:schemeClr val="dk1"/>
          </a:lnRef>
          <a:fillRef idx="0">
            <a:schemeClr val="dk1"/>
          </a:fillRef>
          <a:effectRef idx="0">
            <a:schemeClr val="dk1"/>
          </a:effectRef>
          <a:fontRef idx="minor">
            <a:schemeClr val="tx1"/>
          </a:fontRef>
        </p:style>
      </p:cxnSp>
      <p:cxnSp>
        <p:nvCxnSpPr>
          <p:cNvPr id="64" name="直線コネクタ 63">
            <a:extLst>
              <a:ext uri="{FF2B5EF4-FFF2-40B4-BE49-F238E27FC236}">
                <a16:creationId xmlns:a16="http://schemas.microsoft.com/office/drawing/2014/main" id="{4F4D634B-5048-4B4A-93F1-B77A0B02F9E2}"/>
              </a:ext>
            </a:extLst>
          </p:cNvPr>
          <p:cNvCxnSpPr>
            <a:cxnSpLocks/>
          </p:cNvCxnSpPr>
          <p:nvPr/>
        </p:nvCxnSpPr>
        <p:spPr>
          <a:xfrm>
            <a:off x="1905000" y="3794760"/>
            <a:ext cx="0" cy="1367790"/>
          </a:xfrm>
          <a:prstGeom prst="line">
            <a:avLst/>
          </a:prstGeom>
          <a:ln w="6350">
            <a:prstDash val="solid"/>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0E22E723-4803-DE46-83DB-14A5F6E8E7CB}"/>
              </a:ext>
            </a:extLst>
          </p:cNvPr>
          <p:cNvCxnSpPr>
            <a:cxnSpLocks/>
          </p:cNvCxnSpPr>
          <p:nvPr/>
        </p:nvCxnSpPr>
        <p:spPr>
          <a:xfrm>
            <a:off x="5044440" y="3783330"/>
            <a:ext cx="0" cy="1367790"/>
          </a:xfrm>
          <a:prstGeom prst="line">
            <a:avLst/>
          </a:prstGeom>
          <a:ln w="6350">
            <a:prstDash val="solid"/>
          </a:ln>
        </p:spPr>
        <p:style>
          <a:lnRef idx="1">
            <a:schemeClr val="dk1"/>
          </a:lnRef>
          <a:fillRef idx="0">
            <a:schemeClr val="dk1"/>
          </a:fillRef>
          <a:effectRef idx="0">
            <a:schemeClr val="dk1"/>
          </a:effectRef>
          <a:fontRef idx="minor">
            <a:schemeClr val="tx1"/>
          </a:fontRef>
        </p:style>
      </p:cxnSp>
      <p:cxnSp>
        <p:nvCxnSpPr>
          <p:cNvPr id="68" name="直線コネクタ 67">
            <a:extLst>
              <a:ext uri="{FF2B5EF4-FFF2-40B4-BE49-F238E27FC236}">
                <a16:creationId xmlns:a16="http://schemas.microsoft.com/office/drawing/2014/main" id="{8C68F77B-427E-4443-9F75-ED0652EFCB00}"/>
              </a:ext>
            </a:extLst>
          </p:cNvPr>
          <p:cNvCxnSpPr>
            <a:cxnSpLocks/>
          </p:cNvCxnSpPr>
          <p:nvPr/>
        </p:nvCxnSpPr>
        <p:spPr>
          <a:xfrm>
            <a:off x="8107680" y="1066800"/>
            <a:ext cx="0" cy="1367790"/>
          </a:xfrm>
          <a:prstGeom prst="line">
            <a:avLst/>
          </a:prstGeom>
          <a:ln w="6350">
            <a:prstDash val="solid"/>
          </a:ln>
        </p:spPr>
        <p:style>
          <a:lnRef idx="1">
            <a:schemeClr val="dk1"/>
          </a:lnRef>
          <a:fillRef idx="0">
            <a:schemeClr val="dk1"/>
          </a:fillRef>
          <a:effectRef idx="0">
            <a:schemeClr val="dk1"/>
          </a:effectRef>
          <a:fontRef idx="minor">
            <a:schemeClr val="tx1"/>
          </a:fontRef>
        </p:style>
      </p:cxnSp>
      <p:cxnSp>
        <p:nvCxnSpPr>
          <p:cNvPr id="70" name="直線コネクタ 69">
            <a:extLst>
              <a:ext uri="{FF2B5EF4-FFF2-40B4-BE49-F238E27FC236}">
                <a16:creationId xmlns:a16="http://schemas.microsoft.com/office/drawing/2014/main" id="{D8101044-E47F-9944-967A-ABBED4D5E242}"/>
              </a:ext>
            </a:extLst>
          </p:cNvPr>
          <p:cNvCxnSpPr>
            <a:cxnSpLocks/>
          </p:cNvCxnSpPr>
          <p:nvPr/>
        </p:nvCxnSpPr>
        <p:spPr>
          <a:xfrm>
            <a:off x="8107680" y="3794760"/>
            <a:ext cx="0" cy="1367790"/>
          </a:xfrm>
          <a:prstGeom prst="line">
            <a:avLst/>
          </a:prstGeom>
          <a:ln w="6350">
            <a:prstDash val="solid"/>
          </a:ln>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F518F5AC-BA6B-8B41-9377-74872F1A566B}"/>
              </a:ext>
            </a:extLst>
          </p:cNvPr>
          <p:cNvCxnSpPr>
            <a:cxnSpLocks/>
          </p:cNvCxnSpPr>
          <p:nvPr/>
        </p:nvCxnSpPr>
        <p:spPr>
          <a:xfrm>
            <a:off x="354051" y="5154930"/>
            <a:ext cx="91978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2CA27710-FB52-9941-94EA-D2BE53EE0300}"/>
              </a:ext>
            </a:extLst>
          </p:cNvPr>
          <p:cNvCxnSpPr>
            <a:cxnSpLocks/>
          </p:cNvCxnSpPr>
          <p:nvPr/>
        </p:nvCxnSpPr>
        <p:spPr>
          <a:xfrm>
            <a:off x="3505200" y="1066800"/>
            <a:ext cx="0" cy="543306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56" name="直線コネクタ 55">
            <a:extLst>
              <a:ext uri="{FF2B5EF4-FFF2-40B4-BE49-F238E27FC236}">
                <a16:creationId xmlns:a16="http://schemas.microsoft.com/office/drawing/2014/main" id="{0D39312B-A421-D041-95F6-B84FF3705EEC}"/>
              </a:ext>
            </a:extLst>
          </p:cNvPr>
          <p:cNvCxnSpPr/>
          <p:nvPr/>
        </p:nvCxnSpPr>
        <p:spPr>
          <a:xfrm>
            <a:off x="6568440" y="1066800"/>
            <a:ext cx="0" cy="543306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89" name="正方形/長方形 88">
            <a:extLst>
              <a:ext uri="{FF2B5EF4-FFF2-40B4-BE49-F238E27FC236}">
                <a16:creationId xmlns:a16="http://schemas.microsoft.com/office/drawing/2014/main" id="{D5FBC36E-5462-FE42-A86A-5EA39816D702}"/>
              </a:ext>
            </a:extLst>
          </p:cNvPr>
          <p:cNvSpPr/>
          <p:nvPr/>
        </p:nvSpPr>
        <p:spPr>
          <a:xfrm>
            <a:off x="354050" y="2438399"/>
            <a:ext cx="3133866" cy="13677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accent2">
                    <a:lumMod val="20000"/>
                    <a:lumOff val="80000"/>
                  </a:schemeClr>
                </a:solidFill>
              </a:rPr>
              <a:t>姓名</a:t>
            </a:r>
            <a:endParaRPr kumimoji="1" lang="ja-JP" altLang="en-US" sz="2400" dirty="0">
              <a:solidFill>
                <a:schemeClr val="accent2">
                  <a:lumMod val="20000"/>
                  <a:lumOff val="80000"/>
                </a:schemeClr>
              </a:solidFill>
            </a:endParaRPr>
          </a:p>
        </p:txBody>
      </p:sp>
      <p:sp>
        <p:nvSpPr>
          <p:cNvPr id="91" name="正方形/長方形 90">
            <a:extLst>
              <a:ext uri="{FF2B5EF4-FFF2-40B4-BE49-F238E27FC236}">
                <a16:creationId xmlns:a16="http://schemas.microsoft.com/office/drawing/2014/main" id="{28FFCBD3-F262-4447-819E-AC59BB0685D0}"/>
              </a:ext>
            </a:extLst>
          </p:cNvPr>
          <p:cNvSpPr/>
          <p:nvPr/>
        </p:nvSpPr>
        <p:spPr>
          <a:xfrm>
            <a:off x="362835" y="5170168"/>
            <a:ext cx="3133866" cy="1335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accent2">
                    <a:lumMod val="20000"/>
                    <a:lumOff val="80000"/>
                  </a:schemeClr>
                </a:solidFill>
              </a:rPr>
              <a:t>姓名</a:t>
            </a:r>
            <a:endParaRPr kumimoji="1" lang="ja-JP" altLang="en-US" sz="2400" dirty="0">
              <a:solidFill>
                <a:schemeClr val="accent2">
                  <a:lumMod val="20000"/>
                  <a:lumOff val="80000"/>
                </a:schemeClr>
              </a:solidFill>
            </a:endParaRPr>
          </a:p>
        </p:txBody>
      </p:sp>
      <p:sp>
        <p:nvSpPr>
          <p:cNvPr id="92" name="正方形/長方形 91">
            <a:extLst>
              <a:ext uri="{FF2B5EF4-FFF2-40B4-BE49-F238E27FC236}">
                <a16:creationId xmlns:a16="http://schemas.microsoft.com/office/drawing/2014/main" id="{6F702921-7B33-024B-9D2F-F1ABB5E81D41}"/>
              </a:ext>
            </a:extLst>
          </p:cNvPr>
          <p:cNvSpPr/>
          <p:nvPr/>
        </p:nvSpPr>
        <p:spPr>
          <a:xfrm>
            <a:off x="3507989" y="2438399"/>
            <a:ext cx="3061614" cy="13677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accent2">
                    <a:lumMod val="20000"/>
                    <a:lumOff val="80000"/>
                  </a:schemeClr>
                </a:solidFill>
              </a:rPr>
              <a:t>姓名</a:t>
            </a:r>
            <a:endParaRPr kumimoji="1" lang="ja-JP" altLang="en-US" sz="2400" dirty="0">
              <a:solidFill>
                <a:schemeClr val="accent2">
                  <a:lumMod val="20000"/>
                  <a:lumOff val="80000"/>
                </a:schemeClr>
              </a:solidFill>
            </a:endParaRPr>
          </a:p>
        </p:txBody>
      </p:sp>
      <p:sp>
        <p:nvSpPr>
          <p:cNvPr id="93" name="正方形/長方形 92">
            <a:extLst>
              <a:ext uri="{FF2B5EF4-FFF2-40B4-BE49-F238E27FC236}">
                <a16:creationId xmlns:a16="http://schemas.microsoft.com/office/drawing/2014/main" id="{E17D3BE7-543C-E94D-8E8C-50DFA8A5AE24}"/>
              </a:ext>
            </a:extLst>
          </p:cNvPr>
          <p:cNvSpPr/>
          <p:nvPr/>
        </p:nvSpPr>
        <p:spPr>
          <a:xfrm>
            <a:off x="6566674" y="2423159"/>
            <a:ext cx="2991730" cy="13677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accent2">
                    <a:lumMod val="20000"/>
                    <a:lumOff val="80000"/>
                  </a:schemeClr>
                </a:solidFill>
              </a:rPr>
              <a:t>姓名</a:t>
            </a:r>
            <a:endParaRPr kumimoji="1" lang="ja-JP" altLang="en-US" sz="2400" dirty="0">
              <a:solidFill>
                <a:schemeClr val="accent2">
                  <a:lumMod val="20000"/>
                  <a:lumOff val="80000"/>
                </a:schemeClr>
              </a:solidFill>
            </a:endParaRPr>
          </a:p>
        </p:txBody>
      </p:sp>
      <p:sp>
        <p:nvSpPr>
          <p:cNvPr id="94" name="正方形/長方形 93">
            <a:extLst>
              <a:ext uri="{FF2B5EF4-FFF2-40B4-BE49-F238E27FC236}">
                <a16:creationId xmlns:a16="http://schemas.microsoft.com/office/drawing/2014/main" id="{36693F51-ADBF-0748-83E4-CBD470FD7822}"/>
              </a:ext>
            </a:extLst>
          </p:cNvPr>
          <p:cNvSpPr/>
          <p:nvPr/>
        </p:nvSpPr>
        <p:spPr>
          <a:xfrm>
            <a:off x="3513983" y="5170165"/>
            <a:ext cx="3048000" cy="1335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accent2">
                    <a:lumMod val="20000"/>
                    <a:lumOff val="80000"/>
                  </a:schemeClr>
                </a:solidFill>
              </a:rPr>
              <a:t>姓名</a:t>
            </a:r>
            <a:endParaRPr kumimoji="1" lang="ja-JP" altLang="en-US" sz="2400" dirty="0">
              <a:solidFill>
                <a:schemeClr val="accent2">
                  <a:lumMod val="20000"/>
                  <a:lumOff val="80000"/>
                </a:schemeClr>
              </a:solidFill>
            </a:endParaRPr>
          </a:p>
        </p:txBody>
      </p:sp>
      <p:sp>
        <p:nvSpPr>
          <p:cNvPr id="95" name="正方形/長方形 94">
            <a:extLst>
              <a:ext uri="{FF2B5EF4-FFF2-40B4-BE49-F238E27FC236}">
                <a16:creationId xmlns:a16="http://schemas.microsoft.com/office/drawing/2014/main" id="{E50A7E61-0969-6446-8512-6B5C6E07C915}"/>
              </a:ext>
            </a:extLst>
          </p:cNvPr>
          <p:cNvSpPr/>
          <p:nvPr/>
        </p:nvSpPr>
        <p:spPr>
          <a:xfrm>
            <a:off x="6573129" y="5177788"/>
            <a:ext cx="2991728" cy="1335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accent2">
                    <a:lumMod val="20000"/>
                    <a:lumOff val="80000"/>
                  </a:schemeClr>
                </a:solidFill>
              </a:rPr>
              <a:t>姓名</a:t>
            </a:r>
            <a:endParaRPr kumimoji="1" lang="ja-JP" altLang="en-US" sz="2400" dirty="0">
              <a:solidFill>
                <a:schemeClr val="accent2">
                  <a:lumMod val="20000"/>
                  <a:lumOff val="80000"/>
                </a:schemeClr>
              </a:solidFill>
            </a:endParaRPr>
          </a:p>
        </p:txBody>
      </p:sp>
    </p:spTree>
    <p:extLst>
      <p:ext uri="{BB962C8B-B14F-4D97-AF65-F5344CB8AC3E}">
        <p14:creationId xmlns:p14="http://schemas.microsoft.com/office/powerpoint/2010/main" val="3457763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5">
            <a:extLst>
              <a:ext uri="{FF2B5EF4-FFF2-40B4-BE49-F238E27FC236}">
                <a16:creationId xmlns:a16="http://schemas.microsoft.com/office/drawing/2014/main" id="{130B1241-D033-0345-AAB5-F6794A955307}"/>
              </a:ext>
            </a:extLst>
          </p:cNvPr>
          <p:cNvGraphicFramePr>
            <a:graphicFrameLocks noGrp="1"/>
          </p:cNvGraphicFramePr>
          <p:nvPr>
            <p:extLst>
              <p:ext uri="{D42A27DB-BD31-4B8C-83A1-F6EECF244321}">
                <p14:modId xmlns:p14="http://schemas.microsoft.com/office/powerpoint/2010/main" val="994848678"/>
              </p:ext>
            </p:extLst>
          </p:nvPr>
        </p:nvGraphicFramePr>
        <p:xfrm>
          <a:off x="354049" y="1066800"/>
          <a:ext cx="9197898" cy="5429531"/>
        </p:xfrm>
        <a:graphic>
          <a:graphicData uri="http://schemas.openxmlformats.org/drawingml/2006/table">
            <a:tbl>
              <a:tblPr>
                <a:tableStyleId>{1FECB4D8-DB02-4DC6-A0A2-4F2EBAE1DC90}</a:tableStyleId>
              </a:tblPr>
              <a:tblGrid>
                <a:gridCol w="4598949">
                  <a:extLst>
                    <a:ext uri="{9D8B030D-6E8A-4147-A177-3AD203B41FA5}">
                      <a16:colId xmlns:a16="http://schemas.microsoft.com/office/drawing/2014/main" val="3956253267"/>
                    </a:ext>
                  </a:extLst>
                </a:gridCol>
                <a:gridCol w="4598949">
                  <a:extLst>
                    <a:ext uri="{9D8B030D-6E8A-4147-A177-3AD203B41FA5}">
                      <a16:colId xmlns:a16="http://schemas.microsoft.com/office/drawing/2014/main" val="2767847790"/>
                    </a:ext>
                  </a:extLst>
                </a:gridCol>
              </a:tblGrid>
              <a:tr h="675600">
                <a:tc>
                  <a:txBody>
                    <a:bodyPr/>
                    <a:lstStyle/>
                    <a:p>
                      <a:pPr algn="ctr"/>
                      <a:r>
                        <a:rPr kumimoji="1" lang="zh-CN" altLang="en-US" dirty="0"/>
                        <a:t>框架</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dirty="0"/>
                        <a:t>认知重建后的框架</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064743194"/>
                  </a:ext>
                </a:extLst>
              </a:tr>
              <a:tr h="679133">
                <a:tc>
                  <a:txBody>
                    <a:bodyPr/>
                    <a:lstStyle/>
                    <a:p>
                      <a:endParaRPr kumimoji="1" lang="ja-JP" altLang="en-US"/>
                    </a:p>
                  </a:txBody>
                  <a:tcPr anchor="ctr">
                    <a:lnT w="12700" cap="flat" cmpd="sng" algn="ctr">
                      <a:solidFill>
                        <a:schemeClr val="accent3">
                          <a:lumMod val="60000"/>
                          <a:lumOff val="40000"/>
                        </a:schemeClr>
                      </a:solidFill>
                      <a:prstDash val="solid"/>
                      <a:round/>
                      <a:headEnd type="none" w="med" len="med"/>
                      <a:tailEnd type="none" w="med" len="med"/>
                    </a:lnT>
                  </a:tcPr>
                </a:tc>
                <a:tc>
                  <a:txBody>
                    <a:bodyPr/>
                    <a:lstStyle/>
                    <a:p>
                      <a:endParaRPr kumimoji="1" lang="ja-JP" altLang="en-US" dirty="0"/>
                    </a:p>
                  </a:txBody>
                  <a:tcPr anchor="ctr">
                    <a:lnT w="12700" cap="flat" cmpd="sng" algn="ctr">
                      <a:solidFill>
                        <a:schemeClr val="accent3">
                          <a:lumMod val="60000"/>
                          <a:lumOff val="40000"/>
                        </a:schemeClr>
                      </a:solidFill>
                      <a:prstDash val="solid"/>
                      <a:round/>
                      <a:headEnd type="none" w="med" len="med"/>
                      <a:tailEnd type="none" w="med" len="med"/>
                    </a:lnT>
                  </a:tcPr>
                </a:tc>
                <a:extLst>
                  <a:ext uri="{0D108BD9-81ED-4DB2-BD59-A6C34878D82A}">
                    <a16:rowId xmlns:a16="http://schemas.microsoft.com/office/drawing/2014/main" val="2862401345"/>
                  </a:ext>
                </a:extLst>
              </a:tr>
              <a:tr h="679133">
                <a:tc>
                  <a:txBody>
                    <a:bodyPr/>
                    <a:lstStyle/>
                    <a:p>
                      <a:endParaRPr kumimoji="1" lang="ja-JP" altLang="en-US"/>
                    </a:p>
                  </a:txBody>
                  <a:tcPr anchor="ctr"/>
                </a:tc>
                <a:tc>
                  <a:txBody>
                    <a:bodyPr/>
                    <a:lstStyle/>
                    <a:p>
                      <a:endParaRPr kumimoji="1" lang="ja-JP" altLang="en-US"/>
                    </a:p>
                  </a:txBody>
                  <a:tcPr anchor="ctr"/>
                </a:tc>
                <a:extLst>
                  <a:ext uri="{0D108BD9-81ED-4DB2-BD59-A6C34878D82A}">
                    <a16:rowId xmlns:a16="http://schemas.microsoft.com/office/drawing/2014/main" val="3786116029"/>
                  </a:ext>
                </a:extLst>
              </a:tr>
              <a:tr h="679133">
                <a:tc>
                  <a:txBody>
                    <a:bodyPr/>
                    <a:lstStyle/>
                    <a:p>
                      <a:endParaRPr kumimoji="1" lang="ja-JP" altLang="en-US"/>
                    </a:p>
                  </a:txBody>
                  <a:tcPr anchor="ctr"/>
                </a:tc>
                <a:tc>
                  <a:txBody>
                    <a:bodyPr/>
                    <a:lstStyle/>
                    <a:p>
                      <a:endParaRPr kumimoji="1" lang="ja-JP" altLang="en-US"/>
                    </a:p>
                  </a:txBody>
                  <a:tcPr anchor="ctr"/>
                </a:tc>
                <a:extLst>
                  <a:ext uri="{0D108BD9-81ED-4DB2-BD59-A6C34878D82A}">
                    <a16:rowId xmlns:a16="http://schemas.microsoft.com/office/drawing/2014/main" val="1777678122"/>
                  </a:ext>
                </a:extLst>
              </a:tr>
              <a:tr h="679133">
                <a:tc>
                  <a:txBody>
                    <a:bodyPr/>
                    <a:lstStyle/>
                    <a:p>
                      <a:endParaRPr kumimoji="1" lang="ja-JP" altLang="en-US"/>
                    </a:p>
                  </a:txBody>
                  <a:tcPr anchor="ctr"/>
                </a:tc>
                <a:tc>
                  <a:txBody>
                    <a:bodyPr/>
                    <a:lstStyle/>
                    <a:p>
                      <a:endParaRPr kumimoji="1" lang="ja-JP" altLang="en-US"/>
                    </a:p>
                  </a:txBody>
                  <a:tcPr anchor="ctr"/>
                </a:tc>
                <a:extLst>
                  <a:ext uri="{0D108BD9-81ED-4DB2-BD59-A6C34878D82A}">
                    <a16:rowId xmlns:a16="http://schemas.microsoft.com/office/drawing/2014/main" val="2121618732"/>
                  </a:ext>
                </a:extLst>
              </a:tr>
              <a:tr h="679133">
                <a:tc>
                  <a:txBody>
                    <a:bodyPr/>
                    <a:lstStyle/>
                    <a:p>
                      <a:endParaRPr kumimoji="1" lang="ja-JP" altLang="en-US"/>
                    </a:p>
                  </a:txBody>
                  <a:tcPr anchor="ctr"/>
                </a:tc>
                <a:tc>
                  <a:txBody>
                    <a:bodyPr/>
                    <a:lstStyle/>
                    <a:p>
                      <a:endParaRPr kumimoji="1" lang="ja-JP" altLang="en-US"/>
                    </a:p>
                  </a:txBody>
                  <a:tcPr anchor="ctr"/>
                </a:tc>
                <a:extLst>
                  <a:ext uri="{0D108BD9-81ED-4DB2-BD59-A6C34878D82A}">
                    <a16:rowId xmlns:a16="http://schemas.microsoft.com/office/drawing/2014/main" val="1144330417"/>
                  </a:ext>
                </a:extLst>
              </a:tr>
              <a:tr h="679133">
                <a:tc>
                  <a:txBody>
                    <a:bodyPr/>
                    <a:lstStyle/>
                    <a:p>
                      <a:endParaRPr kumimoji="1" lang="ja-JP" altLang="en-US"/>
                    </a:p>
                  </a:txBody>
                  <a:tcPr anchor="ctr"/>
                </a:tc>
                <a:tc>
                  <a:txBody>
                    <a:bodyPr/>
                    <a:lstStyle/>
                    <a:p>
                      <a:endParaRPr kumimoji="1" lang="ja-JP" altLang="en-US"/>
                    </a:p>
                  </a:txBody>
                  <a:tcPr anchor="ctr"/>
                </a:tc>
                <a:extLst>
                  <a:ext uri="{0D108BD9-81ED-4DB2-BD59-A6C34878D82A}">
                    <a16:rowId xmlns:a16="http://schemas.microsoft.com/office/drawing/2014/main" val="2413745493"/>
                  </a:ext>
                </a:extLst>
              </a:tr>
              <a:tr h="679133">
                <a:tc>
                  <a:txBody>
                    <a:bodyPr/>
                    <a:lstStyle/>
                    <a:p>
                      <a:endParaRPr kumimoji="1" lang="ja-JP" altLang="en-US"/>
                    </a:p>
                  </a:txBody>
                  <a:tcPr anchor="ctr"/>
                </a:tc>
                <a:tc>
                  <a:txBody>
                    <a:bodyPr/>
                    <a:lstStyle/>
                    <a:p>
                      <a:endParaRPr kumimoji="1" lang="ja-JP" altLang="en-US" dirty="0"/>
                    </a:p>
                  </a:txBody>
                  <a:tcPr anchor="ctr"/>
                </a:tc>
                <a:extLst>
                  <a:ext uri="{0D108BD9-81ED-4DB2-BD59-A6C34878D82A}">
                    <a16:rowId xmlns:a16="http://schemas.microsoft.com/office/drawing/2014/main" val="3584037420"/>
                  </a:ext>
                </a:extLst>
              </a:tr>
            </a:tbl>
          </a:graphicData>
        </a:graphic>
      </p:graphicFrame>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latin typeface="宋体" panose="02010600030101010101" pitchFamily="2" charset="-122"/>
                <a:ea typeface="宋体" panose="02010600030101010101" pitchFamily="2" charset="-122"/>
              </a:rPr>
              <a:t>04</a:t>
            </a:r>
            <a:r>
              <a:rPr lang="ja-JP" altLang="en-US" sz="2600" dirty="0">
                <a:solidFill>
                  <a:schemeClr val="bg1"/>
                </a:solidFill>
                <a:latin typeface="宋体" panose="02010600030101010101" pitchFamily="2" charset="-122"/>
                <a:ea typeface="宋体" panose="02010600030101010101" pitchFamily="2" charset="-122"/>
              </a:rPr>
              <a:t>　</a:t>
            </a:r>
            <a:r>
              <a:rPr lang="zh-CN" altLang="en-US" sz="2600" dirty="0">
                <a:solidFill>
                  <a:schemeClr val="bg1"/>
                </a:solidFill>
                <a:latin typeface="+mj-ea"/>
              </a:rPr>
              <a:t>认知重建</a:t>
            </a:r>
            <a:r>
              <a:rPr lang="ja-JP" altLang="en-US" sz="2600" dirty="0">
                <a:solidFill>
                  <a:schemeClr val="bg1"/>
                </a:solidFill>
                <a:latin typeface="+mj-ea"/>
              </a:rPr>
              <a:t> </a:t>
            </a:r>
            <a:r>
              <a:rPr lang="ja-JP" altLang="en-US" sz="1625" dirty="0">
                <a:solidFill>
                  <a:schemeClr val="bg1"/>
                </a:solidFill>
                <a:latin typeface="+mj-ea"/>
              </a:rPr>
              <a:t>→</a:t>
            </a:r>
            <a:r>
              <a:rPr lang="zh-CN" altLang="en-US" sz="1625" dirty="0">
                <a:solidFill>
                  <a:schemeClr val="bg1"/>
                </a:solidFill>
                <a:latin typeface="+mj-ea"/>
              </a:rPr>
              <a:t>本书第</a:t>
            </a:r>
            <a:r>
              <a:rPr lang="en-US" altLang="zh-CN" sz="1625" dirty="0">
                <a:solidFill>
                  <a:schemeClr val="bg1"/>
                </a:solidFill>
                <a:latin typeface="+mj-ea"/>
              </a:rPr>
              <a:t>14</a:t>
            </a:r>
            <a:r>
              <a:rPr lang="zh-CN" altLang="en-US" sz="1625" dirty="0">
                <a:solidFill>
                  <a:schemeClr val="bg1"/>
                </a:solidFill>
                <a:latin typeface="+mj-ea"/>
              </a:rPr>
              <a:t>页</a:t>
            </a:r>
            <a:endParaRPr lang="ja-JP" altLang="en-US" sz="2600" dirty="0">
              <a:solidFill>
                <a:schemeClr val="bg1"/>
              </a:solidFill>
              <a:latin typeface="+mj-ea"/>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latin typeface="宋体" panose="02010600030101010101" pitchFamily="2" charset="-122"/>
                <a:ea typeface="宋体" panose="02010600030101010101" pitchFamily="2" charset="-122"/>
              </a:rPr>
              <a:t>把自己的劣势和商业上的问题等写在左侧的框架栏里，把转换为正面的内容写在右侧的认知重建后的框架里。</a:t>
            </a:r>
            <a:endParaRPr lang="en-US" altLang="ja-JP" sz="1138" dirty="0">
              <a:latin typeface="宋体" panose="02010600030101010101" pitchFamily="2" charset="-122"/>
              <a:ea typeface="宋体" panose="02010600030101010101" pitchFamily="2" charset="-122"/>
            </a:endParaRPr>
          </a:p>
        </p:txBody>
      </p:sp>
      <p:sp>
        <p:nvSpPr>
          <p:cNvPr id="14" name="三角形 13">
            <a:extLst>
              <a:ext uri="{FF2B5EF4-FFF2-40B4-BE49-F238E27FC236}">
                <a16:creationId xmlns:a16="http://schemas.microsoft.com/office/drawing/2014/main" id="{E9E7CDFC-80BD-0247-980B-DD260A5F6399}"/>
              </a:ext>
            </a:extLst>
          </p:cNvPr>
          <p:cNvSpPr/>
          <p:nvPr/>
        </p:nvSpPr>
        <p:spPr>
          <a:xfrm rot="5400000">
            <a:off x="4751795" y="1989674"/>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三角形 14">
            <a:extLst>
              <a:ext uri="{FF2B5EF4-FFF2-40B4-BE49-F238E27FC236}">
                <a16:creationId xmlns:a16="http://schemas.microsoft.com/office/drawing/2014/main" id="{063BEB48-7C14-3541-8882-9C2298E0D7D9}"/>
              </a:ext>
            </a:extLst>
          </p:cNvPr>
          <p:cNvSpPr/>
          <p:nvPr/>
        </p:nvSpPr>
        <p:spPr>
          <a:xfrm rot="5400000">
            <a:off x="4751795" y="271375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三角形 15">
            <a:extLst>
              <a:ext uri="{FF2B5EF4-FFF2-40B4-BE49-F238E27FC236}">
                <a16:creationId xmlns:a16="http://schemas.microsoft.com/office/drawing/2014/main" id="{4A7911D4-C5DE-B343-8362-EB6440D1C328}"/>
              </a:ext>
            </a:extLst>
          </p:cNvPr>
          <p:cNvSpPr/>
          <p:nvPr/>
        </p:nvSpPr>
        <p:spPr>
          <a:xfrm rot="5400000">
            <a:off x="4735700" y="3330794"/>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三角形 16">
            <a:extLst>
              <a:ext uri="{FF2B5EF4-FFF2-40B4-BE49-F238E27FC236}">
                <a16:creationId xmlns:a16="http://schemas.microsoft.com/office/drawing/2014/main" id="{523B87CB-672C-3249-BF47-9591B3BBB082}"/>
              </a:ext>
            </a:extLst>
          </p:cNvPr>
          <p:cNvSpPr/>
          <p:nvPr/>
        </p:nvSpPr>
        <p:spPr>
          <a:xfrm rot="5400000">
            <a:off x="4735700" y="405487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三角形 17">
            <a:extLst>
              <a:ext uri="{FF2B5EF4-FFF2-40B4-BE49-F238E27FC236}">
                <a16:creationId xmlns:a16="http://schemas.microsoft.com/office/drawing/2014/main" id="{44357276-8970-6645-8DB6-62A9C1E2472C}"/>
              </a:ext>
            </a:extLst>
          </p:cNvPr>
          <p:cNvSpPr/>
          <p:nvPr/>
        </p:nvSpPr>
        <p:spPr>
          <a:xfrm rot="5400000">
            <a:off x="4735700" y="4698946"/>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三角形 18">
            <a:extLst>
              <a:ext uri="{FF2B5EF4-FFF2-40B4-BE49-F238E27FC236}">
                <a16:creationId xmlns:a16="http://schemas.microsoft.com/office/drawing/2014/main" id="{0FDB0190-6B3D-644C-AE47-045BB2A97474}"/>
              </a:ext>
            </a:extLst>
          </p:cNvPr>
          <p:cNvSpPr/>
          <p:nvPr/>
        </p:nvSpPr>
        <p:spPr>
          <a:xfrm rot="5400000">
            <a:off x="4735700" y="538590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三角形 19">
            <a:extLst>
              <a:ext uri="{FF2B5EF4-FFF2-40B4-BE49-F238E27FC236}">
                <a16:creationId xmlns:a16="http://schemas.microsoft.com/office/drawing/2014/main" id="{4668DBDA-0995-0549-9945-A09EF8DF7197}"/>
              </a:ext>
            </a:extLst>
          </p:cNvPr>
          <p:cNvSpPr/>
          <p:nvPr/>
        </p:nvSpPr>
        <p:spPr>
          <a:xfrm rot="5400000">
            <a:off x="4735700" y="6061948"/>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06576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5">
            <a:extLst>
              <a:ext uri="{FF2B5EF4-FFF2-40B4-BE49-F238E27FC236}">
                <a16:creationId xmlns:a16="http://schemas.microsoft.com/office/drawing/2014/main" id="{90BE1218-1C0D-6945-8696-63EBEF6A30A2}"/>
              </a:ext>
            </a:extLst>
          </p:cNvPr>
          <p:cNvGraphicFramePr>
            <a:graphicFrameLocks noGrp="1"/>
          </p:cNvGraphicFramePr>
          <p:nvPr>
            <p:extLst>
              <p:ext uri="{D42A27DB-BD31-4B8C-83A1-F6EECF244321}">
                <p14:modId xmlns:p14="http://schemas.microsoft.com/office/powerpoint/2010/main" val="1016025125"/>
              </p:ext>
            </p:extLst>
          </p:nvPr>
        </p:nvGraphicFramePr>
        <p:xfrm>
          <a:off x="354052" y="1478280"/>
          <a:ext cx="9197894" cy="5021580"/>
        </p:xfrm>
        <a:graphic>
          <a:graphicData uri="http://schemas.openxmlformats.org/drawingml/2006/table">
            <a:tbl>
              <a:tblPr bandCol="1">
                <a:tableStyleId>{1FECB4D8-DB02-4DC6-A0A2-4F2EBAE1DC90}</a:tableStyleId>
              </a:tblPr>
              <a:tblGrid>
                <a:gridCol w="2213888">
                  <a:extLst>
                    <a:ext uri="{9D8B030D-6E8A-4147-A177-3AD203B41FA5}">
                      <a16:colId xmlns:a16="http://schemas.microsoft.com/office/drawing/2014/main" val="3811859029"/>
                    </a:ext>
                  </a:extLst>
                </a:gridCol>
                <a:gridCol w="6984006">
                  <a:extLst>
                    <a:ext uri="{9D8B030D-6E8A-4147-A177-3AD203B41FA5}">
                      <a16:colId xmlns:a16="http://schemas.microsoft.com/office/drawing/2014/main" val="186553042"/>
                    </a:ext>
                  </a:extLst>
                </a:gridCol>
              </a:tblGrid>
              <a:tr h="1255395">
                <a:tc>
                  <a:txBody>
                    <a:bodyPr/>
                    <a:lstStyle/>
                    <a:p>
                      <a:pPr algn="ctr"/>
                      <a:r>
                        <a:rPr kumimoji="1" lang="en-US" altLang="ja-JP" sz="1800" dirty="0"/>
                        <a:t>Point</a:t>
                      </a:r>
                    </a:p>
                    <a:p>
                      <a:pPr algn="ctr"/>
                      <a:r>
                        <a:rPr kumimoji="1" lang="zh-CN" altLang="en-US" sz="1800" dirty="0"/>
                        <a:t>结论</a:t>
                      </a:r>
                      <a:endParaRPr kumimoji="1" lang="en-US" altLang="ja-JP" sz="1800" dirty="0"/>
                    </a:p>
                    <a:p>
                      <a:pPr algn="ctr"/>
                      <a:r>
                        <a:rPr kumimoji="1" lang="ja-JP" altLang="en-US" sz="1600" dirty="0"/>
                        <a:t>（</a:t>
                      </a:r>
                      <a:r>
                        <a:rPr kumimoji="1" lang="zh-CN" altLang="en-US" sz="1600" dirty="0"/>
                        <a:t>观点、要点</a:t>
                      </a:r>
                      <a:r>
                        <a:rPr kumimoji="1" lang="ja-JP" altLang="en-US" sz="1600" dirty="0"/>
                        <a:t>）</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sz="1200"/>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131010327"/>
                  </a:ext>
                </a:extLst>
              </a:tr>
              <a:tr h="1255395">
                <a:tc>
                  <a:txBody>
                    <a:bodyPr/>
                    <a:lstStyle/>
                    <a:p>
                      <a:pPr algn="ctr"/>
                      <a:r>
                        <a:rPr kumimoji="1" lang="en-US" altLang="ja-JP" sz="1600" dirty="0"/>
                        <a:t>Reason</a:t>
                      </a:r>
                    </a:p>
                    <a:p>
                      <a:pPr algn="ctr"/>
                      <a:r>
                        <a:rPr kumimoji="1" lang="zh-CN" altLang="en-US" sz="1600" dirty="0"/>
                        <a:t>根据</a:t>
                      </a:r>
                      <a:endParaRPr kumimoji="1" lang="en-US" altLang="ja-JP" sz="1600" dirty="0"/>
                    </a:p>
                    <a:p>
                      <a:pPr algn="ctr"/>
                      <a:r>
                        <a:rPr kumimoji="1" lang="ja-JP" altLang="en-US" sz="1600" dirty="0"/>
                        <a:t>（</a:t>
                      </a:r>
                      <a:r>
                        <a:rPr kumimoji="1" lang="zh-CN" altLang="en-US" sz="1600" dirty="0"/>
                        <a:t>解释、思考</a:t>
                      </a:r>
                      <a:r>
                        <a:rPr kumimoji="1" lang="ja-JP" altLang="en-US" sz="1600" dirty="0"/>
                        <a:t>）</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sz="1200"/>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638721199"/>
                  </a:ext>
                </a:extLst>
              </a:tr>
              <a:tr h="1255395">
                <a:tc>
                  <a:txBody>
                    <a:bodyPr/>
                    <a:lstStyle/>
                    <a:p>
                      <a:pPr algn="ctr"/>
                      <a:r>
                        <a:rPr kumimoji="1" lang="en-US" altLang="ja-JP" sz="1600" dirty="0"/>
                        <a:t>Example</a:t>
                      </a:r>
                    </a:p>
                    <a:p>
                      <a:pPr algn="ctr"/>
                      <a:r>
                        <a:rPr kumimoji="1" lang="ja-JP" altLang="en-US" sz="1600" dirty="0"/>
                        <a:t>事例</a:t>
                      </a:r>
                      <a:endParaRPr kumimoji="1" lang="en-US" altLang="ja-JP" sz="1600" dirty="0"/>
                    </a:p>
                    <a:p>
                      <a:pPr algn="ctr"/>
                      <a:r>
                        <a:rPr kumimoji="1" lang="ja-JP" altLang="en-US" sz="1600" dirty="0"/>
                        <a:t>（</a:t>
                      </a:r>
                      <a:r>
                        <a:rPr kumimoji="1" lang="zh-CN" altLang="en-US" sz="1600" dirty="0"/>
                        <a:t>事实</a:t>
                      </a:r>
                      <a:r>
                        <a:rPr kumimoji="1" lang="ja-JP" altLang="en-US" sz="1600" dirty="0"/>
                        <a:t>）</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sz="1200"/>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704664164"/>
                  </a:ext>
                </a:extLst>
              </a:tr>
              <a:tr h="1255395">
                <a:tc>
                  <a:txBody>
                    <a:bodyPr/>
                    <a:lstStyle/>
                    <a:p>
                      <a:pPr algn="ctr"/>
                      <a:r>
                        <a:rPr kumimoji="1" lang="en-US" altLang="ja-JP" sz="1600" dirty="0"/>
                        <a:t>Point</a:t>
                      </a:r>
                    </a:p>
                    <a:p>
                      <a:pPr algn="ctr"/>
                      <a:r>
                        <a:rPr kumimoji="1" lang="zh-CN" altLang="en-US" sz="1600" dirty="0"/>
                        <a:t>结论</a:t>
                      </a:r>
                      <a:endParaRPr kumimoji="1" lang="en-US" altLang="ja-JP" sz="1600" dirty="0"/>
                    </a:p>
                    <a:p>
                      <a:pPr algn="ctr"/>
                      <a:r>
                        <a:rPr kumimoji="1" lang="ja-JP" altLang="en-US" sz="1600" dirty="0"/>
                        <a:t>（</a:t>
                      </a:r>
                      <a:r>
                        <a:rPr kumimoji="1" lang="zh-CN" altLang="en-US" sz="1600" dirty="0"/>
                        <a:t>再次陈述结论</a:t>
                      </a:r>
                      <a:r>
                        <a:rPr kumimoji="1" lang="ja-JP" altLang="en-US" sz="1600" dirty="0"/>
                        <a:t>）</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endParaRPr kumimoji="1" lang="ja-JP" altLang="en-US" sz="1200" dirty="0"/>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736918435"/>
                  </a:ext>
                </a:extLst>
              </a:tr>
            </a:tbl>
          </a:graphicData>
        </a:graphic>
      </p:graphicFrame>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05</a:t>
            </a:r>
            <a:r>
              <a:rPr lang="ja-JP" altLang="en-US" sz="2600" dirty="0">
                <a:solidFill>
                  <a:schemeClr val="bg1"/>
                </a:solidFill>
              </a:rPr>
              <a:t>　ＰＲＥＰ法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latin typeface="宋体" panose="02010600030101010101" pitchFamily="2" charset="-122"/>
                <a:ea typeface="宋体" panose="02010600030101010101" pitchFamily="2" charset="-122"/>
              </a:rPr>
              <a:t>把想要表达的内容按照结论、根据、事例、总结的顺序写下来。</a:t>
            </a:r>
            <a:endParaRPr lang="en-US" altLang="ja-JP" sz="1138" dirty="0">
              <a:latin typeface="宋体" panose="02010600030101010101" pitchFamily="2" charset="-122"/>
              <a:ea typeface="宋体" panose="02010600030101010101" pitchFamily="2" charset="-122"/>
            </a:endParaRPr>
          </a:p>
        </p:txBody>
      </p:sp>
      <p:sp>
        <p:nvSpPr>
          <p:cNvPr id="6" name="テキスト ボックス 5">
            <a:extLst>
              <a:ext uri="{FF2B5EF4-FFF2-40B4-BE49-F238E27FC236}">
                <a16:creationId xmlns:a16="http://schemas.microsoft.com/office/drawing/2014/main" id="{AC235567-534F-974E-AD9B-98057CF616CE}"/>
              </a:ext>
            </a:extLst>
          </p:cNvPr>
          <p:cNvSpPr txBox="1"/>
          <p:nvPr/>
        </p:nvSpPr>
        <p:spPr>
          <a:xfrm>
            <a:off x="3129423" y="1108948"/>
            <a:ext cx="3416320" cy="369332"/>
          </a:xfrm>
          <a:prstGeom prst="rect">
            <a:avLst/>
          </a:prstGeom>
          <a:noFill/>
        </p:spPr>
        <p:txBody>
          <a:bodyPr wrap="none" rtlCol="0">
            <a:spAutoFit/>
          </a:bodyPr>
          <a:lstStyle/>
          <a:p>
            <a:r>
              <a:rPr kumimoji="1" lang="zh-CN" altLang="en-US" dirty="0"/>
              <a:t>主题</a:t>
            </a:r>
            <a:r>
              <a:rPr kumimoji="1" lang="en-US" altLang="ja-JP" dirty="0"/>
              <a:t>【</a:t>
            </a:r>
            <a:r>
              <a:rPr kumimoji="1" lang="ja-JP" altLang="en-US" dirty="0"/>
              <a:t>　　　　　　　　　　</a:t>
            </a:r>
            <a:r>
              <a:rPr kumimoji="1" lang="en-US" altLang="ja-JP" dirty="0"/>
              <a:t>】</a:t>
            </a:r>
            <a:endParaRPr kumimoji="1" lang="ja-JP" altLang="en-US" dirty="0"/>
          </a:p>
        </p:txBody>
      </p:sp>
    </p:spTree>
    <p:extLst>
      <p:ext uri="{BB962C8B-B14F-4D97-AF65-F5344CB8AC3E}">
        <p14:creationId xmlns:p14="http://schemas.microsoft.com/office/powerpoint/2010/main" val="1016795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06</a:t>
            </a:r>
            <a:r>
              <a:rPr lang="ja-JP" altLang="en-US" sz="2600" dirty="0">
                <a:solidFill>
                  <a:schemeClr val="bg1"/>
                </a:solidFill>
              </a:rPr>
              <a:t>　</a:t>
            </a:r>
            <a:r>
              <a:rPr lang="zh-CN" altLang="en-US" sz="2600" dirty="0">
                <a:solidFill>
                  <a:schemeClr val="bg1"/>
                </a:solidFill>
              </a:rPr>
              <a:t>归纳法与演绎法</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22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从归纳法和演绎法之中选出最合适的方法。</a:t>
            </a:r>
            <a:endParaRPr lang="en-US" altLang="ja-JP" sz="1138" dirty="0"/>
          </a:p>
        </p:txBody>
      </p:sp>
      <p:sp>
        <p:nvSpPr>
          <p:cNvPr id="6" name="角丸四角形 5">
            <a:extLst>
              <a:ext uri="{FF2B5EF4-FFF2-40B4-BE49-F238E27FC236}">
                <a16:creationId xmlns:a16="http://schemas.microsoft.com/office/drawing/2014/main" id="{4662D6C5-49E6-5747-B971-FF91D3ADA37A}"/>
              </a:ext>
            </a:extLst>
          </p:cNvPr>
          <p:cNvSpPr/>
          <p:nvPr/>
        </p:nvSpPr>
        <p:spPr>
          <a:xfrm>
            <a:off x="354051" y="5631180"/>
            <a:ext cx="4278897" cy="863762"/>
          </a:xfrm>
          <a:prstGeom prst="roundRect">
            <a:avLst/>
          </a:prstGeom>
          <a:solidFill>
            <a:schemeClr val="bg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7" name="角丸四角形 6">
            <a:extLst>
              <a:ext uri="{FF2B5EF4-FFF2-40B4-BE49-F238E27FC236}">
                <a16:creationId xmlns:a16="http://schemas.microsoft.com/office/drawing/2014/main" id="{1926345F-4004-6249-B693-937C5B25EC23}"/>
              </a:ext>
            </a:extLst>
          </p:cNvPr>
          <p:cNvSpPr/>
          <p:nvPr/>
        </p:nvSpPr>
        <p:spPr>
          <a:xfrm>
            <a:off x="354052" y="1627248"/>
            <a:ext cx="872768" cy="1992251"/>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200">
              <a:solidFill>
                <a:schemeClr val="tx1"/>
              </a:solidFill>
            </a:endParaRPr>
          </a:p>
        </p:txBody>
      </p:sp>
      <p:sp>
        <p:nvSpPr>
          <p:cNvPr id="9" name="角丸四角形 8">
            <a:extLst>
              <a:ext uri="{FF2B5EF4-FFF2-40B4-BE49-F238E27FC236}">
                <a16:creationId xmlns:a16="http://schemas.microsoft.com/office/drawing/2014/main" id="{F32795AF-6C35-1249-9081-B4EB62EB734E}"/>
              </a:ext>
            </a:extLst>
          </p:cNvPr>
          <p:cNvSpPr/>
          <p:nvPr/>
        </p:nvSpPr>
        <p:spPr>
          <a:xfrm>
            <a:off x="1489433" y="1622329"/>
            <a:ext cx="872768" cy="1992251"/>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200">
              <a:solidFill>
                <a:schemeClr val="tx1"/>
              </a:solidFill>
            </a:endParaRPr>
          </a:p>
        </p:txBody>
      </p:sp>
      <p:sp>
        <p:nvSpPr>
          <p:cNvPr id="10" name="角丸四角形 9">
            <a:extLst>
              <a:ext uri="{FF2B5EF4-FFF2-40B4-BE49-F238E27FC236}">
                <a16:creationId xmlns:a16="http://schemas.microsoft.com/office/drawing/2014/main" id="{32963885-CD7B-6C44-B2B6-20B02F1357F9}"/>
              </a:ext>
            </a:extLst>
          </p:cNvPr>
          <p:cNvSpPr/>
          <p:nvPr/>
        </p:nvSpPr>
        <p:spPr>
          <a:xfrm>
            <a:off x="3760195" y="1622329"/>
            <a:ext cx="872768" cy="1992251"/>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200">
              <a:solidFill>
                <a:schemeClr val="tx1"/>
              </a:solidFill>
            </a:endParaRPr>
          </a:p>
        </p:txBody>
      </p:sp>
      <p:sp>
        <p:nvSpPr>
          <p:cNvPr id="11" name="テキスト ボックス 10">
            <a:extLst>
              <a:ext uri="{FF2B5EF4-FFF2-40B4-BE49-F238E27FC236}">
                <a16:creationId xmlns:a16="http://schemas.microsoft.com/office/drawing/2014/main" id="{F4C30396-F854-0B40-AA8D-CA54C8EBD961}"/>
              </a:ext>
            </a:extLst>
          </p:cNvPr>
          <p:cNvSpPr txBox="1"/>
          <p:nvPr/>
        </p:nvSpPr>
        <p:spPr>
          <a:xfrm>
            <a:off x="2054917" y="1066800"/>
            <a:ext cx="877163" cy="369332"/>
          </a:xfrm>
          <a:prstGeom prst="rect">
            <a:avLst/>
          </a:prstGeom>
          <a:noFill/>
        </p:spPr>
        <p:txBody>
          <a:bodyPr wrap="none" rtlCol="0">
            <a:spAutoFit/>
          </a:bodyPr>
          <a:lstStyle/>
          <a:p>
            <a:r>
              <a:rPr kumimoji="1" lang="zh-CN" altLang="en-US" dirty="0"/>
              <a:t>归纳法</a:t>
            </a:r>
            <a:endParaRPr kumimoji="1" lang="ja-JP" altLang="en-US" dirty="0"/>
          </a:p>
        </p:txBody>
      </p:sp>
      <p:sp>
        <p:nvSpPr>
          <p:cNvPr id="12" name="角丸四角形 11">
            <a:extLst>
              <a:ext uri="{FF2B5EF4-FFF2-40B4-BE49-F238E27FC236}">
                <a16:creationId xmlns:a16="http://schemas.microsoft.com/office/drawing/2014/main" id="{F2B21917-E117-5B4D-9B3F-A06599F77F8B}"/>
              </a:ext>
            </a:extLst>
          </p:cNvPr>
          <p:cNvSpPr/>
          <p:nvPr/>
        </p:nvSpPr>
        <p:spPr>
          <a:xfrm>
            <a:off x="354051" y="4366989"/>
            <a:ext cx="4278901" cy="863762"/>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cxnSp>
        <p:nvCxnSpPr>
          <p:cNvPr id="14" name="カギ線コネクタ 13">
            <a:extLst>
              <a:ext uri="{FF2B5EF4-FFF2-40B4-BE49-F238E27FC236}">
                <a16:creationId xmlns:a16="http://schemas.microsoft.com/office/drawing/2014/main" id="{B561C86D-6DB5-0A47-B18D-E17A735DA1A1}"/>
              </a:ext>
            </a:extLst>
          </p:cNvPr>
          <p:cNvCxnSpPr>
            <a:cxnSpLocks/>
            <a:stCxn id="10" idx="2"/>
            <a:endCxn id="12" idx="0"/>
          </p:cNvCxnSpPr>
          <p:nvPr/>
        </p:nvCxnSpPr>
        <p:spPr>
          <a:xfrm rot="5400000">
            <a:off x="2968837" y="3139246"/>
            <a:ext cx="752409" cy="1703077"/>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カギ線コネクタ 14">
            <a:extLst>
              <a:ext uri="{FF2B5EF4-FFF2-40B4-BE49-F238E27FC236}">
                <a16:creationId xmlns:a16="http://schemas.microsoft.com/office/drawing/2014/main" id="{5FE971E0-3CF0-9A4B-A118-278A99A16594}"/>
              </a:ext>
            </a:extLst>
          </p:cNvPr>
          <p:cNvCxnSpPr>
            <a:cxnSpLocks/>
            <a:stCxn id="7" idx="2"/>
            <a:endCxn id="12" idx="0"/>
          </p:cNvCxnSpPr>
          <p:nvPr/>
        </p:nvCxnSpPr>
        <p:spPr>
          <a:xfrm rot="16200000" flipH="1">
            <a:off x="1268224" y="3141711"/>
            <a:ext cx="747490" cy="1703066"/>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カギ線コネクタ 17">
            <a:extLst>
              <a:ext uri="{FF2B5EF4-FFF2-40B4-BE49-F238E27FC236}">
                <a16:creationId xmlns:a16="http://schemas.microsoft.com/office/drawing/2014/main" id="{C5EA68AB-DC44-4A42-93FD-E14E224A9E76}"/>
              </a:ext>
            </a:extLst>
          </p:cNvPr>
          <p:cNvCxnSpPr>
            <a:cxnSpLocks/>
            <a:stCxn id="9" idx="2"/>
            <a:endCxn id="12" idx="0"/>
          </p:cNvCxnSpPr>
          <p:nvPr/>
        </p:nvCxnSpPr>
        <p:spPr>
          <a:xfrm rot="16200000" flipH="1">
            <a:off x="1833455" y="3706941"/>
            <a:ext cx="752409" cy="567685"/>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8D662D75-70C2-FD43-9FB6-1359CBF7BA0F}"/>
              </a:ext>
            </a:extLst>
          </p:cNvPr>
          <p:cNvCxnSpPr>
            <a:cxnSpLocks/>
            <a:stCxn id="12" idx="2"/>
            <a:endCxn id="6" idx="0"/>
          </p:cNvCxnSpPr>
          <p:nvPr/>
        </p:nvCxnSpPr>
        <p:spPr>
          <a:xfrm flipH="1">
            <a:off x="2493500" y="5230751"/>
            <a:ext cx="2" cy="4004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角丸四角形 33">
            <a:extLst>
              <a:ext uri="{FF2B5EF4-FFF2-40B4-BE49-F238E27FC236}">
                <a16:creationId xmlns:a16="http://schemas.microsoft.com/office/drawing/2014/main" id="{E467E038-1CAA-F843-94EB-2F8F9D5FBA07}"/>
              </a:ext>
            </a:extLst>
          </p:cNvPr>
          <p:cNvSpPr/>
          <p:nvPr/>
        </p:nvSpPr>
        <p:spPr>
          <a:xfrm>
            <a:off x="2624814" y="1622329"/>
            <a:ext cx="872768" cy="1992251"/>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pPr algn="ctr"/>
            <a:endParaRPr lang="ja-JP" altLang="en-US" sz="1200">
              <a:solidFill>
                <a:schemeClr val="tx1"/>
              </a:solidFill>
            </a:endParaRPr>
          </a:p>
        </p:txBody>
      </p:sp>
      <p:cxnSp>
        <p:nvCxnSpPr>
          <p:cNvPr id="41" name="カギ線コネクタ 40">
            <a:extLst>
              <a:ext uri="{FF2B5EF4-FFF2-40B4-BE49-F238E27FC236}">
                <a16:creationId xmlns:a16="http://schemas.microsoft.com/office/drawing/2014/main" id="{BC53D3A4-2B92-5644-9A96-FCB903AD3DCB}"/>
              </a:ext>
            </a:extLst>
          </p:cNvPr>
          <p:cNvCxnSpPr>
            <a:cxnSpLocks/>
            <a:stCxn id="34" idx="2"/>
            <a:endCxn id="12" idx="0"/>
          </p:cNvCxnSpPr>
          <p:nvPr/>
        </p:nvCxnSpPr>
        <p:spPr>
          <a:xfrm rot="5400000">
            <a:off x="2401146" y="3706936"/>
            <a:ext cx="752409" cy="567696"/>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C51FF273-4856-F14C-BBFF-6B5290D3F0BA}"/>
              </a:ext>
            </a:extLst>
          </p:cNvPr>
          <p:cNvSpPr txBox="1"/>
          <p:nvPr/>
        </p:nvSpPr>
        <p:spPr>
          <a:xfrm>
            <a:off x="364897" y="1373971"/>
            <a:ext cx="1107996" cy="276999"/>
          </a:xfrm>
          <a:prstGeom prst="rect">
            <a:avLst/>
          </a:prstGeom>
          <a:noFill/>
        </p:spPr>
        <p:txBody>
          <a:bodyPr wrap="none" rtlCol="0">
            <a:spAutoFit/>
          </a:bodyPr>
          <a:lstStyle/>
          <a:p>
            <a:r>
              <a:rPr kumimoji="1" lang="zh-CN" altLang="en-US" sz="1200" dirty="0"/>
              <a:t>事情和现象</a:t>
            </a:r>
            <a:r>
              <a:rPr kumimoji="1" lang="ja-JP" altLang="en-US" sz="1200" dirty="0"/>
              <a:t>１</a:t>
            </a:r>
          </a:p>
        </p:txBody>
      </p:sp>
      <p:sp>
        <p:nvSpPr>
          <p:cNvPr id="45" name="テキスト ボックス 44">
            <a:extLst>
              <a:ext uri="{FF2B5EF4-FFF2-40B4-BE49-F238E27FC236}">
                <a16:creationId xmlns:a16="http://schemas.microsoft.com/office/drawing/2014/main" id="{B5B26BAF-15E5-BA4B-8843-EA83D982E986}"/>
              </a:ext>
            </a:extLst>
          </p:cNvPr>
          <p:cNvSpPr txBox="1"/>
          <p:nvPr/>
        </p:nvSpPr>
        <p:spPr>
          <a:xfrm>
            <a:off x="1484332" y="1373971"/>
            <a:ext cx="1107996" cy="276999"/>
          </a:xfrm>
          <a:prstGeom prst="rect">
            <a:avLst/>
          </a:prstGeom>
          <a:noFill/>
        </p:spPr>
        <p:txBody>
          <a:bodyPr wrap="none" rtlCol="0">
            <a:spAutoFit/>
          </a:bodyPr>
          <a:lstStyle/>
          <a:p>
            <a:r>
              <a:rPr kumimoji="1" lang="zh-CN" altLang="en-US" sz="1200" dirty="0"/>
              <a:t>事情和现象</a:t>
            </a:r>
            <a:r>
              <a:rPr kumimoji="1" lang="ja-JP" altLang="en-US" sz="1200" dirty="0"/>
              <a:t>２</a:t>
            </a:r>
          </a:p>
        </p:txBody>
      </p:sp>
      <p:sp>
        <p:nvSpPr>
          <p:cNvPr id="46" name="テキスト ボックス 45">
            <a:extLst>
              <a:ext uri="{FF2B5EF4-FFF2-40B4-BE49-F238E27FC236}">
                <a16:creationId xmlns:a16="http://schemas.microsoft.com/office/drawing/2014/main" id="{7D54E95D-4FD1-9545-910D-12D5316A7C03}"/>
              </a:ext>
            </a:extLst>
          </p:cNvPr>
          <p:cNvSpPr txBox="1"/>
          <p:nvPr/>
        </p:nvSpPr>
        <p:spPr>
          <a:xfrm>
            <a:off x="2619885" y="1359347"/>
            <a:ext cx="1107996" cy="276999"/>
          </a:xfrm>
          <a:prstGeom prst="rect">
            <a:avLst/>
          </a:prstGeom>
          <a:noFill/>
        </p:spPr>
        <p:txBody>
          <a:bodyPr wrap="none" rtlCol="0">
            <a:spAutoFit/>
          </a:bodyPr>
          <a:lstStyle/>
          <a:p>
            <a:r>
              <a:rPr kumimoji="1" lang="zh-CN" altLang="en-US" sz="1200" dirty="0"/>
              <a:t>事情和现象</a:t>
            </a:r>
            <a:r>
              <a:rPr kumimoji="1" lang="ja-JP" altLang="en-US" sz="1200" dirty="0"/>
              <a:t>３</a:t>
            </a:r>
          </a:p>
        </p:txBody>
      </p:sp>
      <p:sp>
        <p:nvSpPr>
          <p:cNvPr id="47" name="テキスト ボックス 46">
            <a:extLst>
              <a:ext uri="{FF2B5EF4-FFF2-40B4-BE49-F238E27FC236}">
                <a16:creationId xmlns:a16="http://schemas.microsoft.com/office/drawing/2014/main" id="{6A656B0E-FE86-2543-860E-A5A06A22FC0E}"/>
              </a:ext>
            </a:extLst>
          </p:cNvPr>
          <p:cNvSpPr txBox="1"/>
          <p:nvPr/>
        </p:nvSpPr>
        <p:spPr>
          <a:xfrm>
            <a:off x="3755438" y="1373971"/>
            <a:ext cx="1107996" cy="276999"/>
          </a:xfrm>
          <a:prstGeom prst="rect">
            <a:avLst/>
          </a:prstGeom>
          <a:noFill/>
        </p:spPr>
        <p:txBody>
          <a:bodyPr wrap="none" rtlCol="0">
            <a:spAutoFit/>
          </a:bodyPr>
          <a:lstStyle/>
          <a:p>
            <a:r>
              <a:rPr kumimoji="1" lang="zh-CN" altLang="en-US" sz="1200" dirty="0"/>
              <a:t>事情和现象</a:t>
            </a:r>
            <a:r>
              <a:rPr kumimoji="1" lang="ja-JP" altLang="en-US" sz="1200" dirty="0"/>
              <a:t>４</a:t>
            </a:r>
          </a:p>
        </p:txBody>
      </p:sp>
      <p:sp>
        <p:nvSpPr>
          <p:cNvPr id="48" name="角丸四角形 47">
            <a:extLst>
              <a:ext uri="{FF2B5EF4-FFF2-40B4-BE49-F238E27FC236}">
                <a16:creationId xmlns:a16="http://schemas.microsoft.com/office/drawing/2014/main" id="{69878222-CB70-2443-B348-C1F5A0D4C860}"/>
              </a:ext>
            </a:extLst>
          </p:cNvPr>
          <p:cNvSpPr/>
          <p:nvPr/>
        </p:nvSpPr>
        <p:spPr>
          <a:xfrm>
            <a:off x="5276573" y="1622329"/>
            <a:ext cx="4278901" cy="863762"/>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49" name="角丸四角形 48">
            <a:extLst>
              <a:ext uri="{FF2B5EF4-FFF2-40B4-BE49-F238E27FC236}">
                <a16:creationId xmlns:a16="http://schemas.microsoft.com/office/drawing/2014/main" id="{3B0136A1-EDB2-9141-A3DC-AECC90AF603A}"/>
              </a:ext>
            </a:extLst>
          </p:cNvPr>
          <p:cNvSpPr/>
          <p:nvPr/>
        </p:nvSpPr>
        <p:spPr>
          <a:xfrm>
            <a:off x="5273038" y="5631180"/>
            <a:ext cx="4278901" cy="863762"/>
          </a:xfrm>
          <a:prstGeom prst="roundRect">
            <a:avLst/>
          </a:prstGeom>
          <a:solidFill>
            <a:schemeClr val="bg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50" name="角丸四角形 49">
            <a:extLst>
              <a:ext uri="{FF2B5EF4-FFF2-40B4-BE49-F238E27FC236}">
                <a16:creationId xmlns:a16="http://schemas.microsoft.com/office/drawing/2014/main" id="{9C075C35-2F23-4447-90F8-AB8210DFE33A}"/>
              </a:ext>
            </a:extLst>
          </p:cNvPr>
          <p:cNvSpPr/>
          <p:nvPr/>
        </p:nvSpPr>
        <p:spPr>
          <a:xfrm>
            <a:off x="5273037" y="3629213"/>
            <a:ext cx="4278901" cy="863762"/>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cxnSp>
        <p:nvCxnSpPr>
          <p:cNvPr id="52" name="直線コネクタ 51">
            <a:extLst>
              <a:ext uri="{FF2B5EF4-FFF2-40B4-BE49-F238E27FC236}">
                <a16:creationId xmlns:a16="http://schemas.microsoft.com/office/drawing/2014/main" id="{13DE2615-0C3C-564E-A86C-0A154F2E3C54}"/>
              </a:ext>
            </a:extLst>
          </p:cNvPr>
          <p:cNvCxnSpPr>
            <a:stCxn id="48" idx="2"/>
            <a:endCxn id="50" idx="0"/>
          </p:cNvCxnSpPr>
          <p:nvPr/>
        </p:nvCxnSpPr>
        <p:spPr>
          <a:xfrm flipH="1">
            <a:off x="7412488" y="2486091"/>
            <a:ext cx="3536" cy="114312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C5081B89-C67D-6246-85B2-7135DCD9CC33}"/>
              </a:ext>
            </a:extLst>
          </p:cNvPr>
          <p:cNvCxnSpPr>
            <a:cxnSpLocks/>
            <a:stCxn id="50" idx="2"/>
            <a:endCxn id="49" idx="0"/>
          </p:cNvCxnSpPr>
          <p:nvPr/>
        </p:nvCxnSpPr>
        <p:spPr>
          <a:xfrm>
            <a:off x="7412488" y="4492975"/>
            <a:ext cx="1" cy="11382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1FB96EE-8C64-CE42-862F-4885E3E95295}"/>
              </a:ext>
            </a:extLst>
          </p:cNvPr>
          <p:cNvSpPr txBox="1"/>
          <p:nvPr/>
        </p:nvSpPr>
        <p:spPr>
          <a:xfrm>
            <a:off x="6981849" y="1077120"/>
            <a:ext cx="877163" cy="369332"/>
          </a:xfrm>
          <a:prstGeom prst="rect">
            <a:avLst/>
          </a:prstGeom>
          <a:noFill/>
        </p:spPr>
        <p:txBody>
          <a:bodyPr wrap="none" rtlCol="0">
            <a:spAutoFit/>
          </a:bodyPr>
          <a:lstStyle/>
          <a:p>
            <a:r>
              <a:rPr kumimoji="1" lang="zh-CN" altLang="en-US" dirty="0"/>
              <a:t>演绎法</a:t>
            </a:r>
            <a:endParaRPr kumimoji="1" lang="ja-JP" altLang="en-US" dirty="0"/>
          </a:p>
        </p:txBody>
      </p:sp>
      <p:sp>
        <p:nvSpPr>
          <p:cNvPr id="57" name="テキスト ボックス 56">
            <a:extLst>
              <a:ext uri="{FF2B5EF4-FFF2-40B4-BE49-F238E27FC236}">
                <a16:creationId xmlns:a16="http://schemas.microsoft.com/office/drawing/2014/main" id="{0C0228DD-75A8-E44E-89C1-8841ADC720B1}"/>
              </a:ext>
            </a:extLst>
          </p:cNvPr>
          <p:cNvSpPr txBox="1"/>
          <p:nvPr/>
        </p:nvSpPr>
        <p:spPr>
          <a:xfrm>
            <a:off x="354050" y="4115554"/>
            <a:ext cx="646331" cy="276999"/>
          </a:xfrm>
          <a:prstGeom prst="rect">
            <a:avLst/>
          </a:prstGeom>
          <a:noFill/>
        </p:spPr>
        <p:txBody>
          <a:bodyPr wrap="none" rtlCol="0">
            <a:spAutoFit/>
          </a:bodyPr>
          <a:lstStyle/>
          <a:p>
            <a:r>
              <a:rPr kumimoji="1" lang="ja-JP" altLang="en-US" sz="1200" dirty="0"/>
              <a:t>共</a:t>
            </a:r>
            <a:r>
              <a:rPr kumimoji="1" lang="zh-CN" altLang="en-US" sz="1200" dirty="0"/>
              <a:t>同</a:t>
            </a:r>
            <a:r>
              <a:rPr kumimoji="1" lang="ja-JP" altLang="en-US" sz="1200" dirty="0"/>
              <a:t>点</a:t>
            </a:r>
          </a:p>
        </p:txBody>
      </p:sp>
      <p:sp>
        <p:nvSpPr>
          <p:cNvPr id="58" name="テキスト ボックス 57">
            <a:extLst>
              <a:ext uri="{FF2B5EF4-FFF2-40B4-BE49-F238E27FC236}">
                <a16:creationId xmlns:a16="http://schemas.microsoft.com/office/drawing/2014/main" id="{D1EF39AA-6831-2040-8C13-CDCB12ECFFEB}"/>
              </a:ext>
            </a:extLst>
          </p:cNvPr>
          <p:cNvSpPr txBox="1"/>
          <p:nvPr/>
        </p:nvSpPr>
        <p:spPr>
          <a:xfrm>
            <a:off x="357577" y="5349263"/>
            <a:ext cx="492443" cy="276999"/>
          </a:xfrm>
          <a:prstGeom prst="rect">
            <a:avLst/>
          </a:prstGeom>
          <a:noFill/>
        </p:spPr>
        <p:txBody>
          <a:bodyPr wrap="none" rtlCol="0">
            <a:spAutoFit/>
          </a:bodyPr>
          <a:lstStyle/>
          <a:p>
            <a:r>
              <a:rPr kumimoji="1" lang="zh-CN" altLang="en-US" sz="1200" dirty="0"/>
              <a:t>结论</a:t>
            </a:r>
            <a:endParaRPr kumimoji="1" lang="ja-JP" altLang="en-US" sz="1200" dirty="0"/>
          </a:p>
        </p:txBody>
      </p:sp>
      <p:sp>
        <p:nvSpPr>
          <p:cNvPr id="59" name="テキスト ボックス 58">
            <a:extLst>
              <a:ext uri="{FF2B5EF4-FFF2-40B4-BE49-F238E27FC236}">
                <a16:creationId xmlns:a16="http://schemas.microsoft.com/office/drawing/2014/main" id="{63D1F255-737C-AD43-8B49-36723D05596E}"/>
              </a:ext>
            </a:extLst>
          </p:cNvPr>
          <p:cNvSpPr txBox="1"/>
          <p:nvPr/>
        </p:nvSpPr>
        <p:spPr>
          <a:xfrm>
            <a:off x="5273037" y="1340412"/>
            <a:ext cx="954107" cy="276999"/>
          </a:xfrm>
          <a:prstGeom prst="rect">
            <a:avLst/>
          </a:prstGeom>
          <a:noFill/>
        </p:spPr>
        <p:txBody>
          <a:bodyPr wrap="none" rtlCol="0">
            <a:spAutoFit/>
          </a:bodyPr>
          <a:lstStyle/>
          <a:p>
            <a:r>
              <a:rPr kumimoji="1" lang="zh-CN" altLang="en-US" sz="1200" dirty="0"/>
              <a:t>普遍的规律</a:t>
            </a:r>
            <a:endParaRPr kumimoji="1" lang="ja-JP" altLang="en-US" sz="1200" dirty="0"/>
          </a:p>
        </p:txBody>
      </p:sp>
      <p:sp>
        <p:nvSpPr>
          <p:cNvPr id="60" name="テキスト ボックス 59">
            <a:extLst>
              <a:ext uri="{FF2B5EF4-FFF2-40B4-BE49-F238E27FC236}">
                <a16:creationId xmlns:a16="http://schemas.microsoft.com/office/drawing/2014/main" id="{8009D707-B418-EB45-A24C-708B9ADD9619}"/>
              </a:ext>
            </a:extLst>
          </p:cNvPr>
          <p:cNvSpPr txBox="1"/>
          <p:nvPr/>
        </p:nvSpPr>
        <p:spPr>
          <a:xfrm>
            <a:off x="5276565" y="3363960"/>
            <a:ext cx="954107" cy="276999"/>
          </a:xfrm>
          <a:prstGeom prst="rect">
            <a:avLst/>
          </a:prstGeom>
          <a:noFill/>
        </p:spPr>
        <p:txBody>
          <a:bodyPr wrap="none" rtlCol="0">
            <a:spAutoFit/>
          </a:bodyPr>
          <a:lstStyle/>
          <a:p>
            <a:r>
              <a:rPr kumimoji="1" lang="zh-CN" altLang="en-US" sz="1200" dirty="0"/>
              <a:t>事情和现象</a:t>
            </a:r>
            <a:endParaRPr kumimoji="1" lang="ja-JP" altLang="en-US" sz="1200" dirty="0"/>
          </a:p>
        </p:txBody>
      </p:sp>
      <p:sp>
        <p:nvSpPr>
          <p:cNvPr id="61" name="テキスト ボックス 60">
            <a:extLst>
              <a:ext uri="{FF2B5EF4-FFF2-40B4-BE49-F238E27FC236}">
                <a16:creationId xmlns:a16="http://schemas.microsoft.com/office/drawing/2014/main" id="{ADB49166-7408-974B-91ED-F738A351B0EF}"/>
              </a:ext>
            </a:extLst>
          </p:cNvPr>
          <p:cNvSpPr txBox="1"/>
          <p:nvPr/>
        </p:nvSpPr>
        <p:spPr>
          <a:xfrm>
            <a:off x="5276565" y="5355177"/>
            <a:ext cx="492443" cy="276999"/>
          </a:xfrm>
          <a:prstGeom prst="rect">
            <a:avLst/>
          </a:prstGeom>
          <a:noFill/>
        </p:spPr>
        <p:txBody>
          <a:bodyPr wrap="none" rtlCol="0">
            <a:spAutoFit/>
          </a:bodyPr>
          <a:lstStyle/>
          <a:p>
            <a:r>
              <a:rPr kumimoji="1" lang="zh-CN" altLang="en-US" sz="1200" dirty="0"/>
              <a:t>结论</a:t>
            </a:r>
            <a:endParaRPr kumimoji="1" lang="ja-JP" altLang="en-US" sz="1200" dirty="0"/>
          </a:p>
        </p:txBody>
      </p:sp>
    </p:spTree>
    <p:extLst>
      <p:ext uri="{BB962C8B-B14F-4D97-AF65-F5344CB8AC3E}">
        <p14:creationId xmlns:p14="http://schemas.microsoft.com/office/powerpoint/2010/main" val="4133603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07</a:t>
            </a:r>
            <a:r>
              <a:rPr lang="zh-CN" altLang="en-US" sz="2000" dirty="0">
                <a:solidFill>
                  <a:schemeClr val="bg1"/>
                </a:solidFill>
              </a:rPr>
              <a:t>书面头脑风暴法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28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打印表格发给</a:t>
            </a:r>
            <a:r>
              <a:rPr lang="en-US" altLang="zh-CN" sz="1138" dirty="0"/>
              <a:t>6</a:t>
            </a:r>
            <a:r>
              <a:rPr lang="zh-CN" altLang="en-US" sz="1138" dirty="0"/>
              <a:t>个人，在最上面分别填写</a:t>
            </a:r>
            <a:r>
              <a:rPr lang="en-US" altLang="zh-CN" sz="1138" dirty="0"/>
              <a:t>3</a:t>
            </a:r>
            <a:r>
              <a:rPr lang="zh-CN" altLang="en-US" sz="1138" dirty="0"/>
              <a:t>个想法。</a:t>
            </a:r>
            <a:r>
              <a:rPr lang="en-US" altLang="zh-CN" sz="1138" dirty="0"/>
              <a:t>5</a:t>
            </a:r>
            <a:r>
              <a:rPr lang="zh-CN" altLang="en-US" sz="1138" dirty="0"/>
              <a:t>分钟后交给下一个人，让他在下层写下自己的想法。</a:t>
            </a:r>
            <a:endParaRPr lang="en-US" altLang="ja-JP" sz="1138" dirty="0"/>
          </a:p>
        </p:txBody>
      </p:sp>
      <p:graphicFrame>
        <p:nvGraphicFramePr>
          <p:cNvPr id="6" name="表 6">
            <a:extLst>
              <a:ext uri="{FF2B5EF4-FFF2-40B4-BE49-F238E27FC236}">
                <a16:creationId xmlns:a16="http://schemas.microsoft.com/office/drawing/2014/main" id="{858707EF-8E32-7247-9933-9B204035AC4E}"/>
              </a:ext>
            </a:extLst>
          </p:cNvPr>
          <p:cNvGraphicFramePr>
            <a:graphicFrameLocks noGrp="1"/>
          </p:cNvGraphicFramePr>
          <p:nvPr>
            <p:extLst>
              <p:ext uri="{D42A27DB-BD31-4B8C-83A1-F6EECF244321}">
                <p14:modId xmlns:p14="http://schemas.microsoft.com/office/powerpoint/2010/main" val="1649983692"/>
              </p:ext>
            </p:extLst>
          </p:nvPr>
        </p:nvGraphicFramePr>
        <p:xfrm>
          <a:off x="354051" y="1478280"/>
          <a:ext cx="9197896" cy="5021576"/>
        </p:xfrm>
        <a:graphic>
          <a:graphicData uri="http://schemas.openxmlformats.org/drawingml/2006/table">
            <a:tbl>
              <a:tblPr firstRow="1" bandRow="1" bandCol="1">
                <a:tableStyleId>{1FECB4D8-DB02-4DC6-A0A2-4F2EBAE1DC90}</a:tableStyleId>
              </a:tblPr>
              <a:tblGrid>
                <a:gridCol w="560349">
                  <a:extLst>
                    <a:ext uri="{9D8B030D-6E8A-4147-A177-3AD203B41FA5}">
                      <a16:colId xmlns:a16="http://schemas.microsoft.com/office/drawing/2014/main" val="1951851002"/>
                    </a:ext>
                  </a:extLst>
                </a:gridCol>
                <a:gridCol w="2758440">
                  <a:extLst>
                    <a:ext uri="{9D8B030D-6E8A-4147-A177-3AD203B41FA5}">
                      <a16:colId xmlns:a16="http://schemas.microsoft.com/office/drawing/2014/main" val="3537297173"/>
                    </a:ext>
                  </a:extLst>
                </a:gridCol>
                <a:gridCol w="3192780">
                  <a:extLst>
                    <a:ext uri="{9D8B030D-6E8A-4147-A177-3AD203B41FA5}">
                      <a16:colId xmlns:a16="http://schemas.microsoft.com/office/drawing/2014/main" val="2099716088"/>
                    </a:ext>
                  </a:extLst>
                </a:gridCol>
                <a:gridCol w="2686327">
                  <a:extLst>
                    <a:ext uri="{9D8B030D-6E8A-4147-A177-3AD203B41FA5}">
                      <a16:colId xmlns:a16="http://schemas.microsoft.com/office/drawing/2014/main" val="2503477649"/>
                    </a:ext>
                  </a:extLst>
                </a:gridCol>
              </a:tblGrid>
              <a:tr h="717368">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kumimoji="1" lang="en-US" altLang="ja-JP" sz="2800" dirty="0"/>
                        <a:t>A</a:t>
                      </a:r>
                      <a:endParaRPr kumimoji="1" lang="ja-JP" altLang="en-US" sz="28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en-US" altLang="ja-JP" sz="2800" dirty="0"/>
                        <a:t>B</a:t>
                      </a:r>
                      <a:endParaRPr kumimoji="1" lang="ja-JP" altLang="en-US" sz="28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en-US" altLang="ja-JP" sz="2800" dirty="0"/>
                        <a:t>C</a:t>
                      </a:r>
                      <a:endParaRPr kumimoji="1" lang="ja-JP" altLang="en-US" sz="2800"/>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781233769"/>
                  </a:ext>
                </a:extLst>
              </a:tr>
              <a:tr h="717368">
                <a:tc>
                  <a:txBody>
                    <a:bodyPr/>
                    <a:lstStyle/>
                    <a:p>
                      <a:pPr algn="ctr"/>
                      <a:r>
                        <a:rPr kumimoji="1" lang="ja-JP" altLang="en-US" sz="2800"/>
                        <a:t>１</a:t>
                      </a:r>
                    </a:p>
                  </a:txBody>
                  <a:tcPr anchor="ctr">
                    <a:lnL w="12700" cap="flat" cmpd="sng" algn="ctr">
                      <a:solidFill>
                        <a:schemeClr val="accent3">
                          <a:lumMod val="20000"/>
                          <a:lumOff val="8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kumimoji="1" lang="ja-JP" altLang="en-US" sz="1200"/>
                    </a:p>
                  </a:txBody>
                  <a:tcPr>
                    <a:lnR w="12700" cap="flat" cmpd="sng" algn="ctr">
                      <a:solidFill>
                        <a:schemeClr val="bg2">
                          <a:lumMod val="75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noFill/>
                  </a:tcPr>
                </a:tc>
                <a:extLst>
                  <a:ext uri="{0D108BD9-81ED-4DB2-BD59-A6C34878D82A}">
                    <a16:rowId xmlns:a16="http://schemas.microsoft.com/office/drawing/2014/main" val="4073204189"/>
                  </a:ext>
                </a:extLst>
              </a:tr>
              <a:tr h="717368">
                <a:tc>
                  <a:txBody>
                    <a:bodyPr/>
                    <a:lstStyle/>
                    <a:p>
                      <a:pPr algn="ctr"/>
                      <a:r>
                        <a:rPr kumimoji="1" lang="ja-JP" altLang="en-US" sz="2800"/>
                        <a:t>２</a:t>
                      </a:r>
                    </a:p>
                  </a:txBody>
                  <a:tcPr anchor="ctr">
                    <a:lnL w="12700" cap="flat" cmpd="sng" algn="ctr">
                      <a:solidFill>
                        <a:schemeClr val="accent3">
                          <a:lumMod val="20000"/>
                          <a:lumOff val="8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kumimoji="1" lang="ja-JP" altLang="en-US" sz="1200"/>
                    </a:p>
                  </a:txBody>
                  <a:tcPr>
                    <a:lnR w="12700" cap="flat" cmpd="sng" algn="ctr">
                      <a:solidFill>
                        <a:schemeClr val="bg2">
                          <a:lumMod val="75000"/>
                        </a:schemeClr>
                      </a:solidFill>
                      <a:prstDash val="solid"/>
                      <a:round/>
                      <a:headEnd type="none" w="med" len="med"/>
                      <a:tailEnd type="none" w="med" len="med"/>
                    </a:lnR>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noFill/>
                  </a:tcPr>
                </a:tc>
                <a:extLst>
                  <a:ext uri="{0D108BD9-81ED-4DB2-BD59-A6C34878D82A}">
                    <a16:rowId xmlns:a16="http://schemas.microsoft.com/office/drawing/2014/main" val="2704401172"/>
                  </a:ext>
                </a:extLst>
              </a:tr>
              <a:tr h="717368">
                <a:tc>
                  <a:txBody>
                    <a:bodyPr/>
                    <a:lstStyle/>
                    <a:p>
                      <a:pPr algn="ctr"/>
                      <a:r>
                        <a:rPr kumimoji="1" lang="ja-JP" altLang="en-US" sz="2800"/>
                        <a:t>３</a:t>
                      </a:r>
                    </a:p>
                  </a:txBody>
                  <a:tcPr anchor="ctr">
                    <a:lnL w="12700" cap="flat" cmpd="sng" algn="ctr">
                      <a:solidFill>
                        <a:schemeClr val="accent3">
                          <a:lumMod val="20000"/>
                          <a:lumOff val="8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kumimoji="1" lang="ja-JP" altLang="en-US" sz="1200"/>
                    </a:p>
                  </a:txBody>
                  <a:tcPr>
                    <a:lnR w="12700" cap="flat" cmpd="sng" algn="ctr">
                      <a:solidFill>
                        <a:schemeClr val="bg2">
                          <a:lumMod val="75000"/>
                        </a:schemeClr>
                      </a:solidFill>
                      <a:prstDash val="solid"/>
                      <a:round/>
                      <a:headEnd type="none" w="med" len="med"/>
                      <a:tailEnd type="none" w="med" len="med"/>
                    </a:lnR>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noFill/>
                  </a:tcPr>
                </a:tc>
                <a:extLst>
                  <a:ext uri="{0D108BD9-81ED-4DB2-BD59-A6C34878D82A}">
                    <a16:rowId xmlns:a16="http://schemas.microsoft.com/office/drawing/2014/main" val="893093889"/>
                  </a:ext>
                </a:extLst>
              </a:tr>
              <a:tr h="717368">
                <a:tc>
                  <a:txBody>
                    <a:bodyPr/>
                    <a:lstStyle/>
                    <a:p>
                      <a:pPr algn="ctr"/>
                      <a:r>
                        <a:rPr kumimoji="1" lang="ja-JP" altLang="en-US" sz="2800"/>
                        <a:t>４</a:t>
                      </a:r>
                    </a:p>
                  </a:txBody>
                  <a:tcPr anchor="ctr">
                    <a:lnL w="12700" cap="flat" cmpd="sng" algn="ctr">
                      <a:solidFill>
                        <a:schemeClr val="accent3">
                          <a:lumMod val="20000"/>
                          <a:lumOff val="8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kumimoji="1" lang="ja-JP" altLang="en-US" sz="1200"/>
                    </a:p>
                  </a:txBody>
                  <a:tcPr>
                    <a:lnR w="12700" cap="flat" cmpd="sng" algn="ctr">
                      <a:solidFill>
                        <a:schemeClr val="bg2">
                          <a:lumMod val="75000"/>
                        </a:schemeClr>
                      </a:solidFill>
                      <a:prstDash val="solid"/>
                      <a:round/>
                      <a:headEnd type="none" w="med" len="med"/>
                      <a:tailEnd type="none" w="med" len="med"/>
                    </a:lnR>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noFill/>
                  </a:tcPr>
                </a:tc>
                <a:extLst>
                  <a:ext uri="{0D108BD9-81ED-4DB2-BD59-A6C34878D82A}">
                    <a16:rowId xmlns:a16="http://schemas.microsoft.com/office/drawing/2014/main" val="2635707189"/>
                  </a:ext>
                </a:extLst>
              </a:tr>
              <a:tr h="717368">
                <a:tc>
                  <a:txBody>
                    <a:bodyPr/>
                    <a:lstStyle/>
                    <a:p>
                      <a:pPr algn="ctr"/>
                      <a:r>
                        <a:rPr kumimoji="1" lang="ja-JP" altLang="en-US" sz="2800"/>
                        <a:t>５</a:t>
                      </a:r>
                    </a:p>
                  </a:txBody>
                  <a:tcPr anchor="ctr">
                    <a:lnL w="12700" cap="flat" cmpd="sng" algn="ctr">
                      <a:solidFill>
                        <a:schemeClr val="accent3">
                          <a:lumMod val="20000"/>
                          <a:lumOff val="8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kumimoji="1" lang="ja-JP" altLang="en-US" sz="1200"/>
                    </a:p>
                  </a:txBody>
                  <a:tcPr>
                    <a:lnR w="12700" cap="flat" cmpd="sng" algn="ctr">
                      <a:solidFill>
                        <a:schemeClr val="bg2">
                          <a:lumMod val="75000"/>
                        </a:schemeClr>
                      </a:solidFill>
                      <a:prstDash val="solid"/>
                      <a:round/>
                      <a:headEnd type="none" w="med" len="med"/>
                      <a:tailEnd type="none" w="med" len="med"/>
                    </a:lnR>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noFill/>
                  </a:tcPr>
                </a:tc>
                <a:extLst>
                  <a:ext uri="{0D108BD9-81ED-4DB2-BD59-A6C34878D82A}">
                    <a16:rowId xmlns:a16="http://schemas.microsoft.com/office/drawing/2014/main" val="3115058367"/>
                  </a:ext>
                </a:extLst>
              </a:tr>
              <a:tr h="717368">
                <a:tc>
                  <a:txBody>
                    <a:bodyPr/>
                    <a:lstStyle/>
                    <a:p>
                      <a:pPr algn="ctr"/>
                      <a:r>
                        <a:rPr kumimoji="1" lang="ja-JP" altLang="en-US" sz="2800"/>
                        <a:t>６</a:t>
                      </a:r>
                    </a:p>
                  </a:txBody>
                  <a:tcPr anchor="ctr">
                    <a:lnL w="12700" cap="flat" cmpd="sng" algn="ctr">
                      <a:solidFill>
                        <a:schemeClr val="accent3">
                          <a:lumMod val="20000"/>
                          <a:lumOff val="8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endParaRPr kumimoji="1" lang="ja-JP" altLang="en-US" sz="1200"/>
                    </a:p>
                  </a:txBody>
                  <a:tcPr>
                    <a:lnR w="12700" cap="flat" cmpd="sng" algn="ctr">
                      <a:solidFill>
                        <a:schemeClr val="bg2">
                          <a:lumMod val="75000"/>
                        </a:schemeClr>
                      </a:solidFill>
                      <a:prstDash val="solid"/>
                      <a:round/>
                      <a:headEnd type="none" w="med" len="med"/>
                      <a:tailEnd type="none" w="med" len="med"/>
                    </a:lnR>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endParaRPr kumimoji="1" lang="ja-JP" altLang="en-US" sz="1200"/>
                    </a:p>
                  </a:txBody>
                  <a:tcPr>
                    <a:lnL w="12700" cap="flat" cmpd="sng" algn="ctr">
                      <a:solidFill>
                        <a:schemeClr val="bg2">
                          <a:lumMod val="75000"/>
                        </a:schemeClr>
                      </a:solidFill>
                      <a:prstDash val="solid"/>
                      <a:round/>
                      <a:headEnd type="none" w="med" len="med"/>
                      <a:tailEnd type="none" w="med" len="med"/>
                    </a:lnL>
                    <a:noFill/>
                  </a:tcPr>
                </a:tc>
                <a:extLst>
                  <a:ext uri="{0D108BD9-81ED-4DB2-BD59-A6C34878D82A}">
                    <a16:rowId xmlns:a16="http://schemas.microsoft.com/office/drawing/2014/main" val="1275773131"/>
                  </a:ext>
                </a:extLst>
              </a:tr>
            </a:tbl>
          </a:graphicData>
        </a:graphic>
      </p:graphicFrame>
      <p:sp>
        <p:nvSpPr>
          <p:cNvPr id="7" name="テキスト ボックス 6">
            <a:extLst>
              <a:ext uri="{FF2B5EF4-FFF2-40B4-BE49-F238E27FC236}">
                <a16:creationId xmlns:a16="http://schemas.microsoft.com/office/drawing/2014/main" id="{7B1EEAA1-7155-FD44-88BE-29862D50303C}"/>
              </a:ext>
            </a:extLst>
          </p:cNvPr>
          <p:cNvSpPr txBox="1"/>
          <p:nvPr/>
        </p:nvSpPr>
        <p:spPr>
          <a:xfrm>
            <a:off x="3129423" y="1108948"/>
            <a:ext cx="3416320" cy="369332"/>
          </a:xfrm>
          <a:prstGeom prst="rect">
            <a:avLst/>
          </a:prstGeom>
          <a:noFill/>
        </p:spPr>
        <p:txBody>
          <a:bodyPr wrap="none" rtlCol="0">
            <a:spAutoFit/>
          </a:bodyPr>
          <a:lstStyle/>
          <a:p>
            <a:r>
              <a:rPr kumimoji="1" lang="zh-CN" altLang="en-US" dirty="0"/>
              <a:t>主题</a:t>
            </a:r>
            <a:r>
              <a:rPr kumimoji="1" lang="en-US" altLang="ja-JP" dirty="0"/>
              <a:t>【</a:t>
            </a:r>
            <a:r>
              <a:rPr kumimoji="1" lang="ja-JP" altLang="en-US" dirty="0"/>
              <a:t>　　　　　　　　　　</a:t>
            </a:r>
            <a:r>
              <a:rPr kumimoji="1" lang="en-US" altLang="ja-JP" dirty="0"/>
              <a:t>】</a:t>
            </a:r>
            <a:endParaRPr kumimoji="1" lang="ja-JP" altLang="en-US" dirty="0"/>
          </a:p>
        </p:txBody>
      </p:sp>
    </p:spTree>
    <p:extLst>
      <p:ext uri="{BB962C8B-B14F-4D97-AF65-F5344CB8AC3E}">
        <p14:creationId xmlns:p14="http://schemas.microsoft.com/office/powerpoint/2010/main" val="3443011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角丸四角形 9">
            <a:extLst>
              <a:ext uri="{FF2B5EF4-FFF2-40B4-BE49-F238E27FC236}">
                <a16:creationId xmlns:a16="http://schemas.microsoft.com/office/drawing/2014/main" id="{4177F588-99BD-4B44-A1DE-A921D18010F3}"/>
              </a:ext>
            </a:extLst>
          </p:cNvPr>
          <p:cNvSpPr/>
          <p:nvPr/>
        </p:nvSpPr>
        <p:spPr>
          <a:xfrm>
            <a:off x="3989294" y="2847825"/>
            <a:ext cx="1928692" cy="1813432"/>
          </a:xfrm>
          <a:prstGeom prst="roundRect">
            <a:avLst/>
          </a:prstGeom>
          <a:noFill/>
          <a:ln>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400" dirty="0">
                <a:solidFill>
                  <a:schemeClr val="bg1"/>
                </a:solidFill>
              </a:rPr>
              <a:t>08</a:t>
            </a:r>
            <a:r>
              <a:rPr lang="ja-JP" altLang="en-US" sz="2400" dirty="0">
                <a:solidFill>
                  <a:schemeClr val="bg1"/>
                </a:solidFill>
              </a:rPr>
              <a:t>　ＫＪ法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32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用下面这样的卡片提出很多想法和课题，然后将其分成小组、中组、大组，显示出关系性。</a:t>
            </a:r>
            <a:endParaRPr lang="en-US" altLang="ja-JP" sz="1138" dirty="0"/>
          </a:p>
        </p:txBody>
      </p:sp>
      <p:sp>
        <p:nvSpPr>
          <p:cNvPr id="5" name="正方形/長方形 4">
            <a:extLst>
              <a:ext uri="{FF2B5EF4-FFF2-40B4-BE49-F238E27FC236}">
                <a16:creationId xmlns:a16="http://schemas.microsoft.com/office/drawing/2014/main" id="{FF8768FC-8996-7149-932C-9D0F5AD08D16}"/>
              </a:ext>
            </a:extLst>
          </p:cNvPr>
          <p:cNvSpPr/>
          <p:nvPr/>
        </p:nvSpPr>
        <p:spPr>
          <a:xfrm>
            <a:off x="354052" y="1066800"/>
            <a:ext cx="9197895" cy="543306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FA1E80B2-7668-B94D-A0D1-53010366DE90}"/>
              </a:ext>
            </a:extLst>
          </p:cNvPr>
          <p:cNvSpPr/>
          <p:nvPr/>
        </p:nvSpPr>
        <p:spPr>
          <a:xfrm>
            <a:off x="3818963" y="2389733"/>
            <a:ext cx="2260387" cy="2466575"/>
          </a:xfrm>
          <a:prstGeom prst="roundRect">
            <a:avLst/>
          </a:prstGeom>
          <a:noFill/>
          <a:ln>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7E84A985-9980-9049-A81F-FB2BFF71880A}"/>
              </a:ext>
            </a:extLst>
          </p:cNvPr>
          <p:cNvSpPr/>
          <p:nvPr/>
        </p:nvSpPr>
        <p:spPr>
          <a:xfrm>
            <a:off x="3688335" y="1920648"/>
            <a:ext cx="2529328" cy="3112394"/>
          </a:xfrm>
          <a:prstGeom prst="roundRect">
            <a:avLst/>
          </a:prstGeom>
          <a:noFill/>
          <a:ln>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5AE6E3F8-C75A-0348-9E5A-01D97B0497C6}"/>
              </a:ext>
            </a:extLst>
          </p:cNvPr>
          <p:cNvSpPr/>
          <p:nvPr/>
        </p:nvSpPr>
        <p:spPr>
          <a:xfrm>
            <a:off x="4407048" y="3195032"/>
            <a:ext cx="1036320" cy="33851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创意</a:t>
            </a:r>
          </a:p>
        </p:txBody>
      </p:sp>
      <p:sp>
        <p:nvSpPr>
          <p:cNvPr id="7" name="正方形/長方形 6">
            <a:extLst>
              <a:ext uri="{FF2B5EF4-FFF2-40B4-BE49-F238E27FC236}">
                <a16:creationId xmlns:a16="http://schemas.microsoft.com/office/drawing/2014/main" id="{AF1C1A4F-DDFE-F44F-B8A6-EF07D49ECFD2}"/>
              </a:ext>
            </a:extLst>
          </p:cNvPr>
          <p:cNvSpPr/>
          <p:nvPr/>
        </p:nvSpPr>
        <p:spPr>
          <a:xfrm>
            <a:off x="4407048" y="2687267"/>
            <a:ext cx="1036320" cy="33851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小分组</a:t>
            </a:r>
            <a:endParaRPr kumimoji="1" lang="ja-JP" altLang="en-US" sz="1000" dirty="0">
              <a:solidFill>
                <a:schemeClr val="tx1"/>
              </a:solidFill>
            </a:endParaRPr>
          </a:p>
        </p:txBody>
      </p:sp>
      <p:sp>
        <p:nvSpPr>
          <p:cNvPr id="8" name="正方形/長方形 7">
            <a:extLst>
              <a:ext uri="{FF2B5EF4-FFF2-40B4-BE49-F238E27FC236}">
                <a16:creationId xmlns:a16="http://schemas.microsoft.com/office/drawing/2014/main" id="{6CAC6A05-F0A9-A946-8A67-6D7ED5932A9D}"/>
              </a:ext>
            </a:extLst>
          </p:cNvPr>
          <p:cNvSpPr/>
          <p:nvPr/>
        </p:nvSpPr>
        <p:spPr>
          <a:xfrm>
            <a:off x="4407048" y="2219330"/>
            <a:ext cx="1036320" cy="33851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bg1"/>
                </a:solidFill>
              </a:rPr>
              <a:t>中分组</a:t>
            </a:r>
            <a:endParaRPr kumimoji="1" lang="ja-JP" altLang="en-US" sz="1000" dirty="0">
              <a:solidFill>
                <a:schemeClr val="bg1"/>
              </a:solidFill>
            </a:endParaRPr>
          </a:p>
        </p:txBody>
      </p:sp>
      <p:sp>
        <p:nvSpPr>
          <p:cNvPr id="9" name="正方形/長方形 8">
            <a:extLst>
              <a:ext uri="{FF2B5EF4-FFF2-40B4-BE49-F238E27FC236}">
                <a16:creationId xmlns:a16="http://schemas.microsoft.com/office/drawing/2014/main" id="{18C20B69-D109-1040-B11A-884249B06F6D}"/>
              </a:ext>
            </a:extLst>
          </p:cNvPr>
          <p:cNvSpPr/>
          <p:nvPr/>
        </p:nvSpPr>
        <p:spPr>
          <a:xfrm>
            <a:off x="4407048" y="1751393"/>
            <a:ext cx="1036320" cy="33851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bg1"/>
                </a:solidFill>
              </a:rPr>
              <a:t>大分组</a:t>
            </a:r>
            <a:endParaRPr kumimoji="1" lang="ja-JP" altLang="en-US" sz="1000" dirty="0">
              <a:solidFill>
                <a:schemeClr val="bg1"/>
              </a:solidFill>
            </a:endParaRPr>
          </a:p>
        </p:txBody>
      </p:sp>
      <p:sp>
        <p:nvSpPr>
          <p:cNvPr id="13" name="正方形/長方形 12">
            <a:extLst>
              <a:ext uri="{FF2B5EF4-FFF2-40B4-BE49-F238E27FC236}">
                <a16:creationId xmlns:a16="http://schemas.microsoft.com/office/drawing/2014/main" id="{701BB0D4-7787-324D-86F0-8E1F63F3AC97}"/>
              </a:ext>
            </a:extLst>
          </p:cNvPr>
          <p:cNvSpPr/>
          <p:nvPr/>
        </p:nvSpPr>
        <p:spPr>
          <a:xfrm>
            <a:off x="4407048" y="3710370"/>
            <a:ext cx="1036320" cy="33851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创意</a:t>
            </a:r>
          </a:p>
        </p:txBody>
      </p:sp>
      <p:sp>
        <p:nvSpPr>
          <p:cNvPr id="14" name="正方形/長方形 13">
            <a:extLst>
              <a:ext uri="{FF2B5EF4-FFF2-40B4-BE49-F238E27FC236}">
                <a16:creationId xmlns:a16="http://schemas.microsoft.com/office/drawing/2014/main" id="{27EF8FF3-CF78-8E40-B5B0-8BAFC92732BF}"/>
              </a:ext>
            </a:extLst>
          </p:cNvPr>
          <p:cNvSpPr/>
          <p:nvPr/>
        </p:nvSpPr>
        <p:spPr>
          <a:xfrm>
            <a:off x="4407048" y="4229529"/>
            <a:ext cx="1036320" cy="33851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创意</a:t>
            </a:r>
          </a:p>
        </p:txBody>
      </p:sp>
      <p:cxnSp>
        <p:nvCxnSpPr>
          <p:cNvPr id="16" name="直線矢印コネクタ 15">
            <a:extLst>
              <a:ext uri="{FF2B5EF4-FFF2-40B4-BE49-F238E27FC236}">
                <a16:creationId xmlns:a16="http://schemas.microsoft.com/office/drawing/2014/main" id="{4B3287AA-95BD-F64D-B497-5DEB3ADB2B93}"/>
              </a:ext>
            </a:extLst>
          </p:cNvPr>
          <p:cNvCxnSpPr>
            <a:cxnSpLocks/>
            <a:stCxn id="13" idx="2"/>
            <a:endCxn id="14" idx="0"/>
          </p:cNvCxnSpPr>
          <p:nvPr/>
        </p:nvCxnSpPr>
        <p:spPr>
          <a:xfrm>
            <a:off x="4925208" y="4048880"/>
            <a:ext cx="0" cy="1806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D48D6D99-3265-BE4E-BADA-505F845B59EC}"/>
              </a:ext>
            </a:extLst>
          </p:cNvPr>
          <p:cNvCxnSpPr>
            <a:stCxn id="4" idx="2"/>
            <a:endCxn id="13" idx="0"/>
          </p:cNvCxnSpPr>
          <p:nvPr/>
        </p:nvCxnSpPr>
        <p:spPr>
          <a:xfrm>
            <a:off x="4925208" y="3533542"/>
            <a:ext cx="0" cy="1768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9889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09</a:t>
            </a:r>
            <a:r>
              <a:rPr lang="ja-JP" altLang="en-US" sz="2600" dirty="0">
                <a:solidFill>
                  <a:schemeClr val="bg1"/>
                </a:solidFill>
              </a:rPr>
              <a:t>　ＳＣＡＭＰＥＲ</a:t>
            </a:r>
            <a:r>
              <a:rPr lang="zh-CN" altLang="en-US" sz="2600" dirty="0">
                <a:solidFill>
                  <a:schemeClr val="bg1"/>
                </a:solidFill>
              </a:rPr>
              <a:t>法</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36</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确定创意和主题后，从</a:t>
            </a:r>
            <a:r>
              <a:rPr lang="en-US" altLang="zh-CN" sz="1138" dirty="0"/>
              <a:t>SCAMPER</a:t>
            </a:r>
            <a:r>
              <a:rPr lang="zh-CN" altLang="en-US" sz="1138" dirty="0"/>
              <a:t>法的七个问题中深入挖掘，找到值得关注的创意。</a:t>
            </a:r>
            <a:endParaRPr lang="en-US" altLang="ja-JP" sz="1138" dirty="0"/>
          </a:p>
        </p:txBody>
      </p:sp>
      <p:graphicFrame>
        <p:nvGraphicFramePr>
          <p:cNvPr id="4" name="表 4">
            <a:extLst>
              <a:ext uri="{FF2B5EF4-FFF2-40B4-BE49-F238E27FC236}">
                <a16:creationId xmlns:a16="http://schemas.microsoft.com/office/drawing/2014/main" id="{3057506E-F578-7842-AC6A-CD326CFD1154}"/>
              </a:ext>
            </a:extLst>
          </p:cNvPr>
          <p:cNvGraphicFramePr>
            <a:graphicFrameLocks noGrp="1"/>
          </p:cNvGraphicFramePr>
          <p:nvPr>
            <p:extLst>
              <p:ext uri="{D42A27DB-BD31-4B8C-83A1-F6EECF244321}">
                <p14:modId xmlns:p14="http://schemas.microsoft.com/office/powerpoint/2010/main" val="808265931"/>
              </p:ext>
            </p:extLst>
          </p:nvPr>
        </p:nvGraphicFramePr>
        <p:xfrm>
          <a:off x="354052" y="1478280"/>
          <a:ext cx="9197895" cy="5021583"/>
        </p:xfrm>
        <a:graphic>
          <a:graphicData uri="http://schemas.openxmlformats.org/drawingml/2006/table">
            <a:tbl>
              <a:tblPr>
                <a:tableStyleId>{1FECB4D8-DB02-4DC6-A0A2-4F2EBAE1DC90}</a:tableStyleId>
              </a:tblPr>
              <a:tblGrid>
                <a:gridCol w="1566956">
                  <a:extLst>
                    <a:ext uri="{9D8B030D-6E8A-4147-A177-3AD203B41FA5}">
                      <a16:colId xmlns:a16="http://schemas.microsoft.com/office/drawing/2014/main" val="4012979830"/>
                    </a:ext>
                  </a:extLst>
                </a:gridCol>
                <a:gridCol w="3388659">
                  <a:extLst>
                    <a:ext uri="{9D8B030D-6E8A-4147-A177-3AD203B41FA5}">
                      <a16:colId xmlns:a16="http://schemas.microsoft.com/office/drawing/2014/main" val="3640740955"/>
                    </a:ext>
                  </a:extLst>
                </a:gridCol>
                <a:gridCol w="4242280">
                  <a:extLst>
                    <a:ext uri="{9D8B030D-6E8A-4147-A177-3AD203B41FA5}">
                      <a16:colId xmlns:a16="http://schemas.microsoft.com/office/drawing/2014/main" val="3055463827"/>
                    </a:ext>
                  </a:extLst>
                </a:gridCol>
              </a:tblGrid>
              <a:tr h="717369">
                <a:tc>
                  <a:txBody>
                    <a:bodyPr/>
                    <a:lstStyle/>
                    <a:p>
                      <a:r>
                        <a:rPr kumimoji="1" lang="en-US" altLang="ja-JP" b="0" dirty="0"/>
                        <a:t>S</a:t>
                      </a:r>
                    </a:p>
                    <a:p>
                      <a:r>
                        <a:rPr kumimoji="1" lang="zh-CN" altLang="en-US" b="0" dirty="0"/>
                        <a:t>替代</a:t>
                      </a:r>
                      <a:endParaRPr kumimoji="1" lang="ja-JP" altLang="en-US" b="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r>
                        <a:rPr kumimoji="1" lang="en-US" altLang="ja-JP" sz="1200" dirty="0"/>
                        <a:t>•</a:t>
                      </a:r>
                      <a:r>
                        <a:rPr kumimoji="1" lang="ja-JP" altLang="en-US" sz="1200" dirty="0"/>
                        <a:t>是否有替代品？</a:t>
                      </a:r>
                    </a:p>
                    <a:p>
                      <a:r>
                        <a:rPr kumimoji="1" lang="en-US" altLang="ja-JP" sz="1200" dirty="0"/>
                        <a:t>•</a:t>
                      </a:r>
                      <a:r>
                        <a:rPr kumimoji="1" lang="ja-JP" altLang="en-US" sz="1200" dirty="0"/>
                        <a:t>是否有其他方法制作？</a:t>
                      </a:r>
                    </a:p>
                    <a:p>
                      <a:r>
                        <a:rPr kumimoji="1" lang="en-US" altLang="ja-JP" sz="1200" dirty="0"/>
                        <a:t>•</a:t>
                      </a:r>
                      <a:r>
                        <a:rPr kumimoji="1" lang="ja-JP" altLang="en-US" sz="1200" dirty="0"/>
                        <a:t>是否可以用其他材料制作？</a:t>
                      </a:r>
                    </a:p>
                  </a:txBody>
                  <a:tcPr anchor="ctr">
                    <a:lnL w="12700" cap="flat" cmpd="sng" algn="ctr">
                      <a:solidFill>
                        <a:schemeClr val="bg1"/>
                      </a:solidFill>
                      <a:prstDash val="solid"/>
                      <a:round/>
                      <a:headEnd type="none" w="med" len="med"/>
                      <a:tailEnd type="none" w="med" len="med"/>
                    </a:lnL>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200"/>
                    </a:p>
                  </a:txBody>
                  <a:tcPr anchor="ctr"/>
                </a:tc>
                <a:extLst>
                  <a:ext uri="{0D108BD9-81ED-4DB2-BD59-A6C34878D82A}">
                    <a16:rowId xmlns:a16="http://schemas.microsoft.com/office/drawing/2014/main" val="2890442161"/>
                  </a:ext>
                </a:extLst>
              </a:tr>
              <a:tr h="717369">
                <a:tc>
                  <a:txBody>
                    <a:bodyPr/>
                    <a:lstStyle/>
                    <a:p>
                      <a:r>
                        <a:rPr kumimoji="1" lang="en-US" altLang="ja-JP" b="0" dirty="0"/>
                        <a:t>C</a:t>
                      </a:r>
                    </a:p>
                    <a:p>
                      <a:r>
                        <a:rPr kumimoji="1" lang="zh-CN" altLang="en-US" b="0" dirty="0"/>
                        <a:t>合并</a:t>
                      </a:r>
                      <a:endParaRPr kumimoji="1" lang="ja-JP" altLang="en-US" b="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r>
                        <a:rPr kumimoji="1" lang="en-US" altLang="zh-CN" sz="1200" dirty="0"/>
                        <a:t>•</a:t>
                      </a:r>
                      <a:r>
                        <a:rPr kumimoji="1" lang="zh-CN" altLang="en-US" sz="1200" dirty="0"/>
                        <a:t>是否能和其他产品组合起来？</a:t>
                      </a:r>
                    </a:p>
                    <a:p>
                      <a:r>
                        <a:rPr kumimoji="1" lang="en-US" altLang="zh-CN" sz="1200" dirty="0"/>
                        <a:t>•</a:t>
                      </a:r>
                      <a:r>
                        <a:rPr kumimoji="1" lang="zh-CN" altLang="en-US" sz="1200" dirty="0"/>
                        <a:t>是否能够将不同的商品混合在一起？</a:t>
                      </a:r>
                    </a:p>
                    <a:p>
                      <a:r>
                        <a:rPr kumimoji="1" lang="en-US" altLang="zh-CN" sz="1200" dirty="0"/>
                        <a:t>•</a:t>
                      </a:r>
                      <a:r>
                        <a:rPr kumimoji="1" lang="zh-CN" altLang="en-US" sz="1200" dirty="0"/>
                        <a:t>将不同功能的商品组合起来</a:t>
                      </a:r>
                      <a:endParaRPr kumimoji="1" lang="ja-JP" altLang="en-US" sz="1200"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200"/>
                    </a:p>
                  </a:txBody>
                  <a:tcPr anchor="ctr"/>
                </a:tc>
                <a:extLst>
                  <a:ext uri="{0D108BD9-81ED-4DB2-BD59-A6C34878D82A}">
                    <a16:rowId xmlns:a16="http://schemas.microsoft.com/office/drawing/2014/main" val="47759012"/>
                  </a:ext>
                </a:extLst>
              </a:tr>
              <a:tr h="717369">
                <a:tc>
                  <a:txBody>
                    <a:bodyPr/>
                    <a:lstStyle/>
                    <a:p>
                      <a:r>
                        <a:rPr kumimoji="1" lang="en-US" altLang="ja-JP" b="0" dirty="0"/>
                        <a:t>A</a:t>
                      </a:r>
                    </a:p>
                    <a:p>
                      <a:r>
                        <a:rPr kumimoji="1" lang="zh-CN" altLang="en-US" b="0" dirty="0"/>
                        <a:t>调适</a:t>
                      </a:r>
                      <a:endParaRPr kumimoji="1" lang="ja-JP" altLang="en-US" b="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r>
                        <a:rPr kumimoji="1" lang="en-US" altLang="zh-CN" sz="1200" dirty="0"/>
                        <a:t>•</a:t>
                      </a:r>
                      <a:r>
                        <a:rPr kumimoji="1" lang="zh-CN" altLang="en-US" sz="1200" dirty="0"/>
                        <a:t>是否能用在其他方面？</a:t>
                      </a:r>
                    </a:p>
                    <a:p>
                      <a:r>
                        <a:rPr kumimoji="1" lang="en-US" altLang="zh-CN" sz="1200" dirty="0"/>
                        <a:t>•</a:t>
                      </a:r>
                      <a:r>
                        <a:rPr kumimoji="1" lang="zh-CN" altLang="en-US" sz="1200" dirty="0"/>
                        <a:t>是否有与之相似的东西？</a:t>
                      </a:r>
                    </a:p>
                    <a:p>
                      <a:r>
                        <a:rPr kumimoji="1" lang="en-US" altLang="zh-CN" sz="1200" dirty="0"/>
                        <a:t>•</a:t>
                      </a:r>
                      <a:r>
                        <a:rPr kumimoji="1" lang="zh-CN" altLang="en-US" sz="1200" dirty="0"/>
                        <a:t>是否有其他启发？</a:t>
                      </a:r>
                      <a:endParaRPr kumimoji="1" lang="ja-JP" altLang="en-US" sz="1200"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200"/>
                    </a:p>
                  </a:txBody>
                  <a:tcPr anchor="ctr"/>
                </a:tc>
                <a:extLst>
                  <a:ext uri="{0D108BD9-81ED-4DB2-BD59-A6C34878D82A}">
                    <a16:rowId xmlns:a16="http://schemas.microsoft.com/office/drawing/2014/main" val="2222551266"/>
                  </a:ext>
                </a:extLst>
              </a:tr>
              <a:tr h="717369">
                <a:tc>
                  <a:txBody>
                    <a:bodyPr/>
                    <a:lstStyle/>
                    <a:p>
                      <a:r>
                        <a:rPr kumimoji="1" lang="en-US" altLang="ja-JP" b="0" dirty="0"/>
                        <a:t>M</a:t>
                      </a:r>
                    </a:p>
                    <a:p>
                      <a:r>
                        <a:rPr kumimoji="1" lang="ja-JP" altLang="en-US" b="0" dirty="0"/>
                        <a:t>修</a:t>
                      </a:r>
                      <a:r>
                        <a:rPr kumimoji="1" lang="zh-CN" altLang="en-US" b="0" dirty="0"/>
                        <a:t>改</a:t>
                      </a:r>
                      <a:r>
                        <a:rPr kumimoji="1" lang="ja-JP" altLang="en-US" b="0" dirty="0"/>
                        <a:t>／</a:t>
                      </a:r>
                      <a:r>
                        <a:rPr kumimoji="1" lang="zh-CN" altLang="en-US" b="0" dirty="0"/>
                        <a:t>扩</a:t>
                      </a:r>
                      <a:r>
                        <a:rPr kumimoji="1" lang="ja-JP" altLang="en-US" b="0" dirty="0"/>
                        <a:t>大</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r>
                        <a:rPr kumimoji="1" lang="en-US" altLang="zh-CN" sz="1200" dirty="0"/>
                        <a:t>•</a:t>
                      </a:r>
                      <a:r>
                        <a:rPr kumimoji="1" lang="zh-CN" altLang="en-US" sz="1200" dirty="0"/>
                        <a:t>是否能增加一些东西？</a:t>
                      </a:r>
                    </a:p>
                    <a:p>
                      <a:r>
                        <a:rPr kumimoji="1" lang="en-US" altLang="zh-CN" sz="1200" dirty="0"/>
                        <a:t>•</a:t>
                      </a:r>
                      <a:r>
                        <a:rPr kumimoji="1" lang="zh-CN" altLang="en-US" sz="1200" dirty="0"/>
                        <a:t>是否能够改变颜色和设计？</a:t>
                      </a:r>
                    </a:p>
                    <a:p>
                      <a:r>
                        <a:rPr kumimoji="1" lang="en-US" altLang="zh-CN" sz="1200" dirty="0"/>
                        <a:t>•</a:t>
                      </a:r>
                      <a:r>
                        <a:rPr kumimoji="1" lang="zh-CN" altLang="en-US" sz="1200" dirty="0"/>
                        <a:t>是否能够改变大小、重量、厚度、长度？</a:t>
                      </a:r>
                      <a:endParaRPr kumimoji="1" lang="ja-JP" altLang="en-US" sz="1100"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200"/>
                    </a:p>
                  </a:txBody>
                  <a:tcPr anchor="ctr"/>
                </a:tc>
                <a:extLst>
                  <a:ext uri="{0D108BD9-81ED-4DB2-BD59-A6C34878D82A}">
                    <a16:rowId xmlns:a16="http://schemas.microsoft.com/office/drawing/2014/main" val="821942339"/>
                  </a:ext>
                </a:extLst>
              </a:tr>
              <a:tr h="717369">
                <a:tc>
                  <a:txBody>
                    <a:bodyPr/>
                    <a:lstStyle/>
                    <a:p>
                      <a:r>
                        <a:rPr kumimoji="1" lang="en-US" altLang="ja-JP" b="0" dirty="0"/>
                        <a:t>P</a:t>
                      </a:r>
                    </a:p>
                    <a:p>
                      <a:r>
                        <a:rPr kumimoji="1" lang="zh-CN" altLang="en-US" b="0" dirty="0"/>
                        <a:t>转</a:t>
                      </a:r>
                      <a:r>
                        <a:rPr kumimoji="1" lang="ja-JP" altLang="en-US" b="0" dirty="0"/>
                        <a:t>用</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r>
                        <a:rPr kumimoji="1" lang="en-US" altLang="zh-CN" sz="1200" dirty="0"/>
                        <a:t>•</a:t>
                      </a:r>
                      <a:r>
                        <a:rPr kumimoji="1" lang="zh-CN" altLang="en-US" sz="1200" dirty="0"/>
                        <a:t>是否有其他使用方法？</a:t>
                      </a:r>
                    </a:p>
                    <a:p>
                      <a:r>
                        <a:rPr kumimoji="1" lang="en-US" altLang="zh-CN" sz="1200" dirty="0"/>
                        <a:t>•</a:t>
                      </a:r>
                      <a:r>
                        <a:rPr kumimoji="1" lang="zh-CN" altLang="en-US" sz="1200" dirty="0"/>
                        <a:t>是否有改善和改良的方法？</a:t>
                      </a:r>
                    </a:p>
                    <a:p>
                      <a:r>
                        <a:rPr kumimoji="1" lang="en-US" altLang="zh-CN" sz="1200" dirty="0"/>
                        <a:t>•</a:t>
                      </a:r>
                      <a:r>
                        <a:rPr kumimoji="1" lang="zh-CN" altLang="en-US" sz="1200" dirty="0"/>
                        <a:t>是否能够在其他市场使用？</a:t>
                      </a:r>
                      <a:endParaRPr kumimoji="1" lang="ja-JP" altLang="en-US" sz="1200"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200"/>
                    </a:p>
                  </a:txBody>
                  <a:tcPr anchor="ctr"/>
                </a:tc>
                <a:extLst>
                  <a:ext uri="{0D108BD9-81ED-4DB2-BD59-A6C34878D82A}">
                    <a16:rowId xmlns:a16="http://schemas.microsoft.com/office/drawing/2014/main" val="2229107297"/>
                  </a:ext>
                </a:extLst>
              </a:tr>
              <a:tr h="717369">
                <a:tc>
                  <a:txBody>
                    <a:bodyPr/>
                    <a:lstStyle/>
                    <a:p>
                      <a:r>
                        <a:rPr kumimoji="1" lang="en-US" altLang="ja-JP" b="0" dirty="0"/>
                        <a:t>E</a:t>
                      </a:r>
                    </a:p>
                    <a:p>
                      <a:r>
                        <a:rPr kumimoji="1" lang="zh-CN" altLang="en-US" b="0" dirty="0"/>
                        <a:t>消除</a:t>
                      </a:r>
                      <a:endParaRPr kumimoji="1" lang="ja-JP" altLang="en-US" b="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r>
                        <a:rPr kumimoji="1" lang="en-US" altLang="zh-CN" sz="1200" dirty="0"/>
                        <a:t>•</a:t>
                      </a:r>
                      <a:r>
                        <a:rPr kumimoji="1" lang="zh-CN" altLang="en-US" sz="1200" dirty="0"/>
                        <a:t>是否能够省略？</a:t>
                      </a:r>
                    </a:p>
                    <a:p>
                      <a:r>
                        <a:rPr kumimoji="1" lang="en-US" altLang="zh-CN" sz="1200" dirty="0"/>
                        <a:t>•</a:t>
                      </a:r>
                      <a:r>
                        <a:rPr kumimoji="1" lang="zh-CN" altLang="en-US" sz="1200" dirty="0"/>
                        <a:t>是否能够减少？</a:t>
                      </a:r>
                    </a:p>
                    <a:p>
                      <a:r>
                        <a:rPr kumimoji="1" lang="en-US" altLang="zh-CN" sz="1200" dirty="0"/>
                        <a:t>•</a:t>
                      </a:r>
                      <a:r>
                        <a:rPr kumimoji="1" lang="zh-CN" altLang="en-US" sz="1200" dirty="0"/>
                        <a:t>是否能够更小、更轻、更低、更短？</a:t>
                      </a:r>
                      <a:endParaRPr kumimoji="1" lang="ja-JP" altLang="en-US" sz="1200"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200"/>
                    </a:p>
                  </a:txBody>
                  <a:tcPr anchor="ctr"/>
                </a:tc>
                <a:extLst>
                  <a:ext uri="{0D108BD9-81ED-4DB2-BD59-A6C34878D82A}">
                    <a16:rowId xmlns:a16="http://schemas.microsoft.com/office/drawing/2014/main" val="1797346685"/>
                  </a:ext>
                </a:extLst>
              </a:tr>
              <a:tr h="717369">
                <a:tc>
                  <a:txBody>
                    <a:bodyPr/>
                    <a:lstStyle/>
                    <a:p>
                      <a:r>
                        <a:rPr kumimoji="1" lang="en-US" altLang="ja-JP" b="0" dirty="0"/>
                        <a:t>R</a:t>
                      </a:r>
                    </a:p>
                    <a:p>
                      <a:r>
                        <a:rPr kumimoji="1" lang="zh-CN" altLang="en-US" sz="1800" b="0" dirty="0"/>
                        <a:t>重组</a:t>
                      </a:r>
                      <a:r>
                        <a:rPr kumimoji="1" lang="ja-JP" altLang="en-US" sz="1800" b="0" dirty="0"/>
                        <a:t>／</a:t>
                      </a:r>
                      <a:r>
                        <a:rPr kumimoji="1" lang="zh-CN" altLang="en-US" sz="1800" b="0" dirty="0"/>
                        <a:t>反转</a:t>
                      </a:r>
                      <a:endParaRPr kumimoji="1" lang="ja-JP" altLang="en-US" sz="1800" b="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r>
                        <a:rPr kumimoji="1" lang="en-US" altLang="zh-CN" sz="1200" dirty="0"/>
                        <a:t>•</a:t>
                      </a:r>
                      <a:r>
                        <a:rPr kumimoji="1" lang="zh-CN" altLang="en-US" sz="1200" dirty="0"/>
                        <a:t>上下、左右是否可以颠倒？</a:t>
                      </a:r>
                    </a:p>
                    <a:p>
                      <a:r>
                        <a:rPr kumimoji="1" lang="en-US" altLang="zh-CN" sz="1200" dirty="0"/>
                        <a:t>•</a:t>
                      </a:r>
                      <a:r>
                        <a:rPr kumimoji="1" lang="zh-CN" altLang="en-US" sz="1200" dirty="0"/>
                        <a:t>前后是否可以颠倒？</a:t>
                      </a:r>
                    </a:p>
                    <a:p>
                      <a:r>
                        <a:rPr kumimoji="1" lang="en-US" altLang="zh-CN" sz="1200" dirty="0"/>
                        <a:t>•</a:t>
                      </a:r>
                      <a:r>
                        <a:rPr kumimoji="1" lang="zh-CN" altLang="en-US" sz="1200" dirty="0"/>
                        <a:t>功能是否可以颠倒？</a:t>
                      </a:r>
                      <a:endParaRPr kumimoji="1" lang="ja-JP" altLang="en-US" sz="1200"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200" dirty="0"/>
                    </a:p>
                  </a:txBody>
                  <a:tcPr anchor="ctr"/>
                </a:tc>
                <a:extLst>
                  <a:ext uri="{0D108BD9-81ED-4DB2-BD59-A6C34878D82A}">
                    <a16:rowId xmlns:a16="http://schemas.microsoft.com/office/drawing/2014/main" val="2574708458"/>
                  </a:ext>
                </a:extLst>
              </a:tr>
            </a:tbl>
          </a:graphicData>
        </a:graphic>
      </p:graphicFrame>
      <p:sp>
        <p:nvSpPr>
          <p:cNvPr id="8" name="三角形 7">
            <a:extLst>
              <a:ext uri="{FF2B5EF4-FFF2-40B4-BE49-F238E27FC236}">
                <a16:creationId xmlns:a16="http://schemas.microsoft.com/office/drawing/2014/main" id="{AC8BB435-E5C9-4647-B8AA-0B9C6B4F7878}"/>
              </a:ext>
            </a:extLst>
          </p:cNvPr>
          <p:cNvSpPr/>
          <p:nvPr/>
        </p:nvSpPr>
        <p:spPr>
          <a:xfrm rot="5400000">
            <a:off x="4981588" y="1721178"/>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三角形 8">
            <a:extLst>
              <a:ext uri="{FF2B5EF4-FFF2-40B4-BE49-F238E27FC236}">
                <a16:creationId xmlns:a16="http://schemas.microsoft.com/office/drawing/2014/main" id="{36097665-3413-9A47-9000-2E860147B350}"/>
              </a:ext>
            </a:extLst>
          </p:cNvPr>
          <p:cNvSpPr/>
          <p:nvPr/>
        </p:nvSpPr>
        <p:spPr>
          <a:xfrm rot="5400000">
            <a:off x="4981588" y="2443076"/>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三角形 9">
            <a:extLst>
              <a:ext uri="{FF2B5EF4-FFF2-40B4-BE49-F238E27FC236}">
                <a16:creationId xmlns:a16="http://schemas.microsoft.com/office/drawing/2014/main" id="{2C4C2BD4-4F99-7B41-8263-027488A05BA3}"/>
              </a:ext>
            </a:extLst>
          </p:cNvPr>
          <p:cNvSpPr/>
          <p:nvPr/>
        </p:nvSpPr>
        <p:spPr>
          <a:xfrm rot="5400000">
            <a:off x="4981588" y="3160242"/>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三角形 10">
            <a:extLst>
              <a:ext uri="{FF2B5EF4-FFF2-40B4-BE49-F238E27FC236}">
                <a16:creationId xmlns:a16="http://schemas.microsoft.com/office/drawing/2014/main" id="{39DB8B79-D4B0-B44D-981E-F641EF8BDD57}"/>
              </a:ext>
            </a:extLst>
          </p:cNvPr>
          <p:cNvSpPr/>
          <p:nvPr/>
        </p:nvSpPr>
        <p:spPr>
          <a:xfrm rot="5400000">
            <a:off x="4981588" y="3905206"/>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三角形 11">
            <a:extLst>
              <a:ext uri="{FF2B5EF4-FFF2-40B4-BE49-F238E27FC236}">
                <a16:creationId xmlns:a16="http://schemas.microsoft.com/office/drawing/2014/main" id="{AC6DB1CD-8207-C54F-BCD9-74AA4686C9D5}"/>
              </a:ext>
            </a:extLst>
          </p:cNvPr>
          <p:cNvSpPr/>
          <p:nvPr/>
        </p:nvSpPr>
        <p:spPr>
          <a:xfrm rot="5400000">
            <a:off x="4981588" y="4597550"/>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三角形 12">
            <a:extLst>
              <a:ext uri="{FF2B5EF4-FFF2-40B4-BE49-F238E27FC236}">
                <a16:creationId xmlns:a16="http://schemas.microsoft.com/office/drawing/2014/main" id="{94C35157-6900-F246-8812-AC75E0AC980B}"/>
              </a:ext>
            </a:extLst>
          </p:cNvPr>
          <p:cNvSpPr/>
          <p:nvPr/>
        </p:nvSpPr>
        <p:spPr>
          <a:xfrm rot="5400000">
            <a:off x="4981588" y="5351596"/>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三角形 13">
            <a:extLst>
              <a:ext uri="{FF2B5EF4-FFF2-40B4-BE49-F238E27FC236}">
                <a16:creationId xmlns:a16="http://schemas.microsoft.com/office/drawing/2014/main" id="{6FB844CF-B522-004D-8F14-DC146C17269B}"/>
              </a:ext>
            </a:extLst>
          </p:cNvPr>
          <p:cNvSpPr/>
          <p:nvPr/>
        </p:nvSpPr>
        <p:spPr>
          <a:xfrm rot="5400000">
            <a:off x="4981588" y="6051968"/>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4CD7B48-93FB-EE4E-892F-18EE209CB60A}"/>
              </a:ext>
            </a:extLst>
          </p:cNvPr>
          <p:cNvSpPr txBox="1"/>
          <p:nvPr/>
        </p:nvSpPr>
        <p:spPr>
          <a:xfrm>
            <a:off x="3129423" y="1108948"/>
            <a:ext cx="3416320" cy="369332"/>
          </a:xfrm>
          <a:prstGeom prst="rect">
            <a:avLst/>
          </a:prstGeom>
          <a:noFill/>
        </p:spPr>
        <p:txBody>
          <a:bodyPr wrap="none" rtlCol="0">
            <a:spAutoFit/>
          </a:bodyPr>
          <a:lstStyle/>
          <a:p>
            <a:r>
              <a:rPr kumimoji="1" lang="zh-CN" altLang="en-US" dirty="0"/>
              <a:t>主题</a:t>
            </a:r>
            <a:r>
              <a:rPr kumimoji="1" lang="en-US" altLang="ja-JP" dirty="0"/>
              <a:t>【</a:t>
            </a:r>
            <a:r>
              <a:rPr kumimoji="1" lang="ja-JP" altLang="en-US" dirty="0"/>
              <a:t>　　　　　　　　　　</a:t>
            </a:r>
            <a:r>
              <a:rPr kumimoji="1" lang="en-US" altLang="ja-JP" dirty="0"/>
              <a:t>】</a:t>
            </a:r>
            <a:endParaRPr kumimoji="1" lang="ja-JP" altLang="en-US" dirty="0"/>
          </a:p>
        </p:txBody>
      </p:sp>
    </p:spTree>
    <p:extLst>
      <p:ext uri="{BB962C8B-B14F-4D97-AF65-F5344CB8AC3E}">
        <p14:creationId xmlns:p14="http://schemas.microsoft.com/office/powerpoint/2010/main" val="203263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10</a:t>
            </a:r>
            <a:r>
              <a:rPr lang="ja-JP" altLang="en-US" sz="2600" dirty="0">
                <a:solidFill>
                  <a:schemeClr val="bg1"/>
                </a:solidFill>
              </a:rPr>
              <a:t>　</a:t>
            </a:r>
            <a:r>
              <a:rPr lang="zh-CN" altLang="en-US" sz="2600" dirty="0">
                <a:solidFill>
                  <a:schemeClr val="bg1"/>
                </a:solidFill>
              </a:rPr>
              <a:t>曼陀罗思考法</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40</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中心写上主题，联想到的关键词写在周围的</a:t>
            </a:r>
            <a:r>
              <a:rPr lang="en-US" altLang="zh-CN" sz="1138" dirty="0"/>
              <a:t>8</a:t>
            </a:r>
            <a:r>
              <a:rPr lang="zh-CN" altLang="en-US" sz="1138" dirty="0"/>
              <a:t>个格子里。把它写在新的</a:t>
            </a:r>
            <a:r>
              <a:rPr lang="en-US" altLang="zh-CN" sz="1138" dirty="0"/>
              <a:t>3×3</a:t>
            </a:r>
            <a:r>
              <a:rPr lang="zh-CN" altLang="en-US" sz="1138" dirty="0"/>
              <a:t>方格的中心，然后填满所有的方格。</a:t>
            </a:r>
            <a:endParaRPr lang="en-US" altLang="ja-JP" sz="1138" dirty="0"/>
          </a:p>
        </p:txBody>
      </p:sp>
      <p:graphicFrame>
        <p:nvGraphicFramePr>
          <p:cNvPr id="6" name="表 6">
            <a:extLst>
              <a:ext uri="{FF2B5EF4-FFF2-40B4-BE49-F238E27FC236}">
                <a16:creationId xmlns:a16="http://schemas.microsoft.com/office/drawing/2014/main" id="{A3ED1E54-BCB6-CB44-AB38-5D19DC1191E4}"/>
              </a:ext>
            </a:extLst>
          </p:cNvPr>
          <p:cNvGraphicFramePr>
            <a:graphicFrameLocks noGrp="1"/>
          </p:cNvGraphicFramePr>
          <p:nvPr>
            <p:extLst>
              <p:ext uri="{D42A27DB-BD31-4B8C-83A1-F6EECF244321}">
                <p14:modId xmlns:p14="http://schemas.microsoft.com/office/powerpoint/2010/main" val="2637695322"/>
              </p:ext>
            </p:extLst>
          </p:nvPr>
        </p:nvGraphicFramePr>
        <p:xfrm>
          <a:off x="2255520" y="1066798"/>
          <a:ext cx="5410197" cy="5433057"/>
        </p:xfrm>
        <a:graphic>
          <a:graphicData uri="http://schemas.openxmlformats.org/drawingml/2006/table">
            <a:tbl>
              <a:tblPr>
                <a:tableStyleId>{EB344D84-9AFB-497E-A393-DC336BA19D2E}</a:tableStyleId>
              </a:tblPr>
              <a:tblGrid>
                <a:gridCol w="601133">
                  <a:extLst>
                    <a:ext uri="{9D8B030D-6E8A-4147-A177-3AD203B41FA5}">
                      <a16:colId xmlns:a16="http://schemas.microsoft.com/office/drawing/2014/main" val="3336290757"/>
                    </a:ext>
                  </a:extLst>
                </a:gridCol>
                <a:gridCol w="601133">
                  <a:extLst>
                    <a:ext uri="{9D8B030D-6E8A-4147-A177-3AD203B41FA5}">
                      <a16:colId xmlns:a16="http://schemas.microsoft.com/office/drawing/2014/main" val="1140461187"/>
                    </a:ext>
                  </a:extLst>
                </a:gridCol>
                <a:gridCol w="601133">
                  <a:extLst>
                    <a:ext uri="{9D8B030D-6E8A-4147-A177-3AD203B41FA5}">
                      <a16:colId xmlns:a16="http://schemas.microsoft.com/office/drawing/2014/main" val="969113749"/>
                    </a:ext>
                  </a:extLst>
                </a:gridCol>
                <a:gridCol w="601133">
                  <a:extLst>
                    <a:ext uri="{9D8B030D-6E8A-4147-A177-3AD203B41FA5}">
                      <a16:colId xmlns:a16="http://schemas.microsoft.com/office/drawing/2014/main" val="2716227303"/>
                    </a:ext>
                  </a:extLst>
                </a:gridCol>
                <a:gridCol w="601133">
                  <a:extLst>
                    <a:ext uri="{9D8B030D-6E8A-4147-A177-3AD203B41FA5}">
                      <a16:colId xmlns:a16="http://schemas.microsoft.com/office/drawing/2014/main" val="2570351940"/>
                    </a:ext>
                  </a:extLst>
                </a:gridCol>
                <a:gridCol w="601133">
                  <a:extLst>
                    <a:ext uri="{9D8B030D-6E8A-4147-A177-3AD203B41FA5}">
                      <a16:colId xmlns:a16="http://schemas.microsoft.com/office/drawing/2014/main" val="4046203386"/>
                    </a:ext>
                  </a:extLst>
                </a:gridCol>
                <a:gridCol w="601133">
                  <a:extLst>
                    <a:ext uri="{9D8B030D-6E8A-4147-A177-3AD203B41FA5}">
                      <a16:colId xmlns:a16="http://schemas.microsoft.com/office/drawing/2014/main" val="1369628852"/>
                    </a:ext>
                  </a:extLst>
                </a:gridCol>
                <a:gridCol w="601133">
                  <a:extLst>
                    <a:ext uri="{9D8B030D-6E8A-4147-A177-3AD203B41FA5}">
                      <a16:colId xmlns:a16="http://schemas.microsoft.com/office/drawing/2014/main" val="2409131651"/>
                    </a:ext>
                  </a:extLst>
                </a:gridCol>
                <a:gridCol w="601133">
                  <a:extLst>
                    <a:ext uri="{9D8B030D-6E8A-4147-A177-3AD203B41FA5}">
                      <a16:colId xmlns:a16="http://schemas.microsoft.com/office/drawing/2014/main" val="763864379"/>
                    </a:ext>
                  </a:extLst>
                </a:gridCol>
              </a:tblGrid>
              <a:tr h="603673">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no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no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noFill/>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799746797"/>
                  </a:ext>
                </a:extLst>
              </a:tr>
              <a:tr h="603673">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lumMod val="90000"/>
                      </a:schemeClr>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lumMod val="90000"/>
                      </a:schemeClr>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lumMod val="90000"/>
                      </a:schemeClr>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22562977"/>
                  </a:ext>
                </a:extLst>
              </a:tr>
              <a:tr h="603673">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5760868"/>
                  </a:ext>
                </a:extLst>
              </a:tr>
              <a:tr h="603673">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478022930"/>
                  </a:ext>
                </a:extLst>
              </a:tr>
              <a:tr h="603673">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lumMod val="90000"/>
                      </a:schemeClr>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lumMod val="90000"/>
                      </a:schemeClr>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lumMod val="90000"/>
                      </a:schemeClr>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3220449341"/>
                  </a:ext>
                </a:extLst>
              </a:tr>
              <a:tr h="603673">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2180217"/>
                  </a:ext>
                </a:extLst>
              </a:tr>
              <a:tr h="603673">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4255061023"/>
                  </a:ext>
                </a:extLst>
              </a:tr>
              <a:tr h="603673">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lumMod val="90000"/>
                      </a:schemeClr>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lumMod val="90000"/>
                      </a:schemeClr>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lumMod val="90000"/>
                      </a:schemeClr>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610822602"/>
                  </a:ext>
                </a:extLst>
              </a:tr>
              <a:tr h="603673">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900"/>
                    </a:p>
                  </a:txBody>
                  <a:tcPr anchor="ctr">
                    <a:lnL w="12700" cap="flat" cmpd="sng" algn="ctr">
                      <a:solidFill>
                        <a:schemeClr val="tx1"/>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kumimoji="1" lang="ja-JP" altLang="en-US" sz="900"/>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23207164"/>
                  </a:ext>
                </a:extLst>
              </a:tr>
            </a:tbl>
          </a:graphicData>
        </a:graphic>
      </p:graphicFrame>
    </p:spTree>
    <p:extLst>
      <p:ext uri="{BB962C8B-B14F-4D97-AF65-F5344CB8AC3E}">
        <p14:creationId xmlns:p14="http://schemas.microsoft.com/office/powerpoint/2010/main" val="3555360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11</a:t>
            </a:r>
            <a:r>
              <a:rPr lang="ja-JP" altLang="en-US" sz="2600" dirty="0">
                <a:solidFill>
                  <a:schemeClr val="bg1"/>
                </a:solidFill>
              </a:rPr>
              <a:t>　</a:t>
            </a:r>
            <a:r>
              <a:rPr lang="zh-CN" altLang="en-US" sz="2600" dirty="0">
                <a:solidFill>
                  <a:schemeClr val="bg1"/>
                </a:solidFill>
              </a:rPr>
              <a:t>利弊均衡</a:t>
            </a:r>
            <a:r>
              <a:rPr lang="ja-JP" altLang="en-US" sz="2600" dirty="0">
                <a:solidFill>
                  <a:schemeClr val="bg1"/>
                </a:solidFill>
              </a:rPr>
              <a:t>表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44</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将创意的正面意见写左栏，负面意见写在右栏，分别用“◎〇△”等符号和“</a:t>
            </a:r>
            <a:r>
              <a:rPr lang="en-US" altLang="zh-CN" sz="1138" dirty="0"/>
              <a:t>1 ~ 5”</a:t>
            </a:r>
            <a:r>
              <a:rPr lang="zh-CN" altLang="en-US" sz="1138" dirty="0"/>
              <a:t>等数字进行评价。</a:t>
            </a:r>
            <a:endParaRPr lang="en-US" altLang="ja-JP" sz="1138" dirty="0"/>
          </a:p>
        </p:txBody>
      </p:sp>
      <p:graphicFrame>
        <p:nvGraphicFramePr>
          <p:cNvPr id="6" name="表 6">
            <a:extLst>
              <a:ext uri="{FF2B5EF4-FFF2-40B4-BE49-F238E27FC236}">
                <a16:creationId xmlns:a16="http://schemas.microsoft.com/office/drawing/2014/main" id="{68DC38D2-B428-3849-BA5D-D40806A969FF}"/>
              </a:ext>
            </a:extLst>
          </p:cNvPr>
          <p:cNvGraphicFramePr>
            <a:graphicFrameLocks noGrp="1"/>
          </p:cNvGraphicFramePr>
          <p:nvPr>
            <p:extLst>
              <p:ext uri="{D42A27DB-BD31-4B8C-83A1-F6EECF244321}">
                <p14:modId xmlns:p14="http://schemas.microsoft.com/office/powerpoint/2010/main" val="2087691203"/>
              </p:ext>
            </p:extLst>
          </p:nvPr>
        </p:nvGraphicFramePr>
        <p:xfrm>
          <a:off x="354051" y="1066800"/>
          <a:ext cx="9197896" cy="5433064"/>
        </p:xfrm>
        <a:graphic>
          <a:graphicData uri="http://schemas.openxmlformats.org/drawingml/2006/table">
            <a:tbl>
              <a:tblPr>
                <a:tableStyleId>{1FECB4D8-DB02-4DC6-A0A2-4F2EBAE1DC90}</a:tableStyleId>
              </a:tblPr>
              <a:tblGrid>
                <a:gridCol w="4598948">
                  <a:extLst>
                    <a:ext uri="{9D8B030D-6E8A-4147-A177-3AD203B41FA5}">
                      <a16:colId xmlns:a16="http://schemas.microsoft.com/office/drawing/2014/main" val="229605119"/>
                    </a:ext>
                  </a:extLst>
                </a:gridCol>
                <a:gridCol w="4598948">
                  <a:extLst>
                    <a:ext uri="{9D8B030D-6E8A-4147-A177-3AD203B41FA5}">
                      <a16:colId xmlns:a16="http://schemas.microsoft.com/office/drawing/2014/main" val="3434679271"/>
                    </a:ext>
                  </a:extLst>
                </a:gridCol>
              </a:tblGrid>
              <a:tr h="679133">
                <a:tc>
                  <a:txBody>
                    <a:bodyPr/>
                    <a:lstStyle/>
                    <a:p>
                      <a:pPr algn="ctr"/>
                      <a:r>
                        <a:rPr kumimoji="1" lang="zh-CN" altLang="en-US" sz="1800" b="0" dirty="0">
                          <a:solidFill>
                            <a:schemeClr val="tx1"/>
                          </a:solidFill>
                        </a:rPr>
                        <a:t>利</a:t>
                      </a:r>
                      <a:r>
                        <a:rPr kumimoji="1" lang="ja-JP" altLang="en-US" sz="1800" b="0" dirty="0">
                          <a:solidFill>
                            <a:schemeClr val="tx1"/>
                          </a:solidFill>
                        </a:rPr>
                        <a:t>（</a:t>
                      </a:r>
                      <a:r>
                        <a:rPr kumimoji="1" lang="zh-CN" altLang="en-US" sz="1800" b="0" dirty="0">
                          <a:solidFill>
                            <a:schemeClr val="tx1"/>
                          </a:solidFill>
                        </a:rPr>
                        <a:t>赞成</a:t>
                      </a:r>
                      <a:r>
                        <a:rPr kumimoji="1" lang="ja-JP" altLang="en-US" sz="1800" b="0" dirty="0">
                          <a:solidFill>
                            <a:schemeClr val="tx1"/>
                          </a:solidFill>
                        </a:rPr>
                        <a:t>）</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sz="1800" b="0" dirty="0">
                          <a:solidFill>
                            <a:schemeClr val="tx1"/>
                          </a:solidFill>
                        </a:rPr>
                        <a:t>弊</a:t>
                      </a:r>
                      <a:r>
                        <a:rPr kumimoji="1" lang="ja-JP" altLang="en-US" sz="1800" b="0" dirty="0">
                          <a:solidFill>
                            <a:schemeClr val="tx1"/>
                          </a:solidFill>
                        </a:rPr>
                        <a:t>（</a:t>
                      </a:r>
                      <a:r>
                        <a:rPr kumimoji="1" lang="zh-CN" altLang="en-US" sz="1800" b="0" dirty="0">
                          <a:solidFill>
                            <a:schemeClr val="tx1"/>
                          </a:solidFill>
                        </a:rPr>
                        <a:t>反对</a:t>
                      </a:r>
                      <a:r>
                        <a:rPr kumimoji="1" lang="ja-JP" altLang="en-US" sz="1800" b="0" dirty="0">
                          <a:solidFill>
                            <a:schemeClr val="tx1"/>
                          </a:solidFill>
                        </a:rPr>
                        <a:t>）</a:t>
                      </a:r>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41733108"/>
                  </a:ext>
                </a:extLst>
              </a:tr>
              <a:tr h="679133">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tcPr>
                </a:tc>
                <a:tc>
                  <a:txBody>
                    <a:bodyPr/>
                    <a:lstStyle/>
                    <a:p>
                      <a:endParaRPr kumimoji="1" lang="ja-JP" altLang="en-US"/>
                    </a:p>
                  </a:txBody>
                  <a:tcPr>
                    <a:lnL w="12700" cap="flat" cmpd="sng" algn="ctr">
                      <a:solidFill>
                        <a:schemeClr val="accent3"/>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tcPr>
                </a:tc>
                <a:extLst>
                  <a:ext uri="{0D108BD9-81ED-4DB2-BD59-A6C34878D82A}">
                    <a16:rowId xmlns:a16="http://schemas.microsoft.com/office/drawing/2014/main" val="539423375"/>
                  </a:ext>
                </a:extLst>
              </a:tr>
              <a:tr h="679133">
                <a:tc>
                  <a:txBody>
                    <a:bodyPr/>
                    <a:lstStyle/>
                    <a:p>
                      <a:endParaRPr kumimoji="1" lang="ja-JP" altLang="en-US"/>
                    </a:p>
                  </a:txBody>
                  <a:tcPr>
                    <a:lnR w="12700" cap="flat" cmpd="sng" algn="ctr">
                      <a:solidFill>
                        <a:schemeClr val="accent3"/>
                      </a:solidFill>
                      <a:prstDash val="solid"/>
                      <a:round/>
                      <a:headEnd type="none" w="med" len="med"/>
                      <a:tailEnd type="none" w="med" len="med"/>
                    </a:lnR>
                  </a:tcPr>
                </a:tc>
                <a:tc>
                  <a:txBody>
                    <a:bodyPr/>
                    <a:lstStyle/>
                    <a:p>
                      <a:endParaRPr kumimoji="1" lang="en-US" altLang="ja-JP" dirty="0"/>
                    </a:p>
                    <a:p>
                      <a:endParaRPr kumimoji="1" lang="ja-JP" altLang="en-US"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3686316422"/>
                  </a:ext>
                </a:extLst>
              </a:tr>
              <a:tr h="679133">
                <a:tc>
                  <a:txBody>
                    <a:bodyPr/>
                    <a:lstStyle/>
                    <a:p>
                      <a:endParaRPr kumimoji="1" lang="ja-JP" altLang="en-US"/>
                    </a:p>
                  </a:txBody>
                  <a:tcPr>
                    <a:lnR w="12700" cap="flat" cmpd="sng" algn="ctr">
                      <a:solidFill>
                        <a:schemeClr val="accent3"/>
                      </a:solidFill>
                      <a:prstDash val="solid"/>
                      <a:round/>
                      <a:headEnd type="none" w="med" len="med"/>
                      <a:tailEnd type="none" w="med" len="med"/>
                    </a:lnR>
                  </a:tcPr>
                </a:tc>
                <a:tc>
                  <a:txBody>
                    <a:bodyPr/>
                    <a:lstStyle/>
                    <a:p>
                      <a:endParaRPr kumimoji="1" lang="ja-JP" altLang="en-US"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4060706547"/>
                  </a:ext>
                </a:extLst>
              </a:tr>
              <a:tr h="679133">
                <a:tc>
                  <a:txBody>
                    <a:bodyPr/>
                    <a:lstStyle/>
                    <a:p>
                      <a:endParaRPr kumimoji="1" lang="ja-JP" altLang="en-US"/>
                    </a:p>
                  </a:txBody>
                  <a:tcPr>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3615292507"/>
                  </a:ext>
                </a:extLst>
              </a:tr>
              <a:tr h="679133">
                <a:tc>
                  <a:txBody>
                    <a:bodyPr/>
                    <a:lstStyle/>
                    <a:p>
                      <a:endParaRPr kumimoji="1" lang="ja-JP" altLang="en-US"/>
                    </a:p>
                  </a:txBody>
                  <a:tcPr>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834674118"/>
                  </a:ext>
                </a:extLst>
              </a:tr>
              <a:tr h="679133">
                <a:tc>
                  <a:txBody>
                    <a:bodyPr/>
                    <a:lstStyle/>
                    <a:p>
                      <a:endParaRPr kumimoji="1" lang="ja-JP" altLang="en-US"/>
                    </a:p>
                  </a:txBody>
                  <a:tcPr>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361145110"/>
                  </a:ext>
                </a:extLst>
              </a:tr>
              <a:tr h="679133">
                <a:tc>
                  <a:txBody>
                    <a:bodyPr/>
                    <a:lstStyle/>
                    <a:p>
                      <a:endParaRPr kumimoji="1" lang="ja-JP" altLang="en-US"/>
                    </a:p>
                  </a:txBody>
                  <a:tcPr>
                    <a:lnR w="12700" cap="flat" cmpd="sng" algn="ctr">
                      <a:solidFill>
                        <a:schemeClr val="accent3"/>
                      </a:solidFill>
                      <a:prstDash val="solid"/>
                      <a:round/>
                      <a:headEnd type="none" w="med" len="med"/>
                      <a:tailEnd type="none" w="med" len="med"/>
                    </a:lnR>
                  </a:tcPr>
                </a:tc>
                <a:tc>
                  <a:txBody>
                    <a:bodyPr/>
                    <a:lstStyle/>
                    <a:p>
                      <a:endParaRPr kumimoji="1" lang="ja-JP" altLang="en-US"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648140701"/>
                  </a:ext>
                </a:extLst>
              </a:tr>
            </a:tbl>
          </a:graphicData>
        </a:graphic>
      </p:graphicFrame>
    </p:spTree>
    <p:extLst>
      <p:ext uri="{BB962C8B-B14F-4D97-AF65-F5344CB8AC3E}">
        <p14:creationId xmlns:p14="http://schemas.microsoft.com/office/powerpoint/2010/main" val="437075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12</a:t>
            </a:r>
            <a:r>
              <a:rPr lang="ja-JP" altLang="en-US" sz="2600" dirty="0">
                <a:solidFill>
                  <a:schemeClr val="bg1"/>
                </a:solidFill>
              </a:rPr>
              <a:t>　</a:t>
            </a:r>
            <a:r>
              <a:rPr lang="zh-CN" altLang="en-US" sz="2600" dirty="0">
                <a:solidFill>
                  <a:schemeClr val="bg1"/>
                </a:solidFill>
              </a:rPr>
              <a:t>支付矩阵</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48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将多个创意放在两轴矩阵中。评价标准也可以根据情况改变。</a:t>
            </a:r>
            <a:endParaRPr lang="en-US" altLang="ja-JP" sz="1138" dirty="0"/>
          </a:p>
        </p:txBody>
      </p:sp>
      <p:sp>
        <p:nvSpPr>
          <p:cNvPr id="9" name="上下矢印 8">
            <a:extLst>
              <a:ext uri="{FF2B5EF4-FFF2-40B4-BE49-F238E27FC236}">
                <a16:creationId xmlns:a16="http://schemas.microsoft.com/office/drawing/2014/main" id="{6400748D-0C4E-EF44-9184-05C6A40AE446}"/>
              </a:ext>
            </a:extLst>
          </p:cNvPr>
          <p:cNvSpPr/>
          <p:nvPr/>
        </p:nvSpPr>
        <p:spPr>
          <a:xfrm flipH="1" flipV="1">
            <a:off x="1684639" y="1333138"/>
            <a:ext cx="350036" cy="4473302"/>
          </a:xfrm>
          <a:prstGeom prst="up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B5CE3F2C-39EC-914A-B358-5FFFD41A96A5}"/>
              </a:ext>
            </a:extLst>
          </p:cNvPr>
          <p:cNvSpPr txBox="1"/>
          <p:nvPr/>
        </p:nvSpPr>
        <p:spPr>
          <a:xfrm>
            <a:off x="1317085" y="3429000"/>
            <a:ext cx="461665" cy="1165860"/>
          </a:xfrm>
          <a:prstGeom prst="rect">
            <a:avLst/>
          </a:prstGeom>
          <a:noFill/>
        </p:spPr>
        <p:txBody>
          <a:bodyPr vert="eaVert" wrap="square" rtlCol="0">
            <a:spAutoFit/>
          </a:bodyPr>
          <a:lstStyle/>
          <a:p>
            <a:r>
              <a:rPr kumimoji="1" lang="zh-CN" altLang="en-US" dirty="0"/>
              <a:t>效果</a:t>
            </a:r>
            <a:endParaRPr kumimoji="1" lang="ja-JP" altLang="en-US" dirty="0"/>
          </a:p>
        </p:txBody>
      </p:sp>
      <p:sp>
        <p:nvSpPr>
          <p:cNvPr id="13" name="テキスト ボックス 12">
            <a:extLst>
              <a:ext uri="{FF2B5EF4-FFF2-40B4-BE49-F238E27FC236}">
                <a16:creationId xmlns:a16="http://schemas.microsoft.com/office/drawing/2014/main" id="{09B66461-1B68-7046-B381-1F0034AFEFF1}"/>
              </a:ext>
            </a:extLst>
          </p:cNvPr>
          <p:cNvSpPr txBox="1"/>
          <p:nvPr/>
        </p:nvSpPr>
        <p:spPr>
          <a:xfrm>
            <a:off x="1677556" y="1094180"/>
            <a:ext cx="364202" cy="307777"/>
          </a:xfrm>
          <a:prstGeom prst="rect">
            <a:avLst/>
          </a:prstGeom>
          <a:noFill/>
        </p:spPr>
        <p:txBody>
          <a:bodyPr wrap="none" rtlCol="0">
            <a:spAutoFit/>
          </a:bodyPr>
          <a:lstStyle/>
          <a:p>
            <a:r>
              <a:rPr kumimoji="1" lang="ja-JP" altLang="en-US" sz="1400"/>
              <a:t>高</a:t>
            </a:r>
          </a:p>
        </p:txBody>
      </p:sp>
      <p:sp>
        <p:nvSpPr>
          <p:cNvPr id="15" name="テキスト ボックス 14">
            <a:extLst>
              <a:ext uri="{FF2B5EF4-FFF2-40B4-BE49-F238E27FC236}">
                <a16:creationId xmlns:a16="http://schemas.microsoft.com/office/drawing/2014/main" id="{7BC24FEF-5793-504C-B864-44D36E1C0E1B}"/>
              </a:ext>
            </a:extLst>
          </p:cNvPr>
          <p:cNvSpPr txBox="1"/>
          <p:nvPr/>
        </p:nvSpPr>
        <p:spPr>
          <a:xfrm>
            <a:off x="1677556" y="5745480"/>
            <a:ext cx="364202" cy="307777"/>
          </a:xfrm>
          <a:prstGeom prst="rect">
            <a:avLst/>
          </a:prstGeom>
          <a:noFill/>
        </p:spPr>
        <p:txBody>
          <a:bodyPr wrap="none" rtlCol="0">
            <a:spAutoFit/>
          </a:bodyPr>
          <a:lstStyle/>
          <a:p>
            <a:r>
              <a:rPr kumimoji="1" lang="ja-JP" altLang="en-US" sz="1400"/>
              <a:t>低</a:t>
            </a:r>
          </a:p>
        </p:txBody>
      </p:sp>
      <p:sp>
        <p:nvSpPr>
          <p:cNvPr id="20" name="上下矢印 19">
            <a:extLst>
              <a:ext uri="{FF2B5EF4-FFF2-40B4-BE49-F238E27FC236}">
                <a16:creationId xmlns:a16="http://schemas.microsoft.com/office/drawing/2014/main" id="{01ECC6FA-49DF-1847-BB73-26F99437F3B5}"/>
              </a:ext>
            </a:extLst>
          </p:cNvPr>
          <p:cNvSpPr/>
          <p:nvPr/>
        </p:nvSpPr>
        <p:spPr>
          <a:xfrm rot="5400000" flipH="1" flipV="1">
            <a:off x="4252579" y="3864889"/>
            <a:ext cx="350036" cy="4473302"/>
          </a:xfrm>
          <a:prstGeom prst="up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BA2CD0C4-8DB8-3641-A24D-2746217C6D24}"/>
              </a:ext>
            </a:extLst>
          </p:cNvPr>
          <p:cNvSpPr txBox="1"/>
          <p:nvPr/>
        </p:nvSpPr>
        <p:spPr>
          <a:xfrm>
            <a:off x="1900141" y="5968781"/>
            <a:ext cx="364202" cy="307777"/>
          </a:xfrm>
          <a:prstGeom prst="rect">
            <a:avLst/>
          </a:prstGeom>
          <a:noFill/>
        </p:spPr>
        <p:txBody>
          <a:bodyPr wrap="none" rtlCol="0">
            <a:spAutoFit/>
          </a:bodyPr>
          <a:lstStyle/>
          <a:p>
            <a:r>
              <a:rPr kumimoji="1" lang="ja-JP" altLang="en-US" sz="1400"/>
              <a:t>低</a:t>
            </a:r>
          </a:p>
        </p:txBody>
      </p:sp>
      <p:sp>
        <p:nvSpPr>
          <p:cNvPr id="23" name="テキスト ボックス 22">
            <a:extLst>
              <a:ext uri="{FF2B5EF4-FFF2-40B4-BE49-F238E27FC236}">
                <a16:creationId xmlns:a16="http://schemas.microsoft.com/office/drawing/2014/main" id="{C3108365-C618-9147-B64E-7A7C5D94C39D}"/>
              </a:ext>
            </a:extLst>
          </p:cNvPr>
          <p:cNvSpPr txBox="1"/>
          <p:nvPr/>
        </p:nvSpPr>
        <p:spPr>
          <a:xfrm>
            <a:off x="6590851" y="5974789"/>
            <a:ext cx="364202" cy="307777"/>
          </a:xfrm>
          <a:prstGeom prst="rect">
            <a:avLst/>
          </a:prstGeom>
          <a:noFill/>
        </p:spPr>
        <p:txBody>
          <a:bodyPr wrap="none" rtlCol="0">
            <a:spAutoFit/>
          </a:bodyPr>
          <a:lstStyle/>
          <a:p>
            <a:r>
              <a:rPr kumimoji="1" lang="ja-JP" altLang="en-US" sz="1400"/>
              <a:t>高</a:t>
            </a:r>
          </a:p>
        </p:txBody>
      </p:sp>
      <p:grpSp>
        <p:nvGrpSpPr>
          <p:cNvPr id="4" name="グループ化 3">
            <a:extLst>
              <a:ext uri="{FF2B5EF4-FFF2-40B4-BE49-F238E27FC236}">
                <a16:creationId xmlns:a16="http://schemas.microsoft.com/office/drawing/2014/main" id="{EB5043E5-5412-5440-96CA-03233E8014B0}"/>
              </a:ext>
            </a:extLst>
          </p:cNvPr>
          <p:cNvGrpSpPr/>
          <p:nvPr/>
        </p:nvGrpSpPr>
        <p:grpSpPr>
          <a:xfrm>
            <a:off x="2048841" y="1150620"/>
            <a:ext cx="4802478" cy="4754880"/>
            <a:chOff x="2048841" y="1150620"/>
            <a:chExt cx="4802478" cy="4754880"/>
          </a:xfrm>
        </p:grpSpPr>
        <p:sp>
          <p:nvSpPr>
            <p:cNvPr id="24" name="正方形/長方形 23">
              <a:extLst>
                <a:ext uri="{FF2B5EF4-FFF2-40B4-BE49-F238E27FC236}">
                  <a16:creationId xmlns:a16="http://schemas.microsoft.com/office/drawing/2014/main" id="{7F662B0A-3822-FB4B-99EE-815E0BFDC3EE}"/>
                </a:ext>
              </a:extLst>
            </p:cNvPr>
            <p:cNvSpPr/>
            <p:nvPr/>
          </p:nvSpPr>
          <p:spPr>
            <a:xfrm>
              <a:off x="2048841" y="115062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效果</a:t>
              </a:r>
              <a:r>
                <a:rPr kumimoji="1" lang="ja-JP" altLang="en-US" dirty="0">
                  <a:solidFill>
                    <a:schemeClr val="accent3">
                      <a:lumMod val="75000"/>
                    </a:schemeClr>
                  </a:solidFill>
                </a:rPr>
                <a:t>：高</a:t>
              </a:r>
              <a:endParaRPr kumimoji="1" lang="en-US" altLang="ja-JP" dirty="0">
                <a:solidFill>
                  <a:schemeClr val="accent3">
                    <a:lumMod val="75000"/>
                  </a:schemeClr>
                </a:solidFill>
              </a:endParaRPr>
            </a:p>
            <a:p>
              <a:r>
                <a:rPr kumimoji="1" lang="zh-CN" altLang="en-US" dirty="0">
                  <a:solidFill>
                    <a:schemeClr val="accent3">
                      <a:lumMod val="75000"/>
                    </a:schemeClr>
                  </a:solidFill>
                </a:rPr>
                <a:t>可行</a:t>
              </a:r>
              <a:r>
                <a:rPr kumimoji="1" lang="ja-JP" altLang="en-US" dirty="0">
                  <a:solidFill>
                    <a:schemeClr val="accent3">
                      <a:lumMod val="75000"/>
                    </a:schemeClr>
                  </a:solidFill>
                </a:rPr>
                <a:t>性：低</a:t>
              </a:r>
            </a:p>
          </p:txBody>
        </p:sp>
        <p:sp>
          <p:nvSpPr>
            <p:cNvPr id="26" name="正方形/長方形 25">
              <a:extLst>
                <a:ext uri="{FF2B5EF4-FFF2-40B4-BE49-F238E27FC236}">
                  <a16:creationId xmlns:a16="http://schemas.microsoft.com/office/drawing/2014/main" id="{0057305A-3D1C-7B42-8771-4E77FA585C8D}"/>
                </a:ext>
              </a:extLst>
            </p:cNvPr>
            <p:cNvSpPr/>
            <p:nvPr/>
          </p:nvSpPr>
          <p:spPr>
            <a:xfrm>
              <a:off x="4450080" y="115062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效果</a:t>
              </a:r>
              <a:r>
                <a:rPr kumimoji="1" lang="ja-JP" altLang="en-US" dirty="0">
                  <a:solidFill>
                    <a:schemeClr val="accent3">
                      <a:lumMod val="75000"/>
                    </a:schemeClr>
                  </a:solidFill>
                </a:rPr>
                <a:t>：高</a:t>
              </a:r>
              <a:endParaRPr kumimoji="1" lang="en-US" altLang="ja-JP" dirty="0">
                <a:solidFill>
                  <a:schemeClr val="accent3">
                    <a:lumMod val="75000"/>
                  </a:schemeClr>
                </a:solidFill>
              </a:endParaRPr>
            </a:p>
            <a:p>
              <a:r>
                <a:rPr kumimoji="1" lang="zh-CN" altLang="en-US" dirty="0">
                  <a:solidFill>
                    <a:schemeClr val="accent3">
                      <a:lumMod val="75000"/>
                    </a:schemeClr>
                  </a:solidFill>
                </a:rPr>
                <a:t>可行</a:t>
              </a:r>
              <a:r>
                <a:rPr kumimoji="1" lang="ja-JP" altLang="en-US" dirty="0">
                  <a:solidFill>
                    <a:schemeClr val="accent3">
                      <a:lumMod val="75000"/>
                    </a:schemeClr>
                  </a:solidFill>
                </a:rPr>
                <a:t>性：高</a:t>
              </a:r>
            </a:p>
          </p:txBody>
        </p:sp>
        <p:sp>
          <p:nvSpPr>
            <p:cNvPr id="27" name="正方形/長方形 26">
              <a:extLst>
                <a:ext uri="{FF2B5EF4-FFF2-40B4-BE49-F238E27FC236}">
                  <a16:creationId xmlns:a16="http://schemas.microsoft.com/office/drawing/2014/main" id="{B2494A73-CC7E-A846-AFF9-758DD5497B4A}"/>
                </a:ext>
              </a:extLst>
            </p:cNvPr>
            <p:cNvSpPr/>
            <p:nvPr/>
          </p:nvSpPr>
          <p:spPr>
            <a:xfrm>
              <a:off x="2048841" y="352806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效果</a:t>
              </a:r>
              <a:r>
                <a:rPr kumimoji="1" lang="ja-JP" altLang="en-US" dirty="0">
                  <a:solidFill>
                    <a:schemeClr val="accent3">
                      <a:lumMod val="75000"/>
                    </a:schemeClr>
                  </a:solidFill>
                </a:rPr>
                <a:t>：</a:t>
              </a:r>
              <a:r>
                <a:rPr kumimoji="1" lang="zh-CN" altLang="en-US" dirty="0">
                  <a:solidFill>
                    <a:schemeClr val="accent3">
                      <a:lumMod val="75000"/>
                    </a:schemeClr>
                  </a:solidFill>
                </a:rPr>
                <a:t>低</a:t>
              </a:r>
              <a:endParaRPr kumimoji="1" lang="en-US" altLang="zh-CN" dirty="0">
                <a:solidFill>
                  <a:schemeClr val="accent3">
                    <a:lumMod val="75000"/>
                  </a:schemeClr>
                </a:solidFill>
              </a:endParaRPr>
            </a:p>
            <a:p>
              <a:r>
                <a:rPr kumimoji="1" lang="zh-CN" altLang="en-US" dirty="0">
                  <a:solidFill>
                    <a:schemeClr val="accent3">
                      <a:lumMod val="75000"/>
                    </a:schemeClr>
                  </a:solidFill>
                </a:rPr>
                <a:t>可行</a:t>
              </a:r>
              <a:r>
                <a:rPr kumimoji="1" lang="ja-JP" altLang="en-US" dirty="0">
                  <a:solidFill>
                    <a:schemeClr val="accent3">
                      <a:lumMod val="75000"/>
                    </a:schemeClr>
                  </a:solidFill>
                </a:rPr>
                <a:t>性：低</a:t>
              </a:r>
            </a:p>
          </p:txBody>
        </p:sp>
        <p:sp>
          <p:nvSpPr>
            <p:cNvPr id="28" name="正方形/長方形 27">
              <a:extLst>
                <a:ext uri="{FF2B5EF4-FFF2-40B4-BE49-F238E27FC236}">
                  <a16:creationId xmlns:a16="http://schemas.microsoft.com/office/drawing/2014/main" id="{DB9AD99D-3C44-304C-A524-1C842280166B}"/>
                </a:ext>
              </a:extLst>
            </p:cNvPr>
            <p:cNvSpPr/>
            <p:nvPr/>
          </p:nvSpPr>
          <p:spPr>
            <a:xfrm>
              <a:off x="4450079" y="3524949"/>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效果</a:t>
              </a:r>
              <a:r>
                <a:rPr kumimoji="1" lang="ja-JP" altLang="en-US" dirty="0">
                  <a:solidFill>
                    <a:schemeClr val="accent3">
                      <a:lumMod val="75000"/>
                    </a:schemeClr>
                  </a:solidFill>
                </a:rPr>
                <a:t>：</a:t>
              </a:r>
              <a:r>
                <a:rPr kumimoji="1" lang="zh-CN" altLang="en-US" dirty="0">
                  <a:solidFill>
                    <a:schemeClr val="accent3">
                      <a:lumMod val="75000"/>
                    </a:schemeClr>
                  </a:solidFill>
                </a:rPr>
                <a:t>低</a:t>
              </a:r>
              <a:endParaRPr kumimoji="1" lang="en-US" altLang="zh-CN" dirty="0">
                <a:solidFill>
                  <a:schemeClr val="accent3">
                    <a:lumMod val="75000"/>
                  </a:schemeClr>
                </a:solidFill>
              </a:endParaRPr>
            </a:p>
            <a:p>
              <a:r>
                <a:rPr kumimoji="1" lang="zh-CN" altLang="en-US" dirty="0">
                  <a:solidFill>
                    <a:schemeClr val="accent3">
                      <a:lumMod val="75000"/>
                    </a:schemeClr>
                  </a:solidFill>
                </a:rPr>
                <a:t>可行</a:t>
              </a:r>
              <a:r>
                <a:rPr kumimoji="1" lang="ja-JP" altLang="en-US" dirty="0">
                  <a:solidFill>
                    <a:schemeClr val="accent3">
                      <a:lumMod val="75000"/>
                    </a:schemeClr>
                  </a:solidFill>
                </a:rPr>
                <a:t>性：高</a:t>
              </a:r>
            </a:p>
          </p:txBody>
        </p:sp>
      </p:grpSp>
      <p:sp>
        <p:nvSpPr>
          <p:cNvPr id="29" name="テキスト ボックス 28">
            <a:extLst>
              <a:ext uri="{FF2B5EF4-FFF2-40B4-BE49-F238E27FC236}">
                <a16:creationId xmlns:a16="http://schemas.microsoft.com/office/drawing/2014/main" id="{85FE0DE8-9BA1-BF41-8825-BC3B084C23B2}"/>
              </a:ext>
            </a:extLst>
          </p:cNvPr>
          <p:cNvSpPr txBox="1"/>
          <p:nvPr/>
        </p:nvSpPr>
        <p:spPr>
          <a:xfrm>
            <a:off x="4011497" y="6191374"/>
            <a:ext cx="877163" cy="369332"/>
          </a:xfrm>
          <a:prstGeom prst="rect">
            <a:avLst/>
          </a:prstGeom>
          <a:noFill/>
        </p:spPr>
        <p:txBody>
          <a:bodyPr wrap="none" rtlCol="0">
            <a:spAutoFit/>
          </a:bodyPr>
          <a:lstStyle/>
          <a:p>
            <a:r>
              <a:rPr kumimoji="1" lang="zh-CN" altLang="en-US" dirty="0"/>
              <a:t>可行</a:t>
            </a:r>
            <a:r>
              <a:rPr kumimoji="1" lang="ja-JP" altLang="en-US" dirty="0"/>
              <a:t>性</a:t>
            </a:r>
          </a:p>
        </p:txBody>
      </p:sp>
    </p:spTree>
    <p:extLst>
      <p:ext uri="{BB962C8B-B14F-4D97-AF65-F5344CB8AC3E}">
        <p14:creationId xmlns:p14="http://schemas.microsoft.com/office/powerpoint/2010/main" val="1644998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200" dirty="0">
                <a:solidFill>
                  <a:schemeClr val="bg1"/>
                </a:solidFill>
              </a:rPr>
              <a:t>13</a:t>
            </a:r>
            <a:r>
              <a:rPr lang="ja-JP" altLang="en-US" sz="2200" dirty="0">
                <a:solidFill>
                  <a:schemeClr val="bg1"/>
                </a:solidFill>
              </a:rPr>
              <a:t>　</a:t>
            </a:r>
            <a:r>
              <a:rPr lang="zh-CN" altLang="en-US" sz="2200" dirty="0">
                <a:solidFill>
                  <a:schemeClr val="bg1"/>
                </a:solidFill>
              </a:rPr>
              <a:t>决策矩阵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52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填写评价标准、权重</a:t>
            </a:r>
            <a:r>
              <a:rPr lang="en-US" altLang="zh-CN" sz="1138" dirty="0"/>
              <a:t>(</a:t>
            </a:r>
            <a:r>
              <a:rPr lang="zh-CN" altLang="en-US" sz="1138" dirty="0"/>
              <a:t>倍率</a:t>
            </a:r>
            <a:r>
              <a:rPr lang="en-US" altLang="zh-CN" sz="1138" dirty="0"/>
              <a:t>)</a:t>
            </a:r>
            <a:r>
              <a:rPr lang="zh-CN" altLang="en-US" sz="1138" dirty="0"/>
              <a:t>、创意，给每个创意打分后，填写合计分数。</a:t>
            </a:r>
            <a:endParaRPr lang="en-US" altLang="ja-JP" sz="1138" dirty="0"/>
          </a:p>
        </p:txBody>
      </p:sp>
      <p:graphicFrame>
        <p:nvGraphicFramePr>
          <p:cNvPr id="6" name="表 6">
            <a:extLst>
              <a:ext uri="{FF2B5EF4-FFF2-40B4-BE49-F238E27FC236}">
                <a16:creationId xmlns:a16="http://schemas.microsoft.com/office/drawing/2014/main" id="{27FFA6C6-5F6D-7940-B973-9A140CC75E65}"/>
              </a:ext>
            </a:extLst>
          </p:cNvPr>
          <p:cNvGraphicFramePr>
            <a:graphicFrameLocks noGrp="1"/>
          </p:cNvGraphicFramePr>
          <p:nvPr>
            <p:extLst>
              <p:ext uri="{D42A27DB-BD31-4B8C-83A1-F6EECF244321}">
                <p14:modId xmlns:p14="http://schemas.microsoft.com/office/powerpoint/2010/main" val="2539489919"/>
              </p:ext>
            </p:extLst>
          </p:nvPr>
        </p:nvGraphicFramePr>
        <p:xfrm>
          <a:off x="354051" y="1066800"/>
          <a:ext cx="9197895" cy="5433057"/>
        </p:xfrm>
        <a:graphic>
          <a:graphicData uri="http://schemas.openxmlformats.org/drawingml/2006/table">
            <a:tbl>
              <a:tblPr bandRow="1">
                <a:tableStyleId>{0505E3EF-67EA-436B-97B2-0124C06EBD24}</a:tableStyleId>
              </a:tblPr>
              <a:tblGrid>
                <a:gridCol w="1672868">
                  <a:extLst>
                    <a:ext uri="{9D8B030D-6E8A-4147-A177-3AD203B41FA5}">
                      <a16:colId xmlns:a16="http://schemas.microsoft.com/office/drawing/2014/main" val="683751849"/>
                    </a:ext>
                  </a:extLst>
                </a:gridCol>
                <a:gridCol w="1089660">
                  <a:extLst>
                    <a:ext uri="{9D8B030D-6E8A-4147-A177-3AD203B41FA5}">
                      <a16:colId xmlns:a16="http://schemas.microsoft.com/office/drawing/2014/main" val="3201035323"/>
                    </a:ext>
                  </a:extLst>
                </a:gridCol>
                <a:gridCol w="1112520">
                  <a:extLst>
                    <a:ext uri="{9D8B030D-6E8A-4147-A177-3AD203B41FA5}">
                      <a16:colId xmlns:a16="http://schemas.microsoft.com/office/drawing/2014/main" val="808251961"/>
                    </a:ext>
                  </a:extLst>
                </a:gridCol>
                <a:gridCol w="1097280">
                  <a:extLst>
                    <a:ext uri="{9D8B030D-6E8A-4147-A177-3AD203B41FA5}">
                      <a16:colId xmlns:a16="http://schemas.microsoft.com/office/drawing/2014/main" val="192764154"/>
                    </a:ext>
                  </a:extLst>
                </a:gridCol>
                <a:gridCol w="1097280">
                  <a:extLst>
                    <a:ext uri="{9D8B030D-6E8A-4147-A177-3AD203B41FA5}">
                      <a16:colId xmlns:a16="http://schemas.microsoft.com/office/drawing/2014/main" val="2396116868"/>
                    </a:ext>
                  </a:extLst>
                </a:gridCol>
                <a:gridCol w="1074419">
                  <a:extLst>
                    <a:ext uri="{9D8B030D-6E8A-4147-A177-3AD203B41FA5}">
                      <a16:colId xmlns:a16="http://schemas.microsoft.com/office/drawing/2014/main" val="2029045837"/>
                    </a:ext>
                  </a:extLst>
                </a:gridCol>
                <a:gridCol w="1036320">
                  <a:extLst>
                    <a:ext uri="{9D8B030D-6E8A-4147-A177-3AD203B41FA5}">
                      <a16:colId xmlns:a16="http://schemas.microsoft.com/office/drawing/2014/main" val="1173357064"/>
                    </a:ext>
                  </a:extLst>
                </a:gridCol>
                <a:gridCol w="1017548">
                  <a:extLst>
                    <a:ext uri="{9D8B030D-6E8A-4147-A177-3AD203B41FA5}">
                      <a16:colId xmlns:a16="http://schemas.microsoft.com/office/drawing/2014/main" val="613624840"/>
                    </a:ext>
                  </a:extLst>
                </a:gridCol>
              </a:tblGrid>
              <a:tr h="776151">
                <a:tc>
                  <a:txBody>
                    <a:bodyPr/>
                    <a:lstStyle/>
                    <a:p>
                      <a:pPr algn="ctr"/>
                      <a:r>
                        <a:rPr kumimoji="1" lang="zh-CN" altLang="en-US" sz="1400" dirty="0"/>
                        <a:t>评价标准</a:t>
                      </a:r>
                      <a:endParaRPr kumimoji="1" lang="ja-JP" altLang="en-US" sz="1400" dirty="0"/>
                    </a:p>
                  </a:txBody>
                  <a:tcPr anchor="ctr">
                    <a:lnL w="12700" cap="flat" cmpd="sng" algn="ctr">
                      <a:solidFill>
                        <a:schemeClr val="accent3">
                          <a:lumMod val="40000"/>
                          <a:lumOff val="6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kumimoji="1" lang="ja-JP" altLang="en-US" sz="1400"/>
                        <a:t>１</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２</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３</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４</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５</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６</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64811921"/>
                  </a:ext>
                </a:extLst>
              </a:tr>
              <a:tr h="776151">
                <a:tc>
                  <a:txBody>
                    <a:bodyPr/>
                    <a:lstStyle/>
                    <a:p>
                      <a:pPr algn="ctr"/>
                      <a:r>
                        <a:rPr kumimoji="1" lang="ja-JP" altLang="en-US" sz="1400" dirty="0"/>
                        <a:t>权数</a:t>
                      </a:r>
                      <a:r>
                        <a:rPr kumimoji="1" lang="en-US" altLang="ja-JP" sz="1400" dirty="0"/>
                        <a:t>(</a:t>
                      </a:r>
                      <a:r>
                        <a:rPr kumimoji="1" lang="ja-JP" altLang="en-US" sz="1400" dirty="0"/>
                        <a:t>权重</a:t>
                      </a:r>
                      <a:r>
                        <a:rPr kumimoji="1" lang="en-US" altLang="ja-JP" sz="1400" dirty="0"/>
                        <a:t>)</a:t>
                      </a:r>
                      <a:endParaRPr kumimoji="1" lang="ja-JP" altLang="en-US" sz="1400" dirty="0"/>
                    </a:p>
                  </a:txBody>
                  <a:tcPr anchor="ctr">
                    <a:lnL w="12700" cap="flat" cmpd="sng" algn="ctr">
                      <a:solidFill>
                        <a:schemeClr val="accent3">
                          <a:lumMod val="20000"/>
                          <a:lumOff val="8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algn="l"/>
                      <a:r>
                        <a:rPr kumimoji="1" lang="en-US" altLang="ja-JP" dirty="0"/>
                        <a:t>×</a:t>
                      </a: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accent3">
                          <a:lumMod val="20000"/>
                          <a:lumOff val="8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dirty="0"/>
                        <a:t>合计</a:t>
                      </a:r>
                      <a:endParaRPr kumimoji="1" lang="ja-JP" altLang="en-US" sz="1400" dirty="0"/>
                    </a:p>
                  </a:txBody>
                  <a:tcPr anchor="ctr">
                    <a:lnL w="12700" cap="flat" cmpd="sng" algn="ctr">
                      <a:solidFill>
                        <a:schemeClr val="accent3">
                          <a:lumMod val="20000"/>
                          <a:lumOff val="8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228799405"/>
                  </a:ext>
                </a:extLst>
              </a:tr>
              <a:tr h="776151">
                <a:tc>
                  <a:txBody>
                    <a:bodyPr/>
                    <a:lstStyle/>
                    <a:p>
                      <a:pPr algn="ctr"/>
                      <a:r>
                        <a:rPr kumimoji="1" lang="zh-CN" altLang="en-US" sz="1400" dirty="0"/>
                        <a:t>创意</a:t>
                      </a:r>
                      <a:r>
                        <a:rPr kumimoji="1" lang="ja-JP" altLang="en-US" sz="1400" dirty="0"/>
                        <a:t>１</a:t>
                      </a:r>
                    </a:p>
                  </a:txBody>
                  <a:tcPr>
                    <a:lnT w="12700" cap="flat" cmpd="sng" algn="ctr">
                      <a:solidFill>
                        <a:schemeClr val="accent3">
                          <a:lumMod val="20000"/>
                          <a:lumOff val="80000"/>
                        </a:schemeClr>
                      </a:solidFill>
                      <a:prstDash val="solid"/>
                      <a:round/>
                      <a:headEnd type="none" w="med" len="med"/>
                      <a:tailEnd type="none" w="med" len="med"/>
                    </a:lnT>
                    <a:noFill/>
                  </a:tcPr>
                </a:tc>
                <a:tc>
                  <a:txBody>
                    <a:bodyPr/>
                    <a:lstStyle/>
                    <a:p>
                      <a:pPr algn="ctr"/>
                      <a:endParaRPr kumimoji="1" lang="ja-JP" altLang="en-US"/>
                    </a:p>
                  </a:txBody>
                  <a:tcPr anchor="ctr">
                    <a:lnT w="12700" cap="flat" cmpd="sng" algn="ctr">
                      <a:solidFill>
                        <a:schemeClr val="accent3">
                          <a:lumMod val="20000"/>
                          <a:lumOff val="80000"/>
                        </a:schemeClr>
                      </a:solidFill>
                      <a:prstDash val="solid"/>
                      <a:round/>
                      <a:headEnd type="none" w="med" len="med"/>
                      <a:tailEnd type="none" w="med" len="med"/>
                    </a:lnT>
                    <a:noFill/>
                  </a:tcPr>
                </a:tc>
                <a:tc>
                  <a:txBody>
                    <a:bodyPr/>
                    <a:lstStyle/>
                    <a:p>
                      <a:pPr algn="ctr"/>
                      <a:endParaRPr kumimoji="1" lang="ja-JP" altLang="en-US"/>
                    </a:p>
                  </a:txBody>
                  <a:tcPr anchor="ctr">
                    <a:lnT w="12700" cap="flat" cmpd="sng" algn="ctr">
                      <a:solidFill>
                        <a:schemeClr val="accent3">
                          <a:lumMod val="20000"/>
                          <a:lumOff val="80000"/>
                        </a:schemeClr>
                      </a:solidFill>
                      <a:prstDash val="solid"/>
                      <a:round/>
                      <a:headEnd type="none" w="med" len="med"/>
                      <a:tailEnd type="none" w="med" len="med"/>
                    </a:lnT>
                    <a:noFill/>
                  </a:tcPr>
                </a:tc>
                <a:tc>
                  <a:txBody>
                    <a:bodyPr/>
                    <a:lstStyle/>
                    <a:p>
                      <a:pPr algn="ctr"/>
                      <a:endParaRPr kumimoji="1" lang="ja-JP" altLang="en-US"/>
                    </a:p>
                  </a:txBody>
                  <a:tcPr anchor="ctr">
                    <a:lnT w="12700" cap="flat" cmpd="sng" algn="ctr">
                      <a:solidFill>
                        <a:schemeClr val="accent3">
                          <a:lumMod val="20000"/>
                          <a:lumOff val="80000"/>
                        </a:schemeClr>
                      </a:solidFill>
                      <a:prstDash val="solid"/>
                      <a:round/>
                      <a:headEnd type="none" w="med" len="med"/>
                      <a:tailEnd type="none" w="med" len="med"/>
                    </a:lnT>
                    <a:noFill/>
                  </a:tcPr>
                </a:tc>
                <a:tc>
                  <a:txBody>
                    <a:bodyPr/>
                    <a:lstStyle/>
                    <a:p>
                      <a:pPr algn="ctr"/>
                      <a:endParaRPr kumimoji="1" lang="ja-JP" altLang="en-US"/>
                    </a:p>
                  </a:txBody>
                  <a:tcPr anchor="ctr">
                    <a:lnT w="12700" cap="flat" cmpd="sng" algn="ctr">
                      <a:solidFill>
                        <a:schemeClr val="accent3">
                          <a:lumMod val="20000"/>
                          <a:lumOff val="80000"/>
                        </a:schemeClr>
                      </a:solidFill>
                      <a:prstDash val="solid"/>
                      <a:round/>
                      <a:headEnd type="none" w="med" len="med"/>
                      <a:tailEnd type="none" w="med" len="med"/>
                    </a:lnT>
                    <a:noFill/>
                  </a:tcPr>
                </a:tc>
                <a:tc>
                  <a:txBody>
                    <a:bodyPr/>
                    <a:lstStyle/>
                    <a:p>
                      <a:pPr algn="ctr"/>
                      <a:endParaRPr kumimoji="1" lang="ja-JP" altLang="en-US"/>
                    </a:p>
                  </a:txBody>
                  <a:tcPr anchor="ctr">
                    <a:lnT w="12700" cap="flat" cmpd="sng" algn="ctr">
                      <a:solidFill>
                        <a:schemeClr val="accent3">
                          <a:lumMod val="20000"/>
                          <a:lumOff val="80000"/>
                        </a:schemeClr>
                      </a:solidFill>
                      <a:prstDash val="solid"/>
                      <a:round/>
                      <a:headEnd type="none" w="med" len="med"/>
                      <a:tailEnd type="none" w="med" len="med"/>
                    </a:lnT>
                    <a:noFill/>
                  </a:tcPr>
                </a:tc>
                <a:tc>
                  <a:txBody>
                    <a:bodyPr/>
                    <a:lstStyle/>
                    <a:p>
                      <a:pPr algn="ctr"/>
                      <a:endParaRPr kumimoji="1" lang="ja-JP" altLang="en-US"/>
                    </a:p>
                  </a:txBody>
                  <a:tcPr anchor="ctr">
                    <a:lnR w="12700" cap="flat" cmpd="sng" algn="ctr">
                      <a:solidFill>
                        <a:schemeClr val="bg1"/>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noFill/>
                  </a:tcPr>
                </a:tc>
                <a:tc>
                  <a:txBody>
                    <a:bodyPr/>
                    <a:lstStyle/>
                    <a:p>
                      <a:pPr algn="ct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337090511"/>
                  </a:ext>
                </a:extLst>
              </a:tr>
              <a:tr h="776151">
                <a:tc>
                  <a:txBody>
                    <a:bodyPr/>
                    <a:lstStyle/>
                    <a:p>
                      <a:pPr algn="ctr"/>
                      <a:r>
                        <a:rPr kumimoji="1" lang="zh-CN" altLang="en-US" sz="1400" dirty="0"/>
                        <a:t>创意</a:t>
                      </a:r>
                      <a:r>
                        <a:rPr kumimoji="1" lang="ja-JP" altLang="en-US" sz="1400" dirty="0"/>
                        <a:t>２</a:t>
                      </a:r>
                    </a:p>
                  </a:txBody>
                  <a:tcP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lnR w="12700" cap="flat" cmpd="sng" algn="ctr">
                      <a:solidFill>
                        <a:schemeClr val="bg1"/>
                      </a:solidFill>
                      <a:prstDash val="solid"/>
                      <a:round/>
                      <a:headEnd type="none" w="med" len="med"/>
                      <a:tailEnd type="none" w="med" len="med"/>
                    </a:lnR>
                    <a:noFill/>
                  </a:tcPr>
                </a:tc>
                <a:tc>
                  <a:txBody>
                    <a:bodyPr/>
                    <a:lstStyle/>
                    <a:p>
                      <a:pPr algn="ct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161735417"/>
                  </a:ext>
                </a:extLst>
              </a:tr>
              <a:tr h="776151">
                <a:tc>
                  <a:txBody>
                    <a:bodyPr/>
                    <a:lstStyle/>
                    <a:p>
                      <a:pPr algn="ctr"/>
                      <a:r>
                        <a:rPr kumimoji="1" lang="zh-CN" altLang="en-US" sz="1400" dirty="0"/>
                        <a:t>创意</a:t>
                      </a:r>
                      <a:r>
                        <a:rPr kumimoji="1" lang="ja-JP" altLang="en-US" sz="1400" dirty="0"/>
                        <a:t>３</a:t>
                      </a:r>
                    </a:p>
                  </a:txBody>
                  <a:tcP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lnR w="12700" cap="flat" cmpd="sng" algn="ctr">
                      <a:solidFill>
                        <a:schemeClr val="bg1"/>
                      </a:solidFill>
                      <a:prstDash val="solid"/>
                      <a:round/>
                      <a:headEnd type="none" w="med" len="med"/>
                      <a:tailEnd type="none" w="med" len="med"/>
                    </a:lnR>
                    <a:noFill/>
                  </a:tcPr>
                </a:tc>
                <a:tc>
                  <a:txBody>
                    <a:bodyPr/>
                    <a:lstStyle/>
                    <a:p>
                      <a:pPr algn="ct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677105651"/>
                  </a:ext>
                </a:extLst>
              </a:tr>
              <a:tr h="776151">
                <a:tc>
                  <a:txBody>
                    <a:bodyPr/>
                    <a:lstStyle/>
                    <a:p>
                      <a:pPr algn="ctr"/>
                      <a:r>
                        <a:rPr kumimoji="1" lang="zh-CN" altLang="en-US" sz="1400" dirty="0"/>
                        <a:t>创意</a:t>
                      </a:r>
                      <a:r>
                        <a:rPr kumimoji="1" lang="ja-JP" altLang="en-US" sz="1400" dirty="0"/>
                        <a:t>４</a:t>
                      </a:r>
                    </a:p>
                  </a:txBody>
                  <a:tcP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lnR w="12700" cap="flat" cmpd="sng" algn="ctr">
                      <a:solidFill>
                        <a:schemeClr val="bg1"/>
                      </a:solidFill>
                      <a:prstDash val="solid"/>
                      <a:round/>
                      <a:headEnd type="none" w="med" len="med"/>
                      <a:tailEnd type="none" w="med" len="med"/>
                    </a:lnR>
                    <a:noFill/>
                  </a:tcPr>
                </a:tc>
                <a:tc>
                  <a:txBody>
                    <a:bodyPr/>
                    <a:lstStyle/>
                    <a:p>
                      <a:pPr algn="ct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871347789"/>
                  </a:ext>
                </a:extLst>
              </a:tr>
              <a:tr h="776151">
                <a:tc>
                  <a:txBody>
                    <a:bodyPr/>
                    <a:lstStyle/>
                    <a:p>
                      <a:pPr algn="ctr"/>
                      <a:r>
                        <a:rPr kumimoji="1" lang="zh-CN" altLang="en-US" sz="1400" dirty="0"/>
                        <a:t>创意</a:t>
                      </a:r>
                      <a:r>
                        <a:rPr kumimoji="1" lang="ja-JP" altLang="en-US" sz="1400" dirty="0"/>
                        <a:t>５</a:t>
                      </a:r>
                    </a:p>
                  </a:txBody>
                  <a:tcP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noFill/>
                  </a:tcPr>
                </a:tc>
                <a:tc>
                  <a:txBody>
                    <a:bodyPr/>
                    <a:lstStyle/>
                    <a:p>
                      <a:pPr algn="ctr"/>
                      <a:endParaRPr kumimoji="1" lang="ja-JP" altLang="en-US"/>
                    </a:p>
                  </a:txBody>
                  <a:tcPr anchor="ctr">
                    <a:lnR w="12700" cap="flat" cmpd="sng" algn="ctr">
                      <a:solidFill>
                        <a:schemeClr val="bg1"/>
                      </a:solidFill>
                      <a:prstDash val="solid"/>
                      <a:round/>
                      <a:headEnd type="none" w="med" len="med"/>
                      <a:tailEnd type="none" w="med" len="med"/>
                    </a:lnR>
                    <a:noFill/>
                  </a:tcPr>
                </a:tc>
                <a:tc>
                  <a:txBody>
                    <a:bodyPr/>
                    <a:lstStyle/>
                    <a:p>
                      <a:pPr algn="ct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3">
                        <a:lumMod val="60000"/>
                        <a:lumOff val="40000"/>
                      </a:schemeClr>
                    </a:solidFill>
                  </a:tcPr>
                </a:tc>
                <a:extLst>
                  <a:ext uri="{0D108BD9-81ED-4DB2-BD59-A6C34878D82A}">
                    <a16:rowId xmlns:a16="http://schemas.microsoft.com/office/drawing/2014/main" val="3183067029"/>
                  </a:ext>
                </a:extLst>
              </a:tr>
            </a:tbl>
          </a:graphicData>
        </a:graphic>
      </p:graphicFrame>
    </p:spTree>
    <p:extLst>
      <p:ext uri="{BB962C8B-B14F-4D97-AF65-F5344CB8AC3E}">
        <p14:creationId xmlns:p14="http://schemas.microsoft.com/office/powerpoint/2010/main" val="2017235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14</a:t>
            </a:r>
            <a:r>
              <a:rPr lang="ja-JP" altLang="en-US" sz="2600" dirty="0">
                <a:solidFill>
                  <a:schemeClr val="bg1"/>
                </a:solidFill>
              </a:rPr>
              <a:t>　</a:t>
            </a:r>
            <a:r>
              <a:rPr lang="zh-CN" altLang="en-US" sz="2600" dirty="0">
                <a:solidFill>
                  <a:schemeClr val="bg1"/>
                </a:solidFill>
              </a:rPr>
              <a:t>逻辑树</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58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将想要解决的问题、课题设定为第一层级，将其原因细分为第二层级和第三层级。确认是否有遗漏或重复。</a:t>
            </a:r>
            <a:endParaRPr lang="en-US" altLang="ja-JP" sz="1138" dirty="0"/>
          </a:p>
        </p:txBody>
      </p:sp>
      <p:sp>
        <p:nvSpPr>
          <p:cNvPr id="7" name="角丸四角形 6">
            <a:extLst>
              <a:ext uri="{FF2B5EF4-FFF2-40B4-BE49-F238E27FC236}">
                <a16:creationId xmlns:a16="http://schemas.microsoft.com/office/drawing/2014/main" id="{7B670695-3120-794A-AF7F-D4117F942A1D}"/>
              </a:ext>
            </a:extLst>
          </p:cNvPr>
          <p:cNvSpPr/>
          <p:nvPr/>
        </p:nvSpPr>
        <p:spPr>
          <a:xfrm>
            <a:off x="7155180" y="1066800"/>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8" name="角丸四角形 7">
            <a:extLst>
              <a:ext uri="{FF2B5EF4-FFF2-40B4-BE49-F238E27FC236}">
                <a16:creationId xmlns:a16="http://schemas.microsoft.com/office/drawing/2014/main" id="{68D60081-24B2-894A-B6A4-4ECE85B426A4}"/>
              </a:ext>
            </a:extLst>
          </p:cNvPr>
          <p:cNvSpPr/>
          <p:nvPr/>
        </p:nvSpPr>
        <p:spPr>
          <a:xfrm>
            <a:off x="3754616" y="1659319"/>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9" name="角丸四角形 8">
            <a:extLst>
              <a:ext uri="{FF2B5EF4-FFF2-40B4-BE49-F238E27FC236}">
                <a16:creationId xmlns:a16="http://schemas.microsoft.com/office/drawing/2014/main" id="{497169F9-9E25-7648-A209-D7E241FABA35}"/>
              </a:ext>
            </a:extLst>
          </p:cNvPr>
          <p:cNvSpPr/>
          <p:nvPr/>
        </p:nvSpPr>
        <p:spPr>
          <a:xfrm>
            <a:off x="354052" y="3543300"/>
            <a:ext cx="2396767" cy="480060"/>
          </a:xfrm>
          <a:prstGeom prst="roundRect">
            <a:avLst/>
          </a:prstGeom>
          <a:solidFill>
            <a:schemeClr val="bg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1" name="角丸四角形 10">
            <a:extLst>
              <a:ext uri="{FF2B5EF4-FFF2-40B4-BE49-F238E27FC236}">
                <a16:creationId xmlns:a16="http://schemas.microsoft.com/office/drawing/2014/main" id="{1EC70F99-5D26-CA46-A437-31DCE4955DFA}"/>
              </a:ext>
            </a:extLst>
          </p:cNvPr>
          <p:cNvSpPr/>
          <p:nvPr/>
        </p:nvSpPr>
        <p:spPr>
          <a:xfrm>
            <a:off x="7155175" y="5427281"/>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2" name="角丸四角形 11">
            <a:extLst>
              <a:ext uri="{FF2B5EF4-FFF2-40B4-BE49-F238E27FC236}">
                <a16:creationId xmlns:a16="http://schemas.microsoft.com/office/drawing/2014/main" id="{824C40C5-1D78-C340-8148-382DAB4BB405}"/>
              </a:ext>
            </a:extLst>
          </p:cNvPr>
          <p:cNvSpPr/>
          <p:nvPr/>
        </p:nvSpPr>
        <p:spPr>
          <a:xfrm>
            <a:off x="7155178" y="6019800"/>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3" name="角丸四角形 12">
            <a:extLst>
              <a:ext uri="{FF2B5EF4-FFF2-40B4-BE49-F238E27FC236}">
                <a16:creationId xmlns:a16="http://schemas.microsoft.com/office/drawing/2014/main" id="{ADC15C87-C602-6442-9FA0-C448547AEC25}"/>
              </a:ext>
            </a:extLst>
          </p:cNvPr>
          <p:cNvSpPr/>
          <p:nvPr/>
        </p:nvSpPr>
        <p:spPr>
          <a:xfrm>
            <a:off x="7155176" y="4834762"/>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4" name="角丸四角形 13">
            <a:extLst>
              <a:ext uri="{FF2B5EF4-FFF2-40B4-BE49-F238E27FC236}">
                <a16:creationId xmlns:a16="http://schemas.microsoft.com/office/drawing/2014/main" id="{E85CAACD-A948-2245-A079-3C803944939A}"/>
              </a:ext>
            </a:extLst>
          </p:cNvPr>
          <p:cNvSpPr/>
          <p:nvPr/>
        </p:nvSpPr>
        <p:spPr>
          <a:xfrm>
            <a:off x="7155175" y="1659319"/>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6" name="角丸四角形 15">
            <a:extLst>
              <a:ext uri="{FF2B5EF4-FFF2-40B4-BE49-F238E27FC236}">
                <a16:creationId xmlns:a16="http://schemas.microsoft.com/office/drawing/2014/main" id="{0379D386-17C3-4444-A6B5-2CEFBF10E872}"/>
              </a:ext>
            </a:extLst>
          </p:cNvPr>
          <p:cNvSpPr/>
          <p:nvPr/>
        </p:nvSpPr>
        <p:spPr>
          <a:xfrm>
            <a:off x="7155174" y="2251838"/>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7" name="角丸四角形 16">
            <a:extLst>
              <a:ext uri="{FF2B5EF4-FFF2-40B4-BE49-F238E27FC236}">
                <a16:creationId xmlns:a16="http://schemas.microsoft.com/office/drawing/2014/main" id="{B70494C5-1E86-794C-89AF-5F70C82572E7}"/>
              </a:ext>
            </a:extLst>
          </p:cNvPr>
          <p:cNvSpPr/>
          <p:nvPr/>
        </p:nvSpPr>
        <p:spPr>
          <a:xfrm>
            <a:off x="7155180" y="2948940"/>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8" name="角丸四角形 17">
            <a:extLst>
              <a:ext uri="{FF2B5EF4-FFF2-40B4-BE49-F238E27FC236}">
                <a16:creationId xmlns:a16="http://schemas.microsoft.com/office/drawing/2014/main" id="{27F4AD30-4E33-9F4B-9132-EC8E047DEE6A}"/>
              </a:ext>
            </a:extLst>
          </p:cNvPr>
          <p:cNvSpPr/>
          <p:nvPr/>
        </p:nvSpPr>
        <p:spPr>
          <a:xfrm>
            <a:off x="7155175" y="3541459"/>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9" name="角丸四角形 18">
            <a:extLst>
              <a:ext uri="{FF2B5EF4-FFF2-40B4-BE49-F238E27FC236}">
                <a16:creationId xmlns:a16="http://schemas.microsoft.com/office/drawing/2014/main" id="{7894AE14-01D2-E548-A991-96DBB86F4F67}"/>
              </a:ext>
            </a:extLst>
          </p:cNvPr>
          <p:cNvSpPr/>
          <p:nvPr/>
        </p:nvSpPr>
        <p:spPr>
          <a:xfrm>
            <a:off x="7155174" y="4133978"/>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20" name="角丸四角形 19">
            <a:extLst>
              <a:ext uri="{FF2B5EF4-FFF2-40B4-BE49-F238E27FC236}">
                <a16:creationId xmlns:a16="http://schemas.microsoft.com/office/drawing/2014/main" id="{C5A4322F-6DF5-9A4E-A420-316081345A03}"/>
              </a:ext>
            </a:extLst>
          </p:cNvPr>
          <p:cNvSpPr/>
          <p:nvPr/>
        </p:nvSpPr>
        <p:spPr>
          <a:xfrm>
            <a:off x="3754613" y="3541459"/>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21" name="角丸四角形 20">
            <a:extLst>
              <a:ext uri="{FF2B5EF4-FFF2-40B4-BE49-F238E27FC236}">
                <a16:creationId xmlns:a16="http://schemas.microsoft.com/office/drawing/2014/main" id="{AE1757F4-9677-BA4B-A9E0-2B0EF847C040}"/>
              </a:ext>
            </a:extLst>
          </p:cNvPr>
          <p:cNvSpPr/>
          <p:nvPr/>
        </p:nvSpPr>
        <p:spPr>
          <a:xfrm>
            <a:off x="3754612" y="5427281"/>
            <a:ext cx="2396767"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cxnSp>
        <p:nvCxnSpPr>
          <p:cNvPr id="23" name="カギ線コネクタ 22">
            <a:extLst>
              <a:ext uri="{FF2B5EF4-FFF2-40B4-BE49-F238E27FC236}">
                <a16:creationId xmlns:a16="http://schemas.microsoft.com/office/drawing/2014/main" id="{A049F22B-8F60-9C4F-8BCF-D4B35BC75EA8}"/>
              </a:ext>
            </a:extLst>
          </p:cNvPr>
          <p:cNvCxnSpPr>
            <a:stCxn id="9" idx="3"/>
            <a:endCxn id="8" idx="1"/>
          </p:cNvCxnSpPr>
          <p:nvPr/>
        </p:nvCxnSpPr>
        <p:spPr>
          <a:xfrm flipV="1">
            <a:off x="2750819" y="1899349"/>
            <a:ext cx="1003797" cy="1883981"/>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カギ線コネクタ 24">
            <a:extLst>
              <a:ext uri="{FF2B5EF4-FFF2-40B4-BE49-F238E27FC236}">
                <a16:creationId xmlns:a16="http://schemas.microsoft.com/office/drawing/2014/main" id="{523973FB-661B-B94E-BB9A-F38FB0A1D043}"/>
              </a:ext>
            </a:extLst>
          </p:cNvPr>
          <p:cNvCxnSpPr>
            <a:cxnSpLocks/>
            <a:stCxn id="9" idx="3"/>
            <a:endCxn id="20" idx="1"/>
          </p:cNvCxnSpPr>
          <p:nvPr/>
        </p:nvCxnSpPr>
        <p:spPr>
          <a:xfrm flipV="1">
            <a:off x="2750819" y="3781489"/>
            <a:ext cx="1003794" cy="1841"/>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カギ線コネクタ 27">
            <a:extLst>
              <a:ext uri="{FF2B5EF4-FFF2-40B4-BE49-F238E27FC236}">
                <a16:creationId xmlns:a16="http://schemas.microsoft.com/office/drawing/2014/main" id="{B8496528-6BC7-844B-A897-A77EF7995CED}"/>
              </a:ext>
            </a:extLst>
          </p:cNvPr>
          <p:cNvCxnSpPr>
            <a:cxnSpLocks/>
            <a:stCxn id="9" idx="3"/>
            <a:endCxn id="21" idx="1"/>
          </p:cNvCxnSpPr>
          <p:nvPr/>
        </p:nvCxnSpPr>
        <p:spPr>
          <a:xfrm>
            <a:off x="2750819" y="3783330"/>
            <a:ext cx="1003793" cy="1883981"/>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カギ線コネクタ 30">
            <a:extLst>
              <a:ext uri="{FF2B5EF4-FFF2-40B4-BE49-F238E27FC236}">
                <a16:creationId xmlns:a16="http://schemas.microsoft.com/office/drawing/2014/main" id="{B70807AE-F964-E543-A2C1-1449FAC0ED0E}"/>
              </a:ext>
            </a:extLst>
          </p:cNvPr>
          <p:cNvCxnSpPr>
            <a:cxnSpLocks/>
            <a:stCxn id="8" idx="3"/>
            <a:endCxn id="7" idx="1"/>
          </p:cNvCxnSpPr>
          <p:nvPr/>
        </p:nvCxnSpPr>
        <p:spPr>
          <a:xfrm flipV="1">
            <a:off x="6151383" y="1306830"/>
            <a:ext cx="1003797" cy="592519"/>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カギ線コネクタ 33">
            <a:extLst>
              <a:ext uri="{FF2B5EF4-FFF2-40B4-BE49-F238E27FC236}">
                <a16:creationId xmlns:a16="http://schemas.microsoft.com/office/drawing/2014/main" id="{74671BAF-789D-E542-9E83-54D75BAD723C}"/>
              </a:ext>
            </a:extLst>
          </p:cNvPr>
          <p:cNvCxnSpPr>
            <a:cxnSpLocks/>
            <a:stCxn id="8" idx="3"/>
            <a:endCxn id="14" idx="1"/>
          </p:cNvCxnSpPr>
          <p:nvPr/>
        </p:nvCxnSpPr>
        <p:spPr>
          <a:xfrm>
            <a:off x="6151383" y="1899349"/>
            <a:ext cx="1003792" cy="12700"/>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カギ線コネクタ 36">
            <a:extLst>
              <a:ext uri="{FF2B5EF4-FFF2-40B4-BE49-F238E27FC236}">
                <a16:creationId xmlns:a16="http://schemas.microsoft.com/office/drawing/2014/main" id="{76DD29DC-AF64-B841-B931-7FE6F6EAF53C}"/>
              </a:ext>
            </a:extLst>
          </p:cNvPr>
          <p:cNvCxnSpPr>
            <a:cxnSpLocks/>
            <a:stCxn id="8" idx="3"/>
            <a:endCxn id="16" idx="1"/>
          </p:cNvCxnSpPr>
          <p:nvPr/>
        </p:nvCxnSpPr>
        <p:spPr>
          <a:xfrm>
            <a:off x="6151383" y="1899349"/>
            <a:ext cx="1003791" cy="592519"/>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カギ線コネクタ 39">
            <a:extLst>
              <a:ext uri="{FF2B5EF4-FFF2-40B4-BE49-F238E27FC236}">
                <a16:creationId xmlns:a16="http://schemas.microsoft.com/office/drawing/2014/main" id="{85134A95-AA60-7B48-80E5-B9AE94FD3168}"/>
              </a:ext>
            </a:extLst>
          </p:cNvPr>
          <p:cNvCxnSpPr>
            <a:cxnSpLocks/>
            <a:stCxn id="20" idx="3"/>
            <a:endCxn id="17" idx="1"/>
          </p:cNvCxnSpPr>
          <p:nvPr/>
        </p:nvCxnSpPr>
        <p:spPr>
          <a:xfrm flipV="1">
            <a:off x="6151380" y="3188970"/>
            <a:ext cx="1003800" cy="592519"/>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カギ線コネクタ 42">
            <a:extLst>
              <a:ext uri="{FF2B5EF4-FFF2-40B4-BE49-F238E27FC236}">
                <a16:creationId xmlns:a16="http://schemas.microsoft.com/office/drawing/2014/main" id="{7C70D40F-2A34-724D-BFBC-57E2B4B14366}"/>
              </a:ext>
            </a:extLst>
          </p:cNvPr>
          <p:cNvCxnSpPr>
            <a:cxnSpLocks/>
            <a:stCxn id="20" idx="3"/>
            <a:endCxn id="18" idx="1"/>
          </p:cNvCxnSpPr>
          <p:nvPr/>
        </p:nvCxnSpPr>
        <p:spPr>
          <a:xfrm>
            <a:off x="6151380" y="3781489"/>
            <a:ext cx="1003795" cy="12700"/>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カギ線コネクタ 45">
            <a:extLst>
              <a:ext uri="{FF2B5EF4-FFF2-40B4-BE49-F238E27FC236}">
                <a16:creationId xmlns:a16="http://schemas.microsoft.com/office/drawing/2014/main" id="{70F86826-5730-6342-83BA-65ACBA080686}"/>
              </a:ext>
            </a:extLst>
          </p:cNvPr>
          <p:cNvCxnSpPr>
            <a:cxnSpLocks/>
            <a:stCxn id="20" idx="3"/>
            <a:endCxn id="19" idx="1"/>
          </p:cNvCxnSpPr>
          <p:nvPr/>
        </p:nvCxnSpPr>
        <p:spPr>
          <a:xfrm>
            <a:off x="6151380" y="3781489"/>
            <a:ext cx="1003794" cy="592519"/>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カギ線コネクタ 48">
            <a:extLst>
              <a:ext uri="{FF2B5EF4-FFF2-40B4-BE49-F238E27FC236}">
                <a16:creationId xmlns:a16="http://schemas.microsoft.com/office/drawing/2014/main" id="{6726BE40-ABDE-9A44-B0D4-C3AC2CE7650F}"/>
              </a:ext>
            </a:extLst>
          </p:cNvPr>
          <p:cNvCxnSpPr>
            <a:cxnSpLocks/>
            <a:stCxn id="21" idx="3"/>
            <a:endCxn id="13" idx="1"/>
          </p:cNvCxnSpPr>
          <p:nvPr/>
        </p:nvCxnSpPr>
        <p:spPr>
          <a:xfrm flipV="1">
            <a:off x="6151379" y="5074792"/>
            <a:ext cx="1003797" cy="592519"/>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カギ線コネクタ 51">
            <a:extLst>
              <a:ext uri="{FF2B5EF4-FFF2-40B4-BE49-F238E27FC236}">
                <a16:creationId xmlns:a16="http://schemas.microsoft.com/office/drawing/2014/main" id="{0C523033-0FFA-D442-87BB-926955D2F259}"/>
              </a:ext>
            </a:extLst>
          </p:cNvPr>
          <p:cNvCxnSpPr>
            <a:cxnSpLocks/>
            <a:stCxn id="21" idx="3"/>
            <a:endCxn id="11" idx="1"/>
          </p:cNvCxnSpPr>
          <p:nvPr/>
        </p:nvCxnSpPr>
        <p:spPr>
          <a:xfrm>
            <a:off x="6151379" y="5667311"/>
            <a:ext cx="1003796" cy="12700"/>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カギ線コネクタ 54">
            <a:extLst>
              <a:ext uri="{FF2B5EF4-FFF2-40B4-BE49-F238E27FC236}">
                <a16:creationId xmlns:a16="http://schemas.microsoft.com/office/drawing/2014/main" id="{94E17AE8-1434-4146-B6D0-F4F9B93D7B61}"/>
              </a:ext>
            </a:extLst>
          </p:cNvPr>
          <p:cNvCxnSpPr>
            <a:cxnSpLocks/>
            <a:stCxn id="21" idx="3"/>
            <a:endCxn id="12" idx="1"/>
          </p:cNvCxnSpPr>
          <p:nvPr/>
        </p:nvCxnSpPr>
        <p:spPr>
          <a:xfrm>
            <a:off x="6151379" y="5667311"/>
            <a:ext cx="1003799" cy="592519"/>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CE335E1D-80E5-B24B-A61C-0544D8AB1711}"/>
              </a:ext>
            </a:extLst>
          </p:cNvPr>
          <p:cNvSpPr txBox="1"/>
          <p:nvPr/>
        </p:nvSpPr>
        <p:spPr>
          <a:xfrm>
            <a:off x="354052" y="3264460"/>
            <a:ext cx="800219" cy="276999"/>
          </a:xfrm>
          <a:prstGeom prst="rect">
            <a:avLst/>
          </a:prstGeom>
          <a:noFill/>
        </p:spPr>
        <p:txBody>
          <a:bodyPr wrap="none" rtlCol="0">
            <a:spAutoFit/>
          </a:bodyPr>
          <a:lstStyle/>
          <a:p>
            <a:r>
              <a:rPr kumimoji="1" lang="zh-CN" altLang="en-US" sz="1200" dirty="0"/>
              <a:t>第一层级</a:t>
            </a:r>
            <a:endParaRPr kumimoji="1" lang="ja-JP" altLang="en-US" sz="1200" dirty="0"/>
          </a:p>
        </p:txBody>
      </p:sp>
      <p:sp>
        <p:nvSpPr>
          <p:cNvPr id="59" name="テキスト ボックス 58">
            <a:extLst>
              <a:ext uri="{FF2B5EF4-FFF2-40B4-BE49-F238E27FC236}">
                <a16:creationId xmlns:a16="http://schemas.microsoft.com/office/drawing/2014/main" id="{FFF25488-AC6B-6D4E-BB18-867310ADB4E2}"/>
              </a:ext>
            </a:extLst>
          </p:cNvPr>
          <p:cNvSpPr txBox="1"/>
          <p:nvPr/>
        </p:nvSpPr>
        <p:spPr>
          <a:xfrm>
            <a:off x="3754612" y="1382786"/>
            <a:ext cx="800219" cy="276999"/>
          </a:xfrm>
          <a:prstGeom prst="rect">
            <a:avLst/>
          </a:prstGeom>
          <a:noFill/>
        </p:spPr>
        <p:txBody>
          <a:bodyPr wrap="none" rtlCol="0">
            <a:spAutoFit/>
          </a:bodyPr>
          <a:lstStyle/>
          <a:p>
            <a:r>
              <a:rPr kumimoji="1" lang="zh-CN" altLang="en-US" sz="1200" dirty="0"/>
              <a:t>第二层级</a:t>
            </a:r>
            <a:endParaRPr kumimoji="1" lang="ja-JP" altLang="en-US" sz="1200" dirty="0"/>
          </a:p>
        </p:txBody>
      </p:sp>
      <p:sp>
        <p:nvSpPr>
          <p:cNvPr id="60" name="テキスト ボックス 59">
            <a:extLst>
              <a:ext uri="{FF2B5EF4-FFF2-40B4-BE49-F238E27FC236}">
                <a16:creationId xmlns:a16="http://schemas.microsoft.com/office/drawing/2014/main" id="{987FCBEF-53FE-5D41-AB96-28E54141EFB4}"/>
              </a:ext>
            </a:extLst>
          </p:cNvPr>
          <p:cNvSpPr txBox="1"/>
          <p:nvPr/>
        </p:nvSpPr>
        <p:spPr>
          <a:xfrm>
            <a:off x="7149717" y="802501"/>
            <a:ext cx="800219" cy="276999"/>
          </a:xfrm>
          <a:prstGeom prst="rect">
            <a:avLst/>
          </a:prstGeom>
          <a:noFill/>
        </p:spPr>
        <p:txBody>
          <a:bodyPr wrap="none" rtlCol="0">
            <a:spAutoFit/>
          </a:bodyPr>
          <a:lstStyle/>
          <a:p>
            <a:r>
              <a:rPr kumimoji="1" lang="zh-CN" altLang="en-US" sz="1200" dirty="0"/>
              <a:t>第三层级</a:t>
            </a:r>
            <a:endParaRPr kumimoji="1" lang="ja-JP" altLang="en-US" sz="1200" dirty="0"/>
          </a:p>
        </p:txBody>
      </p:sp>
    </p:spTree>
    <p:extLst>
      <p:ext uri="{BB962C8B-B14F-4D97-AF65-F5344CB8AC3E}">
        <p14:creationId xmlns:p14="http://schemas.microsoft.com/office/powerpoint/2010/main" val="2201299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15</a:t>
            </a:r>
            <a:r>
              <a:rPr lang="ja-JP" altLang="en-US" sz="2600" dirty="0">
                <a:solidFill>
                  <a:schemeClr val="bg1"/>
                </a:solidFill>
              </a:rPr>
              <a:t>　</a:t>
            </a:r>
            <a:r>
              <a:rPr lang="zh-CN" altLang="en-US" sz="2600" dirty="0">
                <a:solidFill>
                  <a:schemeClr val="bg1"/>
                </a:solidFill>
              </a:rPr>
              <a:t>流程图</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62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请参考下图，将自己</a:t>
            </a:r>
            <a:r>
              <a:rPr lang="en-US" altLang="zh-CN" sz="1138" dirty="0"/>
              <a:t>(</a:t>
            </a:r>
            <a:r>
              <a:rPr lang="zh-CN" altLang="en-US" sz="1138" dirty="0"/>
              <a:t>本公司</a:t>
            </a:r>
            <a:r>
              <a:rPr lang="en-US" altLang="zh-CN" sz="1138" dirty="0"/>
              <a:t>)</a:t>
            </a:r>
            <a:r>
              <a:rPr lang="zh-CN" altLang="en-US" sz="1138" dirty="0"/>
              <a:t>的业务流程绘制成图表，实现“可视化”，发现瓶颈。</a:t>
            </a:r>
            <a:endParaRPr lang="en-US" altLang="ja-JP" sz="1138" dirty="0"/>
          </a:p>
        </p:txBody>
      </p:sp>
      <p:sp>
        <p:nvSpPr>
          <p:cNvPr id="5" name="角丸四角形 4">
            <a:extLst>
              <a:ext uri="{FF2B5EF4-FFF2-40B4-BE49-F238E27FC236}">
                <a16:creationId xmlns:a16="http://schemas.microsoft.com/office/drawing/2014/main" id="{DD3BBF07-1540-614D-BA46-2C1A20BEAF7C}"/>
              </a:ext>
            </a:extLst>
          </p:cNvPr>
          <p:cNvSpPr/>
          <p:nvPr/>
        </p:nvSpPr>
        <p:spPr>
          <a:xfrm>
            <a:off x="354052" y="1066800"/>
            <a:ext cx="9197895" cy="129159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1467C8C8-0205-4744-9D00-C6ABF38CF6AD}"/>
              </a:ext>
            </a:extLst>
          </p:cNvPr>
          <p:cNvSpPr/>
          <p:nvPr/>
        </p:nvSpPr>
        <p:spPr>
          <a:xfrm>
            <a:off x="354052" y="2446972"/>
            <a:ext cx="9197895" cy="129159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8D95AD6D-2355-754F-9D54-D3AD6FD7876A}"/>
              </a:ext>
            </a:extLst>
          </p:cNvPr>
          <p:cNvSpPr/>
          <p:nvPr/>
        </p:nvSpPr>
        <p:spPr>
          <a:xfrm>
            <a:off x="354052" y="3835718"/>
            <a:ext cx="9197895" cy="129159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69420E86-2A45-3A41-AF28-F3959B541659}"/>
              </a:ext>
            </a:extLst>
          </p:cNvPr>
          <p:cNvSpPr/>
          <p:nvPr/>
        </p:nvSpPr>
        <p:spPr>
          <a:xfrm>
            <a:off x="354052" y="5208270"/>
            <a:ext cx="9197895" cy="129159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59F5C22C-013F-DF43-86AC-F7360C4602EF}"/>
              </a:ext>
            </a:extLst>
          </p:cNvPr>
          <p:cNvSpPr/>
          <p:nvPr/>
        </p:nvSpPr>
        <p:spPr>
          <a:xfrm>
            <a:off x="1011690" y="1476375"/>
            <a:ext cx="731520" cy="4724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在店铺下单</a:t>
            </a:r>
            <a:endParaRPr kumimoji="1" lang="ja-JP" altLang="en-US" sz="1000" dirty="0">
              <a:solidFill>
                <a:schemeClr val="tx1"/>
              </a:solidFill>
            </a:endParaRPr>
          </a:p>
        </p:txBody>
      </p:sp>
      <p:sp>
        <p:nvSpPr>
          <p:cNvPr id="10" name="テキスト ボックス 9">
            <a:extLst>
              <a:ext uri="{FF2B5EF4-FFF2-40B4-BE49-F238E27FC236}">
                <a16:creationId xmlns:a16="http://schemas.microsoft.com/office/drawing/2014/main" id="{C3739385-97F7-E741-B29E-14FB6555F01F}"/>
              </a:ext>
            </a:extLst>
          </p:cNvPr>
          <p:cNvSpPr txBox="1"/>
          <p:nvPr/>
        </p:nvSpPr>
        <p:spPr>
          <a:xfrm>
            <a:off x="429875" y="1363982"/>
            <a:ext cx="461665" cy="700086"/>
          </a:xfrm>
          <a:prstGeom prst="rect">
            <a:avLst/>
          </a:prstGeom>
          <a:noFill/>
        </p:spPr>
        <p:txBody>
          <a:bodyPr vert="eaVert" wrap="square" rtlCol="0">
            <a:spAutoFit/>
          </a:bodyPr>
          <a:lstStyle/>
          <a:p>
            <a:r>
              <a:rPr kumimoji="1" lang="zh-CN" altLang="en-US" dirty="0"/>
              <a:t>顾客</a:t>
            </a:r>
            <a:endParaRPr kumimoji="1" lang="ja-JP" altLang="en-US" dirty="0"/>
          </a:p>
        </p:txBody>
      </p:sp>
      <p:sp>
        <p:nvSpPr>
          <p:cNvPr id="11" name="テキスト ボックス 10">
            <a:extLst>
              <a:ext uri="{FF2B5EF4-FFF2-40B4-BE49-F238E27FC236}">
                <a16:creationId xmlns:a16="http://schemas.microsoft.com/office/drawing/2014/main" id="{C0C063A2-6C9E-BD4E-B646-428E0870BA4B}"/>
              </a:ext>
            </a:extLst>
          </p:cNvPr>
          <p:cNvSpPr txBox="1"/>
          <p:nvPr/>
        </p:nvSpPr>
        <p:spPr>
          <a:xfrm>
            <a:off x="429874" y="2745108"/>
            <a:ext cx="461665" cy="700086"/>
          </a:xfrm>
          <a:prstGeom prst="rect">
            <a:avLst/>
          </a:prstGeom>
          <a:noFill/>
        </p:spPr>
        <p:txBody>
          <a:bodyPr vert="eaVert" wrap="square" rtlCol="0">
            <a:spAutoFit/>
          </a:bodyPr>
          <a:lstStyle/>
          <a:p>
            <a:r>
              <a:rPr kumimoji="1" lang="zh-CN" altLang="en-US" dirty="0"/>
              <a:t>店铺</a:t>
            </a:r>
            <a:endParaRPr kumimoji="1" lang="ja-JP" altLang="en-US" dirty="0"/>
          </a:p>
        </p:txBody>
      </p:sp>
      <p:sp>
        <p:nvSpPr>
          <p:cNvPr id="12" name="テキスト ボックス 11">
            <a:extLst>
              <a:ext uri="{FF2B5EF4-FFF2-40B4-BE49-F238E27FC236}">
                <a16:creationId xmlns:a16="http://schemas.microsoft.com/office/drawing/2014/main" id="{6EE1642B-F8A4-1D49-9698-774B78ED18FB}"/>
              </a:ext>
            </a:extLst>
          </p:cNvPr>
          <p:cNvSpPr txBox="1"/>
          <p:nvPr/>
        </p:nvSpPr>
        <p:spPr>
          <a:xfrm>
            <a:off x="442439" y="4137898"/>
            <a:ext cx="461665" cy="922496"/>
          </a:xfrm>
          <a:prstGeom prst="rect">
            <a:avLst/>
          </a:prstGeom>
          <a:noFill/>
        </p:spPr>
        <p:txBody>
          <a:bodyPr vert="eaVert" wrap="square" rtlCol="0">
            <a:spAutoFit/>
          </a:bodyPr>
          <a:lstStyle/>
          <a:p>
            <a:r>
              <a:rPr kumimoji="1" lang="zh-CN" altLang="en-US" dirty="0"/>
              <a:t>销售部</a:t>
            </a:r>
            <a:endParaRPr kumimoji="1" lang="ja-JP" altLang="en-US" dirty="0"/>
          </a:p>
        </p:txBody>
      </p:sp>
      <p:sp>
        <p:nvSpPr>
          <p:cNvPr id="13" name="テキスト ボックス 12">
            <a:extLst>
              <a:ext uri="{FF2B5EF4-FFF2-40B4-BE49-F238E27FC236}">
                <a16:creationId xmlns:a16="http://schemas.microsoft.com/office/drawing/2014/main" id="{D8AC663F-26C5-8E43-A95A-2889C90509B2}"/>
              </a:ext>
            </a:extLst>
          </p:cNvPr>
          <p:cNvSpPr txBox="1"/>
          <p:nvPr/>
        </p:nvSpPr>
        <p:spPr>
          <a:xfrm>
            <a:off x="429874" y="5504022"/>
            <a:ext cx="461665" cy="700086"/>
          </a:xfrm>
          <a:prstGeom prst="rect">
            <a:avLst/>
          </a:prstGeom>
          <a:noFill/>
        </p:spPr>
        <p:txBody>
          <a:bodyPr vert="eaVert" wrap="square" rtlCol="0">
            <a:spAutoFit/>
          </a:bodyPr>
          <a:lstStyle/>
          <a:p>
            <a:r>
              <a:rPr kumimoji="1" lang="zh-CN" altLang="en-US" dirty="0"/>
              <a:t>工厂</a:t>
            </a:r>
            <a:endParaRPr kumimoji="1" lang="ja-JP" altLang="en-US" dirty="0"/>
          </a:p>
        </p:txBody>
      </p:sp>
      <p:sp>
        <p:nvSpPr>
          <p:cNvPr id="14" name="角丸四角形 13">
            <a:extLst>
              <a:ext uri="{FF2B5EF4-FFF2-40B4-BE49-F238E27FC236}">
                <a16:creationId xmlns:a16="http://schemas.microsoft.com/office/drawing/2014/main" id="{81F4FEDC-FD30-5449-9850-13F5E43675AD}"/>
              </a:ext>
            </a:extLst>
          </p:cNvPr>
          <p:cNvSpPr/>
          <p:nvPr/>
        </p:nvSpPr>
        <p:spPr>
          <a:xfrm>
            <a:off x="8389620" y="1476375"/>
            <a:ext cx="807720" cy="4724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收货</a:t>
            </a:r>
            <a:endParaRPr kumimoji="1" lang="ja-JP" altLang="en-US" sz="1000" dirty="0">
              <a:solidFill>
                <a:schemeClr val="tx1"/>
              </a:solidFill>
            </a:endParaRPr>
          </a:p>
        </p:txBody>
      </p:sp>
      <p:sp>
        <p:nvSpPr>
          <p:cNvPr id="15" name="角丸四角形 14">
            <a:extLst>
              <a:ext uri="{FF2B5EF4-FFF2-40B4-BE49-F238E27FC236}">
                <a16:creationId xmlns:a16="http://schemas.microsoft.com/office/drawing/2014/main" id="{78941C0F-1ACE-D34E-94E7-F6B7E5BB04E3}"/>
              </a:ext>
            </a:extLst>
          </p:cNvPr>
          <p:cNvSpPr/>
          <p:nvPr/>
        </p:nvSpPr>
        <p:spPr>
          <a:xfrm>
            <a:off x="1011690" y="2856547"/>
            <a:ext cx="731520" cy="47244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制作</a:t>
            </a:r>
            <a:endParaRPr kumimoji="1" lang="en-US" altLang="zh-CN" sz="1000" dirty="0">
              <a:solidFill>
                <a:schemeClr val="tx1"/>
              </a:solidFill>
            </a:endParaRPr>
          </a:p>
          <a:p>
            <a:pPr algn="ctr"/>
            <a:r>
              <a:rPr kumimoji="1" lang="zh-CN" altLang="en-US" sz="1000" dirty="0">
                <a:solidFill>
                  <a:schemeClr val="tx1"/>
                </a:solidFill>
              </a:rPr>
              <a:t>订单</a:t>
            </a:r>
            <a:endParaRPr kumimoji="1" lang="ja-JP" altLang="en-US" sz="1000" dirty="0">
              <a:solidFill>
                <a:schemeClr val="tx1"/>
              </a:solidFill>
            </a:endParaRPr>
          </a:p>
        </p:txBody>
      </p:sp>
      <p:sp>
        <p:nvSpPr>
          <p:cNvPr id="16" name="角丸四角形 15">
            <a:extLst>
              <a:ext uri="{FF2B5EF4-FFF2-40B4-BE49-F238E27FC236}">
                <a16:creationId xmlns:a16="http://schemas.microsoft.com/office/drawing/2014/main" id="{9092AB65-FFCF-F046-9E81-541646B749ED}"/>
              </a:ext>
            </a:extLst>
          </p:cNvPr>
          <p:cNvSpPr/>
          <p:nvPr/>
        </p:nvSpPr>
        <p:spPr>
          <a:xfrm>
            <a:off x="2482351" y="2856547"/>
            <a:ext cx="731520" cy="472440"/>
          </a:xfrm>
          <a:prstGeom prst="round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向销售部发送订单</a:t>
            </a:r>
            <a:endParaRPr kumimoji="1" lang="ja-JP" altLang="en-US" sz="1000" dirty="0">
              <a:solidFill>
                <a:schemeClr val="tx1"/>
              </a:solidFill>
            </a:endParaRPr>
          </a:p>
        </p:txBody>
      </p:sp>
      <p:cxnSp>
        <p:nvCxnSpPr>
          <p:cNvPr id="18" name="直線矢印コネクタ 17">
            <a:extLst>
              <a:ext uri="{FF2B5EF4-FFF2-40B4-BE49-F238E27FC236}">
                <a16:creationId xmlns:a16="http://schemas.microsoft.com/office/drawing/2014/main" id="{3785CBBA-54E4-2146-BD11-F4CE1646F4EB}"/>
              </a:ext>
            </a:extLst>
          </p:cNvPr>
          <p:cNvCxnSpPr>
            <a:stCxn id="9" idx="2"/>
            <a:endCxn id="15" idx="0"/>
          </p:cNvCxnSpPr>
          <p:nvPr/>
        </p:nvCxnSpPr>
        <p:spPr>
          <a:xfrm>
            <a:off x="1377450" y="1948815"/>
            <a:ext cx="0" cy="9077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00A429D0-99DC-CE48-B611-5D0EA522D0D6}"/>
              </a:ext>
            </a:extLst>
          </p:cNvPr>
          <p:cNvCxnSpPr>
            <a:cxnSpLocks/>
            <a:stCxn id="15" idx="3"/>
            <a:endCxn id="16" idx="1"/>
          </p:cNvCxnSpPr>
          <p:nvPr/>
        </p:nvCxnSpPr>
        <p:spPr>
          <a:xfrm>
            <a:off x="1743210" y="3092767"/>
            <a:ext cx="73914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角丸四角形 21">
            <a:extLst>
              <a:ext uri="{FF2B5EF4-FFF2-40B4-BE49-F238E27FC236}">
                <a16:creationId xmlns:a16="http://schemas.microsoft.com/office/drawing/2014/main" id="{AB630584-EF5C-6142-BB53-62059FBB5C1F}"/>
              </a:ext>
            </a:extLst>
          </p:cNvPr>
          <p:cNvSpPr/>
          <p:nvPr/>
        </p:nvSpPr>
        <p:spPr>
          <a:xfrm>
            <a:off x="8359140" y="2856547"/>
            <a:ext cx="868680" cy="47244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bg1"/>
                </a:solidFill>
              </a:rPr>
              <a:t>最终检查</a:t>
            </a:r>
            <a:endParaRPr kumimoji="1" lang="en-US" altLang="zh-CN" sz="1000" dirty="0">
              <a:solidFill>
                <a:schemeClr val="bg1"/>
              </a:solidFill>
            </a:endParaRPr>
          </a:p>
          <a:p>
            <a:pPr algn="ctr"/>
            <a:r>
              <a:rPr kumimoji="1" lang="zh-CN" altLang="en-US" sz="1000" dirty="0">
                <a:solidFill>
                  <a:schemeClr val="bg1"/>
                </a:solidFill>
              </a:rPr>
              <a:t>与交货</a:t>
            </a:r>
            <a:endParaRPr kumimoji="1" lang="ja-JP" altLang="en-US" sz="1000" dirty="0">
              <a:solidFill>
                <a:schemeClr val="bg1"/>
              </a:solidFill>
            </a:endParaRPr>
          </a:p>
        </p:txBody>
      </p:sp>
      <p:cxnSp>
        <p:nvCxnSpPr>
          <p:cNvPr id="23" name="直線矢印コネクタ 22">
            <a:extLst>
              <a:ext uri="{FF2B5EF4-FFF2-40B4-BE49-F238E27FC236}">
                <a16:creationId xmlns:a16="http://schemas.microsoft.com/office/drawing/2014/main" id="{935508A0-ABA8-024A-B64E-C1584EEA9297}"/>
              </a:ext>
            </a:extLst>
          </p:cNvPr>
          <p:cNvCxnSpPr>
            <a:cxnSpLocks/>
            <a:stCxn id="22" idx="0"/>
            <a:endCxn id="14" idx="2"/>
          </p:cNvCxnSpPr>
          <p:nvPr/>
        </p:nvCxnSpPr>
        <p:spPr>
          <a:xfrm flipV="1">
            <a:off x="8793480" y="1948815"/>
            <a:ext cx="0" cy="9077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角丸四角形 25">
            <a:extLst>
              <a:ext uri="{FF2B5EF4-FFF2-40B4-BE49-F238E27FC236}">
                <a16:creationId xmlns:a16="http://schemas.microsoft.com/office/drawing/2014/main" id="{A6679C72-E182-594D-B1E1-EF827EB95B65}"/>
              </a:ext>
            </a:extLst>
          </p:cNvPr>
          <p:cNvSpPr/>
          <p:nvPr/>
        </p:nvSpPr>
        <p:spPr>
          <a:xfrm>
            <a:off x="6888479" y="2856547"/>
            <a:ext cx="731520" cy="472440"/>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bg1"/>
                </a:solidFill>
              </a:rPr>
              <a:t>接收</a:t>
            </a:r>
            <a:endParaRPr kumimoji="1" lang="en-US" altLang="zh-CN" sz="1000" dirty="0">
              <a:solidFill>
                <a:schemeClr val="bg1"/>
              </a:solidFill>
            </a:endParaRPr>
          </a:p>
          <a:p>
            <a:pPr algn="ctr"/>
            <a:r>
              <a:rPr kumimoji="1" lang="zh-CN" altLang="en-US" sz="1000" dirty="0">
                <a:solidFill>
                  <a:schemeClr val="bg1"/>
                </a:solidFill>
              </a:rPr>
              <a:t>成品</a:t>
            </a:r>
            <a:endParaRPr kumimoji="1" lang="ja-JP" altLang="en-US" sz="1000" dirty="0">
              <a:solidFill>
                <a:schemeClr val="bg1"/>
              </a:solidFill>
            </a:endParaRPr>
          </a:p>
        </p:txBody>
      </p:sp>
      <p:sp>
        <p:nvSpPr>
          <p:cNvPr id="27" name="角丸四角形 26">
            <a:extLst>
              <a:ext uri="{FF2B5EF4-FFF2-40B4-BE49-F238E27FC236}">
                <a16:creationId xmlns:a16="http://schemas.microsoft.com/office/drawing/2014/main" id="{C5C6D52F-E25D-9C41-8FB0-FB98D2FD365F}"/>
              </a:ext>
            </a:extLst>
          </p:cNvPr>
          <p:cNvSpPr/>
          <p:nvPr/>
        </p:nvSpPr>
        <p:spPr>
          <a:xfrm>
            <a:off x="6886713" y="5617845"/>
            <a:ext cx="731520" cy="472440"/>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bg1"/>
                </a:solidFill>
              </a:rPr>
              <a:t>发送</a:t>
            </a:r>
            <a:endParaRPr kumimoji="1" lang="en-US" altLang="zh-CN" sz="1000" dirty="0">
              <a:solidFill>
                <a:schemeClr val="bg1"/>
              </a:solidFill>
            </a:endParaRPr>
          </a:p>
          <a:p>
            <a:pPr algn="ctr"/>
            <a:r>
              <a:rPr kumimoji="1" lang="zh-CN" altLang="en-US" sz="1000" dirty="0">
                <a:solidFill>
                  <a:schemeClr val="bg1"/>
                </a:solidFill>
              </a:rPr>
              <a:t>成品</a:t>
            </a:r>
            <a:endParaRPr kumimoji="1" lang="ja-JP" altLang="en-US" sz="1000" dirty="0">
              <a:solidFill>
                <a:schemeClr val="bg1"/>
              </a:solidFill>
            </a:endParaRPr>
          </a:p>
        </p:txBody>
      </p:sp>
      <p:cxnSp>
        <p:nvCxnSpPr>
          <p:cNvPr id="28" name="直線矢印コネクタ 27">
            <a:extLst>
              <a:ext uri="{FF2B5EF4-FFF2-40B4-BE49-F238E27FC236}">
                <a16:creationId xmlns:a16="http://schemas.microsoft.com/office/drawing/2014/main" id="{78F3FD33-33C4-154B-A357-BF00B52E4BB1}"/>
              </a:ext>
            </a:extLst>
          </p:cNvPr>
          <p:cNvCxnSpPr>
            <a:cxnSpLocks/>
            <a:stCxn id="26" idx="3"/>
            <a:endCxn id="22" idx="1"/>
          </p:cNvCxnSpPr>
          <p:nvPr/>
        </p:nvCxnSpPr>
        <p:spPr>
          <a:xfrm>
            <a:off x="7619999" y="3092767"/>
            <a:ext cx="73914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E56364B0-5722-0D45-BE96-D3EBEE7F841E}"/>
              </a:ext>
            </a:extLst>
          </p:cNvPr>
          <p:cNvCxnSpPr>
            <a:cxnSpLocks/>
            <a:stCxn id="27" idx="0"/>
            <a:endCxn id="26" idx="2"/>
          </p:cNvCxnSpPr>
          <p:nvPr/>
        </p:nvCxnSpPr>
        <p:spPr>
          <a:xfrm flipV="1">
            <a:off x="7252473" y="3328987"/>
            <a:ext cx="1766" cy="22888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角丸四角形 33">
            <a:extLst>
              <a:ext uri="{FF2B5EF4-FFF2-40B4-BE49-F238E27FC236}">
                <a16:creationId xmlns:a16="http://schemas.microsoft.com/office/drawing/2014/main" id="{E6B9AFE9-F9BF-A345-8513-2AB39698C159}"/>
              </a:ext>
            </a:extLst>
          </p:cNvPr>
          <p:cNvSpPr/>
          <p:nvPr/>
        </p:nvSpPr>
        <p:spPr>
          <a:xfrm>
            <a:off x="5412242" y="5640705"/>
            <a:ext cx="731520" cy="472440"/>
          </a:xfrm>
          <a:prstGeom prst="roundRect">
            <a:avLst/>
          </a:prstGeom>
          <a:solidFill>
            <a:schemeClr val="tx1">
              <a:lumMod val="65000"/>
              <a:lumOff val="3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bg1"/>
                </a:solidFill>
              </a:rPr>
              <a:t>生产</a:t>
            </a:r>
            <a:endParaRPr kumimoji="1" lang="ja-JP" altLang="en-US" sz="1000" dirty="0">
              <a:solidFill>
                <a:schemeClr val="bg1"/>
              </a:solidFill>
            </a:endParaRPr>
          </a:p>
        </p:txBody>
      </p:sp>
      <p:cxnSp>
        <p:nvCxnSpPr>
          <p:cNvPr id="35" name="直線矢印コネクタ 34">
            <a:extLst>
              <a:ext uri="{FF2B5EF4-FFF2-40B4-BE49-F238E27FC236}">
                <a16:creationId xmlns:a16="http://schemas.microsoft.com/office/drawing/2014/main" id="{FF24073C-1136-F744-BC71-A4CCC123500A}"/>
              </a:ext>
            </a:extLst>
          </p:cNvPr>
          <p:cNvCxnSpPr>
            <a:cxnSpLocks/>
          </p:cNvCxnSpPr>
          <p:nvPr/>
        </p:nvCxnSpPr>
        <p:spPr>
          <a:xfrm>
            <a:off x="6147572" y="5876925"/>
            <a:ext cx="73914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角丸四角形 35">
            <a:extLst>
              <a:ext uri="{FF2B5EF4-FFF2-40B4-BE49-F238E27FC236}">
                <a16:creationId xmlns:a16="http://schemas.microsoft.com/office/drawing/2014/main" id="{E1EA81F6-CF9B-FE49-B74C-85ECED36603B}"/>
              </a:ext>
            </a:extLst>
          </p:cNvPr>
          <p:cNvSpPr/>
          <p:nvPr/>
        </p:nvSpPr>
        <p:spPr>
          <a:xfrm>
            <a:off x="2482351" y="4245293"/>
            <a:ext cx="731520" cy="47244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制作生产合同</a:t>
            </a:r>
            <a:endParaRPr kumimoji="1" lang="ja-JP" altLang="en-US" sz="1000" dirty="0">
              <a:solidFill>
                <a:schemeClr val="tx1"/>
              </a:solidFill>
            </a:endParaRPr>
          </a:p>
        </p:txBody>
      </p:sp>
      <p:cxnSp>
        <p:nvCxnSpPr>
          <p:cNvPr id="37" name="直線矢印コネクタ 36">
            <a:extLst>
              <a:ext uri="{FF2B5EF4-FFF2-40B4-BE49-F238E27FC236}">
                <a16:creationId xmlns:a16="http://schemas.microsoft.com/office/drawing/2014/main" id="{53402331-6FA2-3D48-A3DF-4FA41FE9B5ED}"/>
              </a:ext>
            </a:extLst>
          </p:cNvPr>
          <p:cNvCxnSpPr>
            <a:cxnSpLocks/>
            <a:stCxn id="16" idx="2"/>
            <a:endCxn id="36" idx="0"/>
          </p:cNvCxnSpPr>
          <p:nvPr/>
        </p:nvCxnSpPr>
        <p:spPr>
          <a:xfrm>
            <a:off x="2848111" y="3328987"/>
            <a:ext cx="0" cy="9163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角丸四角形 42">
            <a:extLst>
              <a:ext uri="{FF2B5EF4-FFF2-40B4-BE49-F238E27FC236}">
                <a16:creationId xmlns:a16="http://schemas.microsoft.com/office/drawing/2014/main" id="{D2B1817F-477A-7945-9171-D9EF27A6795A}"/>
              </a:ext>
            </a:extLst>
          </p:cNvPr>
          <p:cNvSpPr/>
          <p:nvPr/>
        </p:nvSpPr>
        <p:spPr>
          <a:xfrm>
            <a:off x="3953012" y="4245293"/>
            <a:ext cx="731520" cy="472440"/>
          </a:xfrm>
          <a:prstGeom prst="round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向工厂发送订单</a:t>
            </a:r>
            <a:endParaRPr kumimoji="1" lang="ja-JP" altLang="en-US" sz="1000" dirty="0">
              <a:solidFill>
                <a:schemeClr val="tx1"/>
              </a:solidFill>
            </a:endParaRPr>
          </a:p>
        </p:txBody>
      </p:sp>
      <p:cxnSp>
        <p:nvCxnSpPr>
          <p:cNvPr id="44" name="直線矢印コネクタ 43">
            <a:extLst>
              <a:ext uri="{FF2B5EF4-FFF2-40B4-BE49-F238E27FC236}">
                <a16:creationId xmlns:a16="http://schemas.microsoft.com/office/drawing/2014/main" id="{1DF22818-83D9-584B-8C2D-2976EE2FC5E4}"/>
              </a:ext>
            </a:extLst>
          </p:cNvPr>
          <p:cNvCxnSpPr>
            <a:cxnSpLocks/>
            <a:endCxn id="43" idx="1"/>
          </p:cNvCxnSpPr>
          <p:nvPr/>
        </p:nvCxnSpPr>
        <p:spPr>
          <a:xfrm>
            <a:off x="3213871" y="4481513"/>
            <a:ext cx="73914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角丸四角形 44">
            <a:extLst>
              <a:ext uri="{FF2B5EF4-FFF2-40B4-BE49-F238E27FC236}">
                <a16:creationId xmlns:a16="http://schemas.microsoft.com/office/drawing/2014/main" id="{1F57660F-B633-EF41-9CE5-70BAD410B171}"/>
              </a:ext>
            </a:extLst>
          </p:cNvPr>
          <p:cNvSpPr/>
          <p:nvPr/>
        </p:nvSpPr>
        <p:spPr>
          <a:xfrm>
            <a:off x="3952128" y="5617845"/>
            <a:ext cx="731520" cy="47244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确认</a:t>
            </a:r>
            <a:endParaRPr kumimoji="1" lang="en-US" altLang="zh-CN" sz="1000" dirty="0">
              <a:solidFill>
                <a:schemeClr val="tx1"/>
              </a:solidFill>
            </a:endParaRPr>
          </a:p>
          <a:p>
            <a:pPr algn="ctr"/>
            <a:r>
              <a:rPr kumimoji="1" lang="zh-CN" altLang="en-US" sz="1000" dirty="0">
                <a:solidFill>
                  <a:schemeClr val="tx1"/>
                </a:solidFill>
              </a:rPr>
              <a:t>库存</a:t>
            </a:r>
            <a:endParaRPr kumimoji="1" lang="ja-JP" altLang="en-US" sz="1000" dirty="0">
              <a:solidFill>
                <a:schemeClr val="tx1"/>
              </a:solidFill>
            </a:endParaRPr>
          </a:p>
        </p:txBody>
      </p:sp>
      <p:cxnSp>
        <p:nvCxnSpPr>
          <p:cNvPr id="46" name="直線矢印コネクタ 45">
            <a:extLst>
              <a:ext uri="{FF2B5EF4-FFF2-40B4-BE49-F238E27FC236}">
                <a16:creationId xmlns:a16="http://schemas.microsoft.com/office/drawing/2014/main" id="{77041F32-C75B-DA42-98FA-88C2CC6221B1}"/>
              </a:ext>
            </a:extLst>
          </p:cNvPr>
          <p:cNvCxnSpPr>
            <a:cxnSpLocks/>
            <a:stCxn id="43" idx="2"/>
            <a:endCxn id="45" idx="0"/>
          </p:cNvCxnSpPr>
          <p:nvPr/>
        </p:nvCxnSpPr>
        <p:spPr>
          <a:xfrm flipH="1">
            <a:off x="4317888" y="4717733"/>
            <a:ext cx="884" cy="9001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5E04D36C-09C2-024E-9DE5-2096544C1BB4}"/>
              </a:ext>
            </a:extLst>
          </p:cNvPr>
          <p:cNvCxnSpPr>
            <a:cxnSpLocks/>
          </p:cNvCxnSpPr>
          <p:nvPr/>
        </p:nvCxnSpPr>
        <p:spPr>
          <a:xfrm>
            <a:off x="4683648" y="5876925"/>
            <a:ext cx="73914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0634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16</a:t>
            </a:r>
            <a:r>
              <a:rPr lang="ja-JP" altLang="en-US" sz="2600" dirty="0">
                <a:solidFill>
                  <a:schemeClr val="bg1"/>
                </a:solidFill>
              </a:rPr>
              <a:t>　</a:t>
            </a:r>
            <a:r>
              <a:rPr lang="zh-CN" altLang="en-US" sz="2600" dirty="0">
                <a:solidFill>
                  <a:schemeClr val="bg1"/>
                </a:solidFill>
              </a:rPr>
              <a:t>差距</a:t>
            </a:r>
            <a:r>
              <a:rPr lang="ja-JP" altLang="en-US" sz="2600" dirty="0">
                <a:solidFill>
                  <a:schemeClr val="bg1"/>
                </a:solidFill>
              </a:rPr>
              <a:t>分析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66</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写下理想状态</a:t>
            </a:r>
            <a:r>
              <a:rPr lang="en-US" altLang="zh-CN" sz="1138" dirty="0"/>
              <a:t>(</a:t>
            </a:r>
            <a:r>
              <a:rPr lang="zh-CN" altLang="en-US" sz="1138" dirty="0"/>
              <a:t>本公司和自己的目标</a:t>
            </a:r>
            <a:r>
              <a:rPr lang="en-US" altLang="zh-CN" sz="1138" dirty="0"/>
              <a:t>)</a:t>
            </a:r>
            <a:r>
              <a:rPr lang="zh-CN" altLang="en-US" sz="1138" dirty="0"/>
              <a:t>和现在的状态，明确两者之间的差距</a:t>
            </a:r>
            <a:r>
              <a:rPr lang="en-US" altLang="zh-CN" sz="1138" dirty="0"/>
              <a:t>(</a:t>
            </a:r>
            <a:r>
              <a:rPr lang="zh-CN" altLang="en-US" sz="1138" dirty="0"/>
              <a:t>问题</a:t>
            </a:r>
            <a:r>
              <a:rPr lang="en-US" altLang="zh-CN" sz="1138" dirty="0"/>
              <a:t>)</a:t>
            </a:r>
            <a:r>
              <a:rPr lang="zh-CN" altLang="en-US" sz="1138" dirty="0"/>
              <a:t>，然后考虑具体的措施。</a:t>
            </a:r>
            <a:endParaRPr lang="en-US" altLang="ja-JP" sz="1138" dirty="0"/>
          </a:p>
        </p:txBody>
      </p:sp>
      <p:graphicFrame>
        <p:nvGraphicFramePr>
          <p:cNvPr id="5" name="表 5">
            <a:extLst>
              <a:ext uri="{FF2B5EF4-FFF2-40B4-BE49-F238E27FC236}">
                <a16:creationId xmlns:a16="http://schemas.microsoft.com/office/drawing/2014/main" id="{0E526F07-3F75-BB45-8ED1-858275335DA8}"/>
              </a:ext>
            </a:extLst>
          </p:cNvPr>
          <p:cNvGraphicFramePr>
            <a:graphicFrameLocks noGrp="1"/>
          </p:cNvGraphicFramePr>
          <p:nvPr>
            <p:extLst>
              <p:ext uri="{D42A27DB-BD31-4B8C-83A1-F6EECF244321}">
                <p14:modId xmlns:p14="http://schemas.microsoft.com/office/powerpoint/2010/main" val="1031864191"/>
              </p:ext>
            </p:extLst>
          </p:nvPr>
        </p:nvGraphicFramePr>
        <p:xfrm>
          <a:off x="354051" y="1066800"/>
          <a:ext cx="9197896" cy="5433057"/>
        </p:xfrm>
        <a:graphic>
          <a:graphicData uri="http://schemas.openxmlformats.org/drawingml/2006/table">
            <a:tbl>
              <a:tblPr bandRow="1">
                <a:tableStyleId>{1FECB4D8-DB02-4DC6-A0A2-4F2EBAE1DC90}</a:tableStyleId>
              </a:tblPr>
              <a:tblGrid>
                <a:gridCol w="2299474">
                  <a:extLst>
                    <a:ext uri="{9D8B030D-6E8A-4147-A177-3AD203B41FA5}">
                      <a16:colId xmlns:a16="http://schemas.microsoft.com/office/drawing/2014/main" val="2148545080"/>
                    </a:ext>
                  </a:extLst>
                </a:gridCol>
                <a:gridCol w="2299474">
                  <a:extLst>
                    <a:ext uri="{9D8B030D-6E8A-4147-A177-3AD203B41FA5}">
                      <a16:colId xmlns:a16="http://schemas.microsoft.com/office/drawing/2014/main" val="1931802237"/>
                    </a:ext>
                  </a:extLst>
                </a:gridCol>
                <a:gridCol w="2299474">
                  <a:extLst>
                    <a:ext uri="{9D8B030D-6E8A-4147-A177-3AD203B41FA5}">
                      <a16:colId xmlns:a16="http://schemas.microsoft.com/office/drawing/2014/main" val="3044139504"/>
                    </a:ext>
                  </a:extLst>
                </a:gridCol>
                <a:gridCol w="2299474">
                  <a:extLst>
                    <a:ext uri="{9D8B030D-6E8A-4147-A177-3AD203B41FA5}">
                      <a16:colId xmlns:a16="http://schemas.microsoft.com/office/drawing/2014/main" val="3954675297"/>
                    </a:ext>
                  </a:extLst>
                </a:gridCol>
              </a:tblGrid>
              <a:tr h="776151">
                <a:tc>
                  <a:txBody>
                    <a:bodyPr/>
                    <a:lstStyle/>
                    <a:p>
                      <a:pPr algn="ctr"/>
                      <a:r>
                        <a:rPr kumimoji="1" lang="zh-CN" altLang="en-US" dirty="0"/>
                        <a:t>理想状态</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dirty="0"/>
                        <a:t>现状</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dirty="0"/>
                        <a:t>差距（问题）</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dirty="0"/>
                        <a:t>具体行动</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985668092"/>
                  </a:ext>
                </a:extLst>
              </a:tr>
              <a:tr h="776151">
                <a:tc>
                  <a:txBody>
                    <a:bodyPr/>
                    <a:lstStyle/>
                    <a:p>
                      <a:pPr algn="l"/>
                      <a:endParaRPr kumimoji="1" lang="ja-JP" altLang="en-US"/>
                    </a:p>
                  </a:txBody>
                  <a:tcPr>
                    <a:lnR w="12700" cap="flat" cmpd="sng" algn="ctr">
                      <a:solidFill>
                        <a:schemeClr val="bg2">
                          <a:lumMod val="75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noFill/>
                  </a:tcPr>
                </a:tc>
                <a:extLst>
                  <a:ext uri="{0D108BD9-81ED-4DB2-BD59-A6C34878D82A}">
                    <a16:rowId xmlns:a16="http://schemas.microsoft.com/office/drawing/2014/main" val="1834999952"/>
                  </a:ext>
                </a:extLst>
              </a:tr>
              <a:tr h="776151">
                <a:tc>
                  <a:txBody>
                    <a:bodyPr/>
                    <a:lstStyle/>
                    <a:p>
                      <a:pPr algn="l"/>
                      <a:endParaRPr kumimoji="1" lang="ja-JP" altLang="en-US"/>
                    </a:p>
                  </a:txBody>
                  <a:tcPr>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noFill/>
                  </a:tcPr>
                </a:tc>
                <a:extLst>
                  <a:ext uri="{0D108BD9-81ED-4DB2-BD59-A6C34878D82A}">
                    <a16:rowId xmlns:a16="http://schemas.microsoft.com/office/drawing/2014/main" val="4284443762"/>
                  </a:ext>
                </a:extLst>
              </a:tr>
              <a:tr h="776151">
                <a:tc>
                  <a:txBody>
                    <a:bodyPr/>
                    <a:lstStyle/>
                    <a:p>
                      <a:pPr algn="l"/>
                      <a:endParaRPr kumimoji="1" lang="ja-JP" altLang="en-US"/>
                    </a:p>
                  </a:txBody>
                  <a:tcPr>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noFill/>
                  </a:tcPr>
                </a:tc>
                <a:extLst>
                  <a:ext uri="{0D108BD9-81ED-4DB2-BD59-A6C34878D82A}">
                    <a16:rowId xmlns:a16="http://schemas.microsoft.com/office/drawing/2014/main" val="1784978367"/>
                  </a:ext>
                </a:extLst>
              </a:tr>
              <a:tr h="776151">
                <a:tc>
                  <a:txBody>
                    <a:bodyPr/>
                    <a:lstStyle/>
                    <a:p>
                      <a:pPr algn="l"/>
                      <a:endParaRPr kumimoji="1" lang="ja-JP" altLang="en-US"/>
                    </a:p>
                  </a:txBody>
                  <a:tcPr>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noFill/>
                  </a:tcPr>
                </a:tc>
                <a:extLst>
                  <a:ext uri="{0D108BD9-81ED-4DB2-BD59-A6C34878D82A}">
                    <a16:rowId xmlns:a16="http://schemas.microsoft.com/office/drawing/2014/main" val="3165384126"/>
                  </a:ext>
                </a:extLst>
              </a:tr>
              <a:tr h="776151">
                <a:tc>
                  <a:txBody>
                    <a:bodyPr/>
                    <a:lstStyle/>
                    <a:p>
                      <a:pPr algn="l"/>
                      <a:endParaRPr kumimoji="1" lang="ja-JP" altLang="en-US"/>
                    </a:p>
                  </a:txBody>
                  <a:tcPr>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noFill/>
                  </a:tcPr>
                </a:tc>
                <a:extLst>
                  <a:ext uri="{0D108BD9-81ED-4DB2-BD59-A6C34878D82A}">
                    <a16:rowId xmlns:a16="http://schemas.microsoft.com/office/drawing/2014/main" val="3225563286"/>
                  </a:ext>
                </a:extLst>
              </a:tr>
              <a:tr h="776151">
                <a:tc>
                  <a:txBody>
                    <a:bodyPr/>
                    <a:lstStyle/>
                    <a:p>
                      <a:pPr algn="l"/>
                      <a:endParaRPr kumimoji="1" lang="ja-JP" altLang="en-US"/>
                    </a:p>
                  </a:txBody>
                  <a:tcPr>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noFill/>
                  </a:tcPr>
                </a:tc>
                <a:tc>
                  <a:txBody>
                    <a:bodyPr/>
                    <a:lstStyle/>
                    <a:p>
                      <a:pPr algn="l"/>
                      <a:endParaRPr kumimoji="1" lang="ja-JP" altLang="en-US" dirty="0"/>
                    </a:p>
                  </a:txBody>
                  <a:tcPr>
                    <a:lnL w="12700" cap="flat" cmpd="sng" algn="ctr">
                      <a:solidFill>
                        <a:schemeClr val="bg2">
                          <a:lumMod val="75000"/>
                        </a:schemeClr>
                      </a:solidFill>
                      <a:prstDash val="solid"/>
                      <a:round/>
                      <a:headEnd type="none" w="med" len="med"/>
                      <a:tailEnd type="none" w="med" len="med"/>
                    </a:lnL>
                    <a:noFill/>
                  </a:tcPr>
                </a:tc>
                <a:extLst>
                  <a:ext uri="{0D108BD9-81ED-4DB2-BD59-A6C34878D82A}">
                    <a16:rowId xmlns:a16="http://schemas.microsoft.com/office/drawing/2014/main" val="2940436946"/>
                  </a:ext>
                </a:extLst>
              </a:tr>
            </a:tbl>
          </a:graphicData>
        </a:graphic>
      </p:graphicFrame>
      <p:sp>
        <p:nvSpPr>
          <p:cNvPr id="6" name="三角形 5">
            <a:extLst>
              <a:ext uri="{FF2B5EF4-FFF2-40B4-BE49-F238E27FC236}">
                <a16:creationId xmlns:a16="http://schemas.microsoft.com/office/drawing/2014/main" id="{6B2DF410-1F4A-FA4C-8C5B-3AC5E419A316}"/>
              </a:ext>
            </a:extLst>
          </p:cNvPr>
          <p:cNvSpPr/>
          <p:nvPr/>
        </p:nvSpPr>
        <p:spPr>
          <a:xfrm rot="5400000">
            <a:off x="2451595" y="216499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三角形 8">
            <a:extLst>
              <a:ext uri="{FF2B5EF4-FFF2-40B4-BE49-F238E27FC236}">
                <a16:creationId xmlns:a16="http://schemas.microsoft.com/office/drawing/2014/main" id="{2400EAD0-DCC6-2041-93DB-9C15C9EECFE5}"/>
              </a:ext>
            </a:extLst>
          </p:cNvPr>
          <p:cNvSpPr/>
          <p:nvPr/>
        </p:nvSpPr>
        <p:spPr>
          <a:xfrm rot="5400000">
            <a:off x="2451595" y="292872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三角形 9">
            <a:extLst>
              <a:ext uri="{FF2B5EF4-FFF2-40B4-BE49-F238E27FC236}">
                <a16:creationId xmlns:a16="http://schemas.microsoft.com/office/drawing/2014/main" id="{5D10E499-1B16-C94D-9E1F-641C2F680E78}"/>
              </a:ext>
            </a:extLst>
          </p:cNvPr>
          <p:cNvSpPr/>
          <p:nvPr/>
        </p:nvSpPr>
        <p:spPr>
          <a:xfrm rot="5400000">
            <a:off x="2451595" y="369245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三角形 10">
            <a:extLst>
              <a:ext uri="{FF2B5EF4-FFF2-40B4-BE49-F238E27FC236}">
                <a16:creationId xmlns:a16="http://schemas.microsoft.com/office/drawing/2014/main" id="{7480FE4C-8297-244A-B572-65C34D54DD5B}"/>
              </a:ext>
            </a:extLst>
          </p:cNvPr>
          <p:cNvSpPr/>
          <p:nvPr/>
        </p:nvSpPr>
        <p:spPr>
          <a:xfrm rot="5400000">
            <a:off x="2451595" y="4456182"/>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三角形 11">
            <a:extLst>
              <a:ext uri="{FF2B5EF4-FFF2-40B4-BE49-F238E27FC236}">
                <a16:creationId xmlns:a16="http://schemas.microsoft.com/office/drawing/2014/main" id="{A39AD4A1-30A4-8848-8C0F-3DB48525B7C9}"/>
              </a:ext>
            </a:extLst>
          </p:cNvPr>
          <p:cNvSpPr/>
          <p:nvPr/>
        </p:nvSpPr>
        <p:spPr>
          <a:xfrm rot="5400000">
            <a:off x="2451595" y="5234063"/>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三角形 12">
            <a:extLst>
              <a:ext uri="{FF2B5EF4-FFF2-40B4-BE49-F238E27FC236}">
                <a16:creationId xmlns:a16="http://schemas.microsoft.com/office/drawing/2014/main" id="{76226715-617B-B544-BFAC-C7BF0E542D8C}"/>
              </a:ext>
            </a:extLst>
          </p:cNvPr>
          <p:cNvSpPr/>
          <p:nvPr/>
        </p:nvSpPr>
        <p:spPr>
          <a:xfrm rot="5400000">
            <a:off x="2451595" y="5997793"/>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三角形 13">
            <a:extLst>
              <a:ext uri="{FF2B5EF4-FFF2-40B4-BE49-F238E27FC236}">
                <a16:creationId xmlns:a16="http://schemas.microsoft.com/office/drawing/2014/main" id="{BE50525C-6E6E-FA41-9D9C-FD7C42EE3075}"/>
              </a:ext>
            </a:extLst>
          </p:cNvPr>
          <p:cNvSpPr/>
          <p:nvPr/>
        </p:nvSpPr>
        <p:spPr>
          <a:xfrm rot="5400000">
            <a:off x="4751068" y="216499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三角形 14">
            <a:extLst>
              <a:ext uri="{FF2B5EF4-FFF2-40B4-BE49-F238E27FC236}">
                <a16:creationId xmlns:a16="http://schemas.microsoft.com/office/drawing/2014/main" id="{BF84010B-9336-B147-8AA7-CE48E704A46D}"/>
              </a:ext>
            </a:extLst>
          </p:cNvPr>
          <p:cNvSpPr/>
          <p:nvPr/>
        </p:nvSpPr>
        <p:spPr>
          <a:xfrm rot="5400000">
            <a:off x="4751068" y="292872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三角形 15">
            <a:extLst>
              <a:ext uri="{FF2B5EF4-FFF2-40B4-BE49-F238E27FC236}">
                <a16:creationId xmlns:a16="http://schemas.microsoft.com/office/drawing/2014/main" id="{5B22560D-0F6D-F64B-8159-0070802751C2}"/>
              </a:ext>
            </a:extLst>
          </p:cNvPr>
          <p:cNvSpPr/>
          <p:nvPr/>
        </p:nvSpPr>
        <p:spPr>
          <a:xfrm rot="5400000">
            <a:off x="4751068" y="369245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三角形 16">
            <a:extLst>
              <a:ext uri="{FF2B5EF4-FFF2-40B4-BE49-F238E27FC236}">
                <a16:creationId xmlns:a16="http://schemas.microsoft.com/office/drawing/2014/main" id="{AD7B0C13-53CC-6B4F-BFDB-658F798A3875}"/>
              </a:ext>
            </a:extLst>
          </p:cNvPr>
          <p:cNvSpPr/>
          <p:nvPr/>
        </p:nvSpPr>
        <p:spPr>
          <a:xfrm rot="5400000">
            <a:off x="4751068" y="4456182"/>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三角形 17">
            <a:extLst>
              <a:ext uri="{FF2B5EF4-FFF2-40B4-BE49-F238E27FC236}">
                <a16:creationId xmlns:a16="http://schemas.microsoft.com/office/drawing/2014/main" id="{822253B2-1755-144E-A71F-CF95B1216B0E}"/>
              </a:ext>
            </a:extLst>
          </p:cNvPr>
          <p:cNvSpPr/>
          <p:nvPr/>
        </p:nvSpPr>
        <p:spPr>
          <a:xfrm rot="5400000">
            <a:off x="4751068" y="5234063"/>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三角形 18">
            <a:extLst>
              <a:ext uri="{FF2B5EF4-FFF2-40B4-BE49-F238E27FC236}">
                <a16:creationId xmlns:a16="http://schemas.microsoft.com/office/drawing/2014/main" id="{17F3DDD1-8D4A-C745-AE2C-327E9F8DE0EA}"/>
              </a:ext>
            </a:extLst>
          </p:cNvPr>
          <p:cNvSpPr/>
          <p:nvPr/>
        </p:nvSpPr>
        <p:spPr>
          <a:xfrm rot="5400000">
            <a:off x="4751068" y="5997793"/>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三角形 19">
            <a:extLst>
              <a:ext uri="{FF2B5EF4-FFF2-40B4-BE49-F238E27FC236}">
                <a16:creationId xmlns:a16="http://schemas.microsoft.com/office/drawing/2014/main" id="{57ACC41D-0D96-7F49-A5DF-667D4775CA65}"/>
              </a:ext>
            </a:extLst>
          </p:cNvPr>
          <p:cNvSpPr/>
          <p:nvPr/>
        </p:nvSpPr>
        <p:spPr>
          <a:xfrm rot="5400000">
            <a:off x="7099645" y="216499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三角形 20">
            <a:extLst>
              <a:ext uri="{FF2B5EF4-FFF2-40B4-BE49-F238E27FC236}">
                <a16:creationId xmlns:a16="http://schemas.microsoft.com/office/drawing/2014/main" id="{25B8179A-C968-0344-9174-A9ED58655A01}"/>
              </a:ext>
            </a:extLst>
          </p:cNvPr>
          <p:cNvSpPr/>
          <p:nvPr/>
        </p:nvSpPr>
        <p:spPr>
          <a:xfrm rot="5400000">
            <a:off x="7099645" y="292872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三角形 21">
            <a:extLst>
              <a:ext uri="{FF2B5EF4-FFF2-40B4-BE49-F238E27FC236}">
                <a16:creationId xmlns:a16="http://schemas.microsoft.com/office/drawing/2014/main" id="{32BD2A4A-4875-E344-8378-FF05FC9F4E24}"/>
              </a:ext>
            </a:extLst>
          </p:cNvPr>
          <p:cNvSpPr/>
          <p:nvPr/>
        </p:nvSpPr>
        <p:spPr>
          <a:xfrm rot="5400000">
            <a:off x="7099645" y="369245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三角形 22">
            <a:extLst>
              <a:ext uri="{FF2B5EF4-FFF2-40B4-BE49-F238E27FC236}">
                <a16:creationId xmlns:a16="http://schemas.microsoft.com/office/drawing/2014/main" id="{E9BC17DC-87E1-514A-9F9A-503801E50896}"/>
              </a:ext>
            </a:extLst>
          </p:cNvPr>
          <p:cNvSpPr/>
          <p:nvPr/>
        </p:nvSpPr>
        <p:spPr>
          <a:xfrm rot="5400000">
            <a:off x="7099645" y="4456182"/>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三角形 23">
            <a:extLst>
              <a:ext uri="{FF2B5EF4-FFF2-40B4-BE49-F238E27FC236}">
                <a16:creationId xmlns:a16="http://schemas.microsoft.com/office/drawing/2014/main" id="{BEDAA0AD-B17F-4A40-BE43-F7AB2351F28E}"/>
              </a:ext>
            </a:extLst>
          </p:cNvPr>
          <p:cNvSpPr/>
          <p:nvPr/>
        </p:nvSpPr>
        <p:spPr>
          <a:xfrm rot="5400000">
            <a:off x="7099645" y="5234063"/>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三角形 24">
            <a:extLst>
              <a:ext uri="{FF2B5EF4-FFF2-40B4-BE49-F238E27FC236}">
                <a16:creationId xmlns:a16="http://schemas.microsoft.com/office/drawing/2014/main" id="{84D7D07A-D124-C141-B0BA-D873666082C2}"/>
              </a:ext>
            </a:extLst>
          </p:cNvPr>
          <p:cNvSpPr/>
          <p:nvPr/>
        </p:nvSpPr>
        <p:spPr>
          <a:xfrm rot="5400000">
            <a:off x="7099645" y="5997793"/>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02945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17</a:t>
            </a:r>
            <a:r>
              <a:rPr lang="ja-JP" altLang="en-US" sz="2600" dirty="0">
                <a:solidFill>
                  <a:schemeClr val="bg1"/>
                </a:solidFill>
              </a:rPr>
              <a:t>　</a:t>
            </a:r>
            <a:r>
              <a:rPr lang="zh-CN" altLang="en-US" sz="2600" dirty="0">
                <a:solidFill>
                  <a:schemeClr val="bg1"/>
                </a:solidFill>
              </a:rPr>
              <a:t>议题树</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70</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确定课题（议题），以提问的形式分解要素，用“是</a:t>
            </a:r>
            <a:r>
              <a:rPr lang="en-US" altLang="zh-CN" sz="1138" dirty="0"/>
              <a:t>”</a:t>
            </a:r>
            <a:r>
              <a:rPr lang="zh-CN" altLang="en-US" sz="1138" dirty="0"/>
              <a:t>或“否</a:t>
            </a:r>
            <a:r>
              <a:rPr lang="en-US" altLang="zh-CN" sz="1138" dirty="0"/>
              <a:t>”</a:t>
            </a:r>
            <a:r>
              <a:rPr lang="zh-CN" altLang="en-US" sz="1138" dirty="0"/>
              <a:t>进行验证。如果一切都是“是</a:t>
            </a:r>
            <a:r>
              <a:rPr lang="en-US" altLang="zh-CN" sz="1138" dirty="0"/>
              <a:t>”</a:t>
            </a:r>
            <a:r>
              <a:rPr lang="zh-CN" altLang="en-US" sz="1138" dirty="0"/>
              <a:t>的话，就开始执行。</a:t>
            </a:r>
            <a:endParaRPr lang="en-US" altLang="ja-JP" sz="1138" dirty="0"/>
          </a:p>
        </p:txBody>
      </p:sp>
      <p:sp>
        <p:nvSpPr>
          <p:cNvPr id="7" name="角丸四角形 6">
            <a:extLst>
              <a:ext uri="{FF2B5EF4-FFF2-40B4-BE49-F238E27FC236}">
                <a16:creationId xmlns:a16="http://schemas.microsoft.com/office/drawing/2014/main" id="{7B670695-3120-794A-AF7F-D4117F942A1D}"/>
              </a:ext>
            </a:extLst>
          </p:cNvPr>
          <p:cNvSpPr/>
          <p:nvPr/>
        </p:nvSpPr>
        <p:spPr>
          <a:xfrm>
            <a:off x="5078051" y="1334478"/>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8" name="角丸四角形 7">
            <a:extLst>
              <a:ext uri="{FF2B5EF4-FFF2-40B4-BE49-F238E27FC236}">
                <a16:creationId xmlns:a16="http://schemas.microsoft.com/office/drawing/2014/main" id="{68D60081-24B2-894A-B6A4-4ECE85B426A4}"/>
              </a:ext>
            </a:extLst>
          </p:cNvPr>
          <p:cNvSpPr/>
          <p:nvPr/>
        </p:nvSpPr>
        <p:spPr>
          <a:xfrm>
            <a:off x="2725946" y="2172975"/>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9" name="角丸四角形 8">
            <a:extLst>
              <a:ext uri="{FF2B5EF4-FFF2-40B4-BE49-F238E27FC236}">
                <a16:creationId xmlns:a16="http://schemas.microsoft.com/office/drawing/2014/main" id="{497169F9-9E25-7648-A209-D7E241FABA35}"/>
              </a:ext>
            </a:extLst>
          </p:cNvPr>
          <p:cNvSpPr/>
          <p:nvPr/>
        </p:nvSpPr>
        <p:spPr>
          <a:xfrm>
            <a:off x="354052" y="3606615"/>
            <a:ext cx="1852101" cy="480060"/>
          </a:xfrm>
          <a:prstGeom prst="roundRect">
            <a:avLst/>
          </a:prstGeom>
          <a:solidFill>
            <a:schemeClr val="bg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1" name="角丸四角形 10">
            <a:extLst>
              <a:ext uri="{FF2B5EF4-FFF2-40B4-BE49-F238E27FC236}">
                <a16:creationId xmlns:a16="http://schemas.microsoft.com/office/drawing/2014/main" id="{1EC70F99-5D26-CA46-A437-31DCE4955DFA}"/>
              </a:ext>
            </a:extLst>
          </p:cNvPr>
          <p:cNvSpPr/>
          <p:nvPr/>
        </p:nvSpPr>
        <p:spPr>
          <a:xfrm>
            <a:off x="5078046" y="5179870"/>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2" name="角丸四角形 11">
            <a:extLst>
              <a:ext uri="{FF2B5EF4-FFF2-40B4-BE49-F238E27FC236}">
                <a16:creationId xmlns:a16="http://schemas.microsoft.com/office/drawing/2014/main" id="{824C40C5-1D78-C340-8148-382DAB4BB405}"/>
              </a:ext>
            </a:extLst>
          </p:cNvPr>
          <p:cNvSpPr/>
          <p:nvPr/>
        </p:nvSpPr>
        <p:spPr>
          <a:xfrm>
            <a:off x="5078049" y="6019800"/>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3" name="角丸四角形 12">
            <a:extLst>
              <a:ext uri="{FF2B5EF4-FFF2-40B4-BE49-F238E27FC236}">
                <a16:creationId xmlns:a16="http://schemas.microsoft.com/office/drawing/2014/main" id="{ADC15C87-C602-6442-9FA0-C448547AEC25}"/>
              </a:ext>
            </a:extLst>
          </p:cNvPr>
          <p:cNvSpPr/>
          <p:nvPr/>
        </p:nvSpPr>
        <p:spPr>
          <a:xfrm>
            <a:off x="5078047" y="4347321"/>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4" name="角丸四角形 13">
            <a:extLst>
              <a:ext uri="{FF2B5EF4-FFF2-40B4-BE49-F238E27FC236}">
                <a16:creationId xmlns:a16="http://schemas.microsoft.com/office/drawing/2014/main" id="{E85CAACD-A948-2245-A079-3C803944939A}"/>
              </a:ext>
            </a:extLst>
          </p:cNvPr>
          <p:cNvSpPr/>
          <p:nvPr/>
        </p:nvSpPr>
        <p:spPr>
          <a:xfrm>
            <a:off x="5078046" y="2172806"/>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6" name="角丸四角形 15">
            <a:extLst>
              <a:ext uri="{FF2B5EF4-FFF2-40B4-BE49-F238E27FC236}">
                <a16:creationId xmlns:a16="http://schemas.microsoft.com/office/drawing/2014/main" id="{0379D386-17C3-4444-A6B5-2CEFBF10E872}"/>
              </a:ext>
            </a:extLst>
          </p:cNvPr>
          <p:cNvSpPr/>
          <p:nvPr/>
        </p:nvSpPr>
        <p:spPr>
          <a:xfrm>
            <a:off x="5078045" y="3006957"/>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21" name="角丸四角形 20">
            <a:extLst>
              <a:ext uri="{FF2B5EF4-FFF2-40B4-BE49-F238E27FC236}">
                <a16:creationId xmlns:a16="http://schemas.microsoft.com/office/drawing/2014/main" id="{AE1757F4-9677-BA4B-A9E0-2B0EF847C040}"/>
              </a:ext>
            </a:extLst>
          </p:cNvPr>
          <p:cNvSpPr/>
          <p:nvPr/>
        </p:nvSpPr>
        <p:spPr>
          <a:xfrm>
            <a:off x="2725946" y="5179631"/>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58" name="テキスト ボックス 57">
            <a:extLst>
              <a:ext uri="{FF2B5EF4-FFF2-40B4-BE49-F238E27FC236}">
                <a16:creationId xmlns:a16="http://schemas.microsoft.com/office/drawing/2014/main" id="{CE335E1D-80E5-B24B-A61C-0544D8AB1711}"/>
              </a:ext>
            </a:extLst>
          </p:cNvPr>
          <p:cNvSpPr txBox="1"/>
          <p:nvPr/>
        </p:nvSpPr>
        <p:spPr>
          <a:xfrm>
            <a:off x="354052" y="3144950"/>
            <a:ext cx="1082412" cy="461665"/>
          </a:xfrm>
          <a:prstGeom prst="rect">
            <a:avLst/>
          </a:prstGeom>
          <a:noFill/>
        </p:spPr>
        <p:txBody>
          <a:bodyPr wrap="square" rtlCol="0">
            <a:spAutoFit/>
          </a:bodyPr>
          <a:lstStyle/>
          <a:p>
            <a:r>
              <a:rPr kumimoji="1" lang="zh-CN" altLang="en-US" sz="1200" dirty="0"/>
              <a:t>是否能够解决</a:t>
            </a:r>
            <a:r>
              <a:rPr kumimoji="1" lang="en-US" altLang="zh-CN" sz="1200" dirty="0"/>
              <a:t>××</a:t>
            </a:r>
            <a:r>
              <a:rPr kumimoji="1" lang="zh-CN" altLang="en-US" sz="1200" dirty="0"/>
              <a:t>（议题）</a:t>
            </a:r>
            <a:endParaRPr kumimoji="1" lang="ja-JP" altLang="en-US" sz="1200" dirty="0"/>
          </a:p>
        </p:txBody>
      </p:sp>
      <p:sp>
        <p:nvSpPr>
          <p:cNvPr id="59" name="テキスト ボックス 58">
            <a:extLst>
              <a:ext uri="{FF2B5EF4-FFF2-40B4-BE49-F238E27FC236}">
                <a16:creationId xmlns:a16="http://schemas.microsoft.com/office/drawing/2014/main" id="{FFF25488-AC6B-6D4E-BB18-867310ADB4E2}"/>
              </a:ext>
            </a:extLst>
          </p:cNvPr>
          <p:cNvSpPr txBox="1"/>
          <p:nvPr/>
        </p:nvSpPr>
        <p:spPr>
          <a:xfrm>
            <a:off x="2653525" y="1888356"/>
            <a:ext cx="800219" cy="276999"/>
          </a:xfrm>
          <a:prstGeom prst="rect">
            <a:avLst/>
          </a:prstGeom>
          <a:noFill/>
        </p:spPr>
        <p:txBody>
          <a:bodyPr wrap="none" rtlCol="0">
            <a:spAutoFit/>
          </a:bodyPr>
          <a:lstStyle/>
          <a:p>
            <a:r>
              <a:rPr kumimoji="1" lang="ja-JP" altLang="en-US" sz="1200" dirty="0"/>
              <a:t>①能吗？</a:t>
            </a:r>
          </a:p>
        </p:txBody>
      </p:sp>
      <p:sp>
        <p:nvSpPr>
          <p:cNvPr id="99" name="テキスト ボックス 98">
            <a:extLst>
              <a:ext uri="{FF2B5EF4-FFF2-40B4-BE49-F238E27FC236}">
                <a16:creationId xmlns:a16="http://schemas.microsoft.com/office/drawing/2014/main" id="{07C51C13-57C9-5E47-B242-4E83C8C9F31D}"/>
              </a:ext>
            </a:extLst>
          </p:cNvPr>
          <p:cNvSpPr txBox="1"/>
          <p:nvPr/>
        </p:nvSpPr>
        <p:spPr>
          <a:xfrm>
            <a:off x="2642535" y="4868817"/>
            <a:ext cx="800219" cy="276999"/>
          </a:xfrm>
          <a:prstGeom prst="rect">
            <a:avLst/>
          </a:prstGeom>
          <a:noFill/>
        </p:spPr>
        <p:txBody>
          <a:bodyPr wrap="none" rtlCol="0">
            <a:spAutoFit/>
          </a:bodyPr>
          <a:lstStyle/>
          <a:p>
            <a:r>
              <a:rPr kumimoji="1" lang="ja-JP" altLang="en-US" sz="1200" dirty="0"/>
              <a:t>②能吗？</a:t>
            </a:r>
          </a:p>
        </p:txBody>
      </p:sp>
      <p:sp>
        <p:nvSpPr>
          <p:cNvPr id="125" name="テキスト ボックス 124">
            <a:extLst>
              <a:ext uri="{FF2B5EF4-FFF2-40B4-BE49-F238E27FC236}">
                <a16:creationId xmlns:a16="http://schemas.microsoft.com/office/drawing/2014/main" id="{6C70F309-30EC-3F4F-9AE4-0D0E53DF7338}"/>
              </a:ext>
            </a:extLst>
          </p:cNvPr>
          <p:cNvSpPr txBox="1"/>
          <p:nvPr/>
        </p:nvSpPr>
        <p:spPr>
          <a:xfrm>
            <a:off x="4974871" y="1073064"/>
            <a:ext cx="925253" cy="276999"/>
          </a:xfrm>
          <a:prstGeom prst="rect">
            <a:avLst/>
          </a:prstGeom>
          <a:noFill/>
        </p:spPr>
        <p:txBody>
          <a:bodyPr wrap="none" rtlCol="0">
            <a:spAutoFit/>
          </a:bodyPr>
          <a:lstStyle/>
          <a:p>
            <a:r>
              <a:rPr kumimoji="1" lang="ja-JP" altLang="en-US" sz="1200" dirty="0"/>
              <a:t>①</a:t>
            </a:r>
            <a:r>
              <a:rPr kumimoji="1" lang="en-US" altLang="ja-JP" sz="1200" dirty="0"/>
              <a:t>-1</a:t>
            </a:r>
            <a:r>
              <a:rPr kumimoji="1" lang="ja-JP" altLang="en-US" sz="1200" dirty="0"/>
              <a:t>能吗？</a:t>
            </a:r>
          </a:p>
        </p:txBody>
      </p:sp>
      <p:sp>
        <p:nvSpPr>
          <p:cNvPr id="126" name="テキスト ボックス 125">
            <a:extLst>
              <a:ext uri="{FF2B5EF4-FFF2-40B4-BE49-F238E27FC236}">
                <a16:creationId xmlns:a16="http://schemas.microsoft.com/office/drawing/2014/main" id="{84135017-96B0-3443-ABCE-0D77EF807173}"/>
              </a:ext>
            </a:extLst>
          </p:cNvPr>
          <p:cNvSpPr txBox="1"/>
          <p:nvPr/>
        </p:nvSpPr>
        <p:spPr>
          <a:xfrm>
            <a:off x="4974871" y="1878229"/>
            <a:ext cx="925253" cy="276999"/>
          </a:xfrm>
          <a:prstGeom prst="rect">
            <a:avLst/>
          </a:prstGeom>
          <a:noFill/>
        </p:spPr>
        <p:txBody>
          <a:bodyPr wrap="none" rtlCol="0">
            <a:spAutoFit/>
          </a:bodyPr>
          <a:lstStyle/>
          <a:p>
            <a:r>
              <a:rPr kumimoji="1" lang="ja-JP" altLang="en-US" sz="1200" dirty="0"/>
              <a:t>①</a:t>
            </a:r>
            <a:r>
              <a:rPr kumimoji="1" lang="en-US" altLang="ja-JP" sz="1200" dirty="0"/>
              <a:t>-2</a:t>
            </a:r>
            <a:r>
              <a:rPr kumimoji="1" lang="ja-JP" altLang="en-US" sz="1200" dirty="0"/>
              <a:t>能吗？</a:t>
            </a:r>
          </a:p>
        </p:txBody>
      </p:sp>
      <p:sp>
        <p:nvSpPr>
          <p:cNvPr id="127" name="テキスト ボックス 126">
            <a:extLst>
              <a:ext uri="{FF2B5EF4-FFF2-40B4-BE49-F238E27FC236}">
                <a16:creationId xmlns:a16="http://schemas.microsoft.com/office/drawing/2014/main" id="{EF21BEDB-B1B0-8643-965E-1967806FDD25}"/>
              </a:ext>
            </a:extLst>
          </p:cNvPr>
          <p:cNvSpPr txBox="1"/>
          <p:nvPr/>
        </p:nvSpPr>
        <p:spPr>
          <a:xfrm>
            <a:off x="4974871" y="2739695"/>
            <a:ext cx="925253" cy="276999"/>
          </a:xfrm>
          <a:prstGeom prst="rect">
            <a:avLst/>
          </a:prstGeom>
          <a:noFill/>
        </p:spPr>
        <p:txBody>
          <a:bodyPr wrap="none" rtlCol="0">
            <a:spAutoFit/>
          </a:bodyPr>
          <a:lstStyle/>
          <a:p>
            <a:r>
              <a:rPr kumimoji="1" lang="ja-JP" altLang="en-US" sz="1200" dirty="0"/>
              <a:t>①</a:t>
            </a:r>
            <a:r>
              <a:rPr kumimoji="1" lang="en-US" altLang="ja-JP" sz="1200" dirty="0"/>
              <a:t>-3</a:t>
            </a:r>
            <a:r>
              <a:rPr kumimoji="1" lang="ja-JP" altLang="en-US" sz="1200" dirty="0"/>
              <a:t>能吗？</a:t>
            </a:r>
          </a:p>
        </p:txBody>
      </p:sp>
      <p:sp>
        <p:nvSpPr>
          <p:cNvPr id="128" name="テキスト ボックス 127">
            <a:extLst>
              <a:ext uri="{FF2B5EF4-FFF2-40B4-BE49-F238E27FC236}">
                <a16:creationId xmlns:a16="http://schemas.microsoft.com/office/drawing/2014/main" id="{9CB061AC-57B8-254C-9339-FB221B5BF905}"/>
              </a:ext>
            </a:extLst>
          </p:cNvPr>
          <p:cNvSpPr txBox="1"/>
          <p:nvPr/>
        </p:nvSpPr>
        <p:spPr>
          <a:xfrm>
            <a:off x="5078045" y="5754079"/>
            <a:ext cx="925253" cy="276999"/>
          </a:xfrm>
          <a:prstGeom prst="rect">
            <a:avLst/>
          </a:prstGeom>
          <a:noFill/>
        </p:spPr>
        <p:txBody>
          <a:bodyPr wrap="none" rtlCol="0">
            <a:spAutoFit/>
          </a:bodyPr>
          <a:lstStyle/>
          <a:p>
            <a:r>
              <a:rPr kumimoji="1" lang="ja-JP" altLang="en-US" sz="1200" dirty="0"/>
              <a:t>②</a:t>
            </a:r>
            <a:r>
              <a:rPr kumimoji="1" lang="en-US" altLang="ja-JP" sz="1200" dirty="0"/>
              <a:t>-3</a:t>
            </a:r>
            <a:r>
              <a:rPr kumimoji="1" lang="ja-JP" altLang="en-US" sz="1200" dirty="0"/>
              <a:t>能吗？</a:t>
            </a:r>
          </a:p>
        </p:txBody>
      </p:sp>
      <p:sp>
        <p:nvSpPr>
          <p:cNvPr id="129" name="テキスト ボックス 128">
            <a:extLst>
              <a:ext uri="{FF2B5EF4-FFF2-40B4-BE49-F238E27FC236}">
                <a16:creationId xmlns:a16="http://schemas.microsoft.com/office/drawing/2014/main" id="{65774C25-5C4E-8C41-A22E-1CFD84419091}"/>
              </a:ext>
            </a:extLst>
          </p:cNvPr>
          <p:cNvSpPr txBox="1"/>
          <p:nvPr/>
        </p:nvSpPr>
        <p:spPr>
          <a:xfrm>
            <a:off x="5078046" y="4890197"/>
            <a:ext cx="925253" cy="276999"/>
          </a:xfrm>
          <a:prstGeom prst="rect">
            <a:avLst/>
          </a:prstGeom>
          <a:noFill/>
        </p:spPr>
        <p:txBody>
          <a:bodyPr wrap="none" rtlCol="0">
            <a:spAutoFit/>
          </a:bodyPr>
          <a:lstStyle/>
          <a:p>
            <a:r>
              <a:rPr kumimoji="1" lang="ja-JP" altLang="en-US" sz="1200" dirty="0"/>
              <a:t>②</a:t>
            </a:r>
            <a:r>
              <a:rPr kumimoji="1" lang="en-US" altLang="ja-JP" sz="1200" dirty="0"/>
              <a:t>-2</a:t>
            </a:r>
            <a:r>
              <a:rPr kumimoji="1" lang="ja-JP" altLang="en-US" sz="1200" dirty="0"/>
              <a:t>能吗？</a:t>
            </a:r>
          </a:p>
        </p:txBody>
      </p:sp>
      <p:sp>
        <p:nvSpPr>
          <p:cNvPr id="130" name="テキスト ボックス 129">
            <a:extLst>
              <a:ext uri="{FF2B5EF4-FFF2-40B4-BE49-F238E27FC236}">
                <a16:creationId xmlns:a16="http://schemas.microsoft.com/office/drawing/2014/main" id="{5B4B8778-536C-FB45-802F-772F0F7721C3}"/>
              </a:ext>
            </a:extLst>
          </p:cNvPr>
          <p:cNvSpPr txBox="1"/>
          <p:nvPr/>
        </p:nvSpPr>
        <p:spPr>
          <a:xfrm>
            <a:off x="5078044" y="4077703"/>
            <a:ext cx="925253" cy="276999"/>
          </a:xfrm>
          <a:prstGeom prst="rect">
            <a:avLst/>
          </a:prstGeom>
          <a:noFill/>
        </p:spPr>
        <p:txBody>
          <a:bodyPr wrap="none" rtlCol="0">
            <a:spAutoFit/>
          </a:bodyPr>
          <a:lstStyle/>
          <a:p>
            <a:r>
              <a:rPr kumimoji="1" lang="ja-JP" altLang="en-US" sz="1200" dirty="0"/>
              <a:t>②</a:t>
            </a:r>
            <a:r>
              <a:rPr kumimoji="1" lang="en-US" altLang="ja-JP" sz="1200" dirty="0"/>
              <a:t>-1</a:t>
            </a:r>
            <a:r>
              <a:rPr kumimoji="1" lang="ja-JP" altLang="en-US" sz="1200" dirty="0"/>
              <a:t>能吗？</a:t>
            </a:r>
          </a:p>
        </p:txBody>
      </p:sp>
      <p:sp>
        <p:nvSpPr>
          <p:cNvPr id="153" name="角丸四角形 152">
            <a:extLst>
              <a:ext uri="{FF2B5EF4-FFF2-40B4-BE49-F238E27FC236}">
                <a16:creationId xmlns:a16="http://schemas.microsoft.com/office/drawing/2014/main" id="{9DF1B8BE-3806-0F4D-A535-F2431399DBB1}"/>
              </a:ext>
            </a:extLst>
          </p:cNvPr>
          <p:cNvSpPr/>
          <p:nvPr/>
        </p:nvSpPr>
        <p:spPr>
          <a:xfrm>
            <a:off x="7699841" y="1333642"/>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54" name="角丸四角形 153">
            <a:extLst>
              <a:ext uri="{FF2B5EF4-FFF2-40B4-BE49-F238E27FC236}">
                <a16:creationId xmlns:a16="http://schemas.microsoft.com/office/drawing/2014/main" id="{17B21511-996C-544A-8045-47BA0626170A}"/>
              </a:ext>
            </a:extLst>
          </p:cNvPr>
          <p:cNvSpPr/>
          <p:nvPr/>
        </p:nvSpPr>
        <p:spPr>
          <a:xfrm>
            <a:off x="7699836" y="5179034"/>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55" name="角丸四角形 154">
            <a:extLst>
              <a:ext uri="{FF2B5EF4-FFF2-40B4-BE49-F238E27FC236}">
                <a16:creationId xmlns:a16="http://schemas.microsoft.com/office/drawing/2014/main" id="{CA54FA34-522B-D440-B1BE-9C0E94B75B9A}"/>
              </a:ext>
            </a:extLst>
          </p:cNvPr>
          <p:cNvSpPr/>
          <p:nvPr/>
        </p:nvSpPr>
        <p:spPr>
          <a:xfrm>
            <a:off x="7699839" y="6018964"/>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56" name="角丸四角形 155">
            <a:extLst>
              <a:ext uri="{FF2B5EF4-FFF2-40B4-BE49-F238E27FC236}">
                <a16:creationId xmlns:a16="http://schemas.microsoft.com/office/drawing/2014/main" id="{C2DA134D-0A4C-EF4E-BEFE-1C35F7AFB162}"/>
              </a:ext>
            </a:extLst>
          </p:cNvPr>
          <p:cNvSpPr/>
          <p:nvPr/>
        </p:nvSpPr>
        <p:spPr>
          <a:xfrm>
            <a:off x="7699837" y="4346485"/>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57" name="角丸四角形 156">
            <a:extLst>
              <a:ext uri="{FF2B5EF4-FFF2-40B4-BE49-F238E27FC236}">
                <a16:creationId xmlns:a16="http://schemas.microsoft.com/office/drawing/2014/main" id="{BB2E6490-B7DA-9742-9196-5DF7D3162247}"/>
              </a:ext>
            </a:extLst>
          </p:cNvPr>
          <p:cNvSpPr/>
          <p:nvPr/>
        </p:nvSpPr>
        <p:spPr>
          <a:xfrm>
            <a:off x="7699836" y="2171970"/>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58" name="角丸四角形 157">
            <a:extLst>
              <a:ext uri="{FF2B5EF4-FFF2-40B4-BE49-F238E27FC236}">
                <a16:creationId xmlns:a16="http://schemas.microsoft.com/office/drawing/2014/main" id="{C0B71FEB-59E9-014F-9A42-334ABB2EBB04}"/>
              </a:ext>
            </a:extLst>
          </p:cNvPr>
          <p:cNvSpPr/>
          <p:nvPr/>
        </p:nvSpPr>
        <p:spPr>
          <a:xfrm>
            <a:off x="7699835" y="3006121"/>
            <a:ext cx="1852101" cy="480060"/>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59" name="テキスト ボックス 158">
            <a:extLst>
              <a:ext uri="{FF2B5EF4-FFF2-40B4-BE49-F238E27FC236}">
                <a16:creationId xmlns:a16="http://schemas.microsoft.com/office/drawing/2014/main" id="{E6E71B07-484E-1844-866A-E6F3F104E8D4}"/>
              </a:ext>
            </a:extLst>
          </p:cNvPr>
          <p:cNvSpPr txBox="1"/>
          <p:nvPr/>
        </p:nvSpPr>
        <p:spPr>
          <a:xfrm>
            <a:off x="7590680" y="1061186"/>
            <a:ext cx="1433577" cy="276999"/>
          </a:xfrm>
          <a:prstGeom prst="rect">
            <a:avLst/>
          </a:prstGeom>
          <a:noFill/>
        </p:spPr>
        <p:txBody>
          <a:bodyPr wrap="square" rtlCol="0">
            <a:spAutoFit/>
          </a:bodyPr>
          <a:lstStyle/>
          <a:p>
            <a:r>
              <a:rPr kumimoji="1" lang="zh-CN" altLang="en-US" sz="1200" dirty="0"/>
              <a:t>是或否  因为</a:t>
            </a:r>
            <a:r>
              <a:rPr kumimoji="1" lang="en-US" altLang="zh-CN" sz="1200" dirty="0"/>
              <a:t>……</a:t>
            </a:r>
            <a:endParaRPr kumimoji="1" lang="ja-JP" altLang="en-US" sz="1200" dirty="0"/>
          </a:p>
        </p:txBody>
      </p:sp>
      <p:sp>
        <p:nvSpPr>
          <p:cNvPr id="160" name="テキスト ボックス 159">
            <a:extLst>
              <a:ext uri="{FF2B5EF4-FFF2-40B4-BE49-F238E27FC236}">
                <a16:creationId xmlns:a16="http://schemas.microsoft.com/office/drawing/2014/main" id="{4C8C3811-1C13-6040-B5EA-B3BC041AB81F}"/>
              </a:ext>
            </a:extLst>
          </p:cNvPr>
          <p:cNvSpPr txBox="1"/>
          <p:nvPr/>
        </p:nvSpPr>
        <p:spPr>
          <a:xfrm>
            <a:off x="7699835" y="1888356"/>
            <a:ext cx="1236236" cy="276999"/>
          </a:xfrm>
          <a:prstGeom prst="rect">
            <a:avLst/>
          </a:prstGeom>
          <a:noFill/>
        </p:spPr>
        <p:txBody>
          <a:bodyPr wrap="none" rtlCol="0">
            <a:spAutoFit/>
          </a:bodyPr>
          <a:lstStyle/>
          <a:p>
            <a:r>
              <a:rPr kumimoji="1" lang="zh-CN" altLang="en-US" sz="1200" dirty="0"/>
              <a:t>是或否  因为</a:t>
            </a:r>
            <a:r>
              <a:rPr kumimoji="1" lang="en-US" altLang="zh-CN" sz="1200" dirty="0"/>
              <a:t>……</a:t>
            </a:r>
            <a:endParaRPr kumimoji="1" lang="ja-JP" altLang="en-US" sz="1200" dirty="0"/>
          </a:p>
        </p:txBody>
      </p:sp>
      <p:sp>
        <p:nvSpPr>
          <p:cNvPr id="161" name="テキスト ボックス 160">
            <a:extLst>
              <a:ext uri="{FF2B5EF4-FFF2-40B4-BE49-F238E27FC236}">
                <a16:creationId xmlns:a16="http://schemas.microsoft.com/office/drawing/2014/main" id="{B06D47EC-6E17-CF45-9CA9-E1E49AD7525A}"/>
              </a:ext>
            </a:extLst>
          </p:cNvPr>
          <p:cNvSpPr txBox="1"/>
          <p:nvPr/>
        </p:nvSpPr>
        <p:spPr>
          <a:xfrm>
            <a:off x="7699824" y="2728397"/>
            <a:ext cx="1236236" cy="276999"/>
          </a:xfrm>
          <a:prstGeom prst="rect">
            <a:avLst/>
          </a:prstGeom>
          <a:noFill/>
        </p:spPr>
        <p:txBody>
          <a:bodyPr wrap="none" rtlCol="0">
            <a:spAutoFit/>
          </a:bodyPr>
          <a:lstStyle/>
          <a:p>
            <a:r>
              <a:rPr kumimoji="1" lang="zh-CN" altLang="en-US" sz="1200" dirty="0"/>
              <a:t>是或否  因为</a:t>
            </a:r>
            <a:r>
              <a:rPr kumimoji="1" lang="en-US" altLang="zh-CN" sz="1200" dirty="0"/>
              <a:t>……</a:t>
            </a:r>
            <a:endParaRPr kumimoji="1" lang="ja-JP" altLang="en-US" sz="1200" dirty="0"/>
          </a:p>
        </p:txBody>
      </p:sp>
      <p:sp>
        <p:nvSpPr>
          <p:cNvPr id="162" name="テキスト ボックス 161">
            <a:extLst>
              <a:ext uri="{FF2B5EF4-FFF2-40B4-BE49-F238E27FC236}">
                <a16:creationId xmlns:a16="http://schemas.microsoft.com/office/drawing/2014/main" id="{B5BA10BB-8E09-6E48-8A08-E31C96734AF8}"/>
              </a:ext>
            </a:extLst>
          </p:cNvPr>
          <p:cNvSpPr txBox="1"/>
          <p:nvPr/>
        </p:nvSpPr>
        <p:spPr>
          <a:xfrm>
            <a:off x="7699824" y="4086675"/>
            <a:ext cx="1236236" cy="276999"/>
          </a:xfrm>
          <a:prstGeom prst="rect">
            <a:avLst/>
          </a:prstGeom>
          <a:noFill/>
        </p:spPr>
        <p:txBody>
          <a:bodyPr wrap="none" rtlCol="0">
            <a:spAutoFit/>
          </a:bodyPr>
          <a:lstStyle/>
          <a:p>
            <a:r>
              <a:rPr kumimoji="1" lang="zh-CN" altLang="en-US" sz="1200" dirty="0"/>
              <a:t>是或否  因为</a:t>
            </a:r>
            <a:r>
              <a:rPr kumimoji="1" lang="en-US" altLang="zh-CN" sz="1200" dirty="0"/>
              <a:t>……</a:t>
            </a:r>
            <a:endParaRPr kumimoji="1" lang="ja-JP" altLang="en-US" sz="1200" dirty="0"/>
          </a:p>
        </p:txBody>
      </p:sp>
      <p:sp>
        <p:nvSpPr>
          <p:cNvPr id="163" name="テキスト ボックス 162">
            <a:extLst>
              <a:ext uri="{FF2B5EF4-FFF2-40B4-BE49-F238E27FC236}">
                <a16:creationId xmlns:a16="http://schemas.microsoft.com/office/drawing/2014/main" id="{04A10616-8351-224E-99F9-78B662495691}"/>
              </a:ext>
            </a:extLst>
          </p:cNvPr>
          <p:cNvSpPr txBox="1"/>
          <p:nvPr/>
        </p:nvSpPr>
        <p:spPr>
          <a:xfrm>
            <a:off x="7692900" y="4908385"/>
            <a:ext cx="1236236" cy="276999"/>
          </a:xfrm>
          <a:prstGeom prst="rect">
            <a:avLst/>
          </a:prstGeom>
          <a:noFill/>
        </p:spPr>
        <p:txBody>
          <a:bodyPr wrap="none" rtlCol="0">
            <a:spAutoFit/>
          </a:bodyPr>
          <a:lstStyle/>
          <a:p>
            <a:r>
              <a:rPr kumimoji="1" lang="zh-CN" altLang="en-US" sz="1200" dirty="0"/>
              <a:t>是或否  因为</a:t>
            </a:r>
            <a:r>
              <a:rPr kumimoji="1" lang="en-US" altLang="zh-CN" sz="1200" dirty="0"/>
              <a:t>……</a:t>
            </a:r>
            <a:endParaRPr kumimoji="1" lang="ja-JP" altLang="en-US" sz="1200" dirty="0"/>
          </a:p>
        </p:txBody>
      </p:sp>
      <p:sp>
        <p:nvSpPr>
          <p:cNvPr id="164" name="テキスト ボックス 163">
            <a:extLst>
              <a:ext uri="{FF2B5EF4-FFF2-40B4-BE49-F238E27FC236}">
                <a16:creationId xmlns:a16="http://schemas.microsoft.com/office/drawing/2014/main" id="{5ACDB2BA-DFA9-1242-85D3-51791A4819C4}"/>
              </a:ext>
            </a:extLst>
          </p:cNvPr>
          <p:cNvSpPr txBox="1"/>
          <p:nvPr/>
        </p:nvSpPr>
        <p:spPr>
          <a:xfrm>
            <a:off x="7686055" y="5746777"/>
            <a:ext cx="1236236" cy="276999"/>
          </a:xfrm>
          <a:prstGeom prst="rect">
            <a:avLst/>
          </a:prstGeom>
          <a:noFill/>
        </p:spPr>
        <p:txBody>
          <a:bodyPr wrap="none" rtlCol="0">
            <a:spAutoFit/>
          </a:bodyPr>
          <a:lstStyle/>
          <a:p>
            <a:r>
              <a:rPr kumimoji="1" lang="zh-CN" altLang="en-US" sz="1200" dirty="0"/>
              <a:t>是或否  因为</a:t>
            </a:r>
            <a:r>
              <a:rPr kumimoji="1" lang="en-US" altLang="zh-CN" sz="1200" dirty="0"/>
              <a:t>……</a:t>
            </a:r>
            <a:endParaRPr kumimoji="1" lang="ja-JP" altLang="en-US" sz="1200" dirty="0"/>
          </a:p>
        </p:txBody>
      </p:sp>
      <p:cxnSp>
        <p:nvCxnSpPr>
          <p:cNvPr id="175" name="カギ線コネクタ 174">
            <a:extLst>
              <a:ext uri="{FF2B5EF4-FFF2-40B4-BE49-F238E27FC236}">
                <a16:creationId xmlns:a16="http://schemas.microsoft.com/office/drawing/2014/main" id="{E55E7147-D588-EF41-98D3-C84252418912}"/>
              </a:ext>
            </a:extLst>
          </p:cNvPr>
          <p:cNvCxnSpPr>
            <a:stCxn id="9" idx="3"/>
            <a:endCxn id="8" idx="1"/>
          </p:cNvCxnSpPr>
          <p:nvPr/>
        </p:nvCxnSpPr>
        <p:spPr>
          <a:xfrm flipV="1">
            <a:off x="2206153" y="2413005"/>
            <a:ext cx="519793" cy="1433640"/>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カギ線コネクタ 175">
            <a:extLst>
              <a:ext uri="{FF2B5EF4-FFF2-40B4-BE49-F238E27FC236}">
                <a16:creationId xmlns:a16="http://schemas.microsoft.com/office/drawing/2014/main" id="{792CBE8B-CAD8-E14C-A1AF-DA50BFCFC357}"/>
              </a:ext>
            </a:extLst>
          </p:cNvPr>
          <p:cNvCxnSpPr>
            <a:cxnSpLocks/>
            <a:stCxn id="9" idx="3"/>
            <a:endCxn id="21" idx="1"/>
          </p:cNvCxnSpPr>
          <p:nvPr/>
        </p:nvCxnSpPr>
        <p:spPr>
          <a:xfrm>
            <a:off x="2206153" y="3846645"/>
            <a:ext cx="519793" cy="1573016"/>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カギ線コネクタ 178">
            <a:extLst>
              <a:ext uri="{FF2B5EF4-FFF2-40B4-BE49-F238E27FC236}">
                <a16:creationId xmlns:a16="http://schemas.microsoft.com/office/drawing/2014/main" id="{F9A121F4-605A-7F4F-9FF3-86E93D339610}"/>
              </a:ext>
            </a:extLst>
          </p:cNvPr>
          <p:cNvCxnSpPr>
            <a:cxnSpLocks/>
            <a:stCxn id="8" idx="3"/>
            <a:endCxn id="7" idx="1"/>
          </p:cNvCxnSpPr>
          <p:nvPr/>
        </p:nvCxnSpPr>
        <p:spPr>
          <a:xfrm flipV="1">
            <a:off x="4578047" y="1574508"/>
            <a:ext cx="500004" cy="83849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カギ線コネクタ 181">
            <a:extLst>
              <a:ext uri="{FF2B5EF4-FFF2-40B4-BE49-F238E27FC236}">
                <a16:creationId xmlns:a16="http://schemas.microsoft.com/office/drawing/2014/main" id="{6D6B907C-360C-C74D-8EB6-0014E50D1AB5}"/>
              </a:ext>
            </a:extLst>
          </p:cNvPr>
          <p:cNvCxnSpPr>
            <a:cxnSpLocks/>
            <a:stCxn id="8" idx="3"/>
            <a:endCxn id="14" idx="1"/>
          </p:cNvCxnSpPr>
          <p:nvPr/>
        </p:nvCxnSpPr>
        <p:spPr>
          <a:xfrm flipV="1">
            <a:off x="4578047" y="2412836"/>
            <a:ext cx="499999" cy="16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カギ線コネクタ 184">
            <a:extLst>
              <a:ext uri="{FF2B5EF4-FFF2-40B4-BE49-F238E27FC236}">
                <a16:creationId xmlns:a16="http://schemas.microsoft.com/office/drawing/2014/main" id="{74D59753-E9A7-2A47-A16A-54EA26B8A0EC}"/>
              </a:ext>
            </a:extLst>
          </p:cNvPr>
          <p:cNvCxnSpPr>
            <a:cxnSpLocks/>
            <a:stCxn id="8" idx="3"/>
            <a:endCxn id="16" idx="1"/>
          </p:cNvCxnSpPr>
          <p:nvPr/>
        </p:nvCxnSpPr>
        <p:spPr>
          <a:xfrm>
            <a:off x="4578047" y="2413005"/>
            <a:ext cx="499998" cy="833982"/>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カギ線コネクタ 187">
            <a:extLst>
              <a:ext uri="{FF2B5EF4-FFF2-40B4-BE49-F238E27FC236}">
                <a16:creationId xmlns:a16="http://schemas.microsoft.com/office/drawing/2014/main" id="{B1A91007-4FA1-C54D-B37A-E0126F96EC36}"/>
              </a:ext>
            </a:extLst>
          </p:cNvPr>
          <p:cNvCxnSpPr>
            <a:cxnSpLocks/>
            <a:stCxn id="21" idx="3"/>
            <a:endCxn id="13" idx="1"/>
          </p:cNvCxnSpPr>
          <p:nvPr/>
        </p:nvCxnSpPr>
        <p:spPr>
          <a:xfrm flipV="1">
            <a:off x="4578047" y="4587351"/>
            <a:ext cx="500000" cy="83231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カギ線コネクタ 190">
            <a:extLst>
              <a:ext uri="{FF2B5EF4-FFF2-40B4-BE49-F238E27FC236}">
                <a16:creationId xmlns:a16="http://schemas.microsoft.com/office/drawing/2014/main" id="{1E97D557-0B5E-4A4A-BA0E-2DE910C90E23}"/>
              </a:ext>
            </a:extLst>
          </p:cNvPr>
          <p:cNvCxnSpPr>
            <a:cxnSpLocks/>
            <a:stCxn id="21" idx="3"/>
            <a:endCxn id="11" idx="1"/>
          </p:cNvCxnSpPr>
          <p:nvPr/>
        </p:nvCxnSpPr>
        <p:spPr>
          <a:xfrm>
            <a:off x="4578047" y="5419661"/>
            <a:ext cx="499999" cy="23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カギ線コネクタ 193">
            <a:extLst>
              <a:ext uri="{FF2B5EF4-FFF2-40B4-BE49-F238E27FC236}">
                <a16:creationId xmlns:a16="http://schemas.microsoft.com/office/drawing/2014/main" id="{5EEE3814-209E-D549-ACB6-E17FA61FA12E}"/>
              </a:ext>
            </a:extLst>
          </p:cNvPr>
          <p:cNvCxnSpPr>
            <a:cxnSpLocks/>
            <a:stCxn id="21" idx="3"/>
            <a:endCxn id="12" idx="1"/>
          </p:cNvCxnSpPr>
          <p:nvPr/>
        </p:nvCxnSpPr>
        <p:spPr>
          <a:xfrm>
            <a:off x="4578047" y="5419661"/>
            <a:ext cx="500002" cy="84016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カギ線コネクタ 197">
            <a:extLst>
              <a:ext uri="{FF2B5EF4-FFF2-40B4-BE49-F238E27FC236}">
                <a16:creationId xmlns:a16="http://schemas.microsoft.com/office/drawing/2014/main" id="{246A0BF1-4AC4-464D-96B7-3215415B284F}"/>
              </a:ext>
            </a:extLst>
          </p:cNvPr>
          <p:cNvCxnSpPr>
            <a:cxnSpLocks/>
            <a:stCxn id="7" idx="3"/>
            <a:endCxn id="153" idx="1"/>
          </p:cNvCxnSpPr>
          <p:nvPr/>
        </p:nvCxnSpPr>
        <p:spPr>
          <a:xfrm flipV="1">
            <a:off x="6930152" y="1573672"/>
            <a:ext cx="769689" cy="836"/>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カギ線コネクタ 200">
            <a:extLst>
              <a:ext uri="{FF2B5EF4-FFF2-40B4-BE49-F238E27FC236}">
                <a16:creationId xmlns:a16="http://schemas.microsoft.com/office/drawing/2014/main" id="{6F9A80EC-FEC6-C344-918E-F16A9EE698DB}"/>
              </a:ext>
            </a:extLst>
          </p:cNvPr>
          <p:cNvCxnSpPr>
            <a:cxnSpLocks/>
            <a:stCxn id="14" idx="3"/>
            <a:endCxn id="157" idx="1"/>
          </p:cNvCxnSpPr>
          <p:nvPr/>
        </p:nvCxnSpPr>
        <p:spPr>
          <a:xfrm flipV="1">
            <a:off x="6930147" y="2412000"/>
            <a:ext cx="769689" cy="836"/>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カギ線コネクタ 203">
            <a:extLst>
              <a:ext uri="{FF2B5EF4-FFF2-40B4-BE49-F238E27FC236}">
                <a16:creationId xmlns:a16="http://schemas.microsoft.com/office/drawing/2014/main" id="{131D4A30-9719-EB49-93F3-661D10A9E1CA}"/>
              </a:ext>
            </a:extLst>
          </p:cNvPr>
          <p:cNvCxnSpPr>
            <a:cxnSpLocks/>
            <a:stCxn id="16" idx="3"/>
            <a:endCxn id="158" idx="1"/>
          </p:cNvCxnSpPr>
          <p:nvPr/>
        </p:nvCxnSpPr>
        <p:spPr>
          <a:xfrm flipV="1">
            <a:off x="6930146" y="3246151"/>
            <a:ext cx="769689" cy="836"/>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カギ線コネクタ 206">
            <a:extLst>
              <a:ext uri="{FF2B5EF4-FFF2-40B4-BE49-F238E27FC236}">
                <a16:creationId xmlns:a16="http://schemas.microsoft.com/office/drawing/2014/main" id="{C48F6E33-29CA-5D46-8124-CE04AE5E30D9}"/>
              </a:ext>
            </a:extLst>
          </p:cNvPr>
          <p:cNvCxnSpPr>
            <a:cxnSpLocks/>
            <a:stCxn id="13" idx="3"/>
            <a:endCxn id="156" idx="1"/>
          </p:cNvCxnSpPr>
          <p:nvPr/>
        </p:nvCxnSpPr>
        <p:spPr>
          <a:xfrm flipV="1">
            <a:off x="6930148" y="4586515"/>
            <a:ext cx="769689" cy="836"/>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カギ線コネクタ 209">
            <a:extLst>
              <a:ext uri="{FF2B5EF4-FFF2-40B4-BE49-F238E27FC236}">
                <a16:creationId xmlns:a16="http://schemas.microsoft.com/office/drawing/2014/main" id="{58C79276-5E31-394A-BD9E-352AC5AB9C99}"/>
              </a:ext>
            </a:extLst>
          </p:cNvPr>
          <p:cNvCxnSpPr>
            <a:cxnSpLocks/>
            <a:stCxn id="11" idx="3"/>
            <a:endCxn id="154" idx="1"/>
          </p:cNvCxnSpPr>
          <p:nvPr/>
        </p:nvCxnSpPr>
        <p:spPr>
          <a:xfrm flipV="1">
            <a:off x="6930147" y="5419064"/>
            <a:ext cx="769689" cy="836"/>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カギ線コネクタ 212">
            <a:extLst>
              <a:ext uri="{FF2B5EF4-FFF2-40B4-BE49-F238E27FC236}">
                <a16:creationId xmlns:a16="http://schemas.microsoft.com/office/drawing/2014/main" id="{9F93EAB1-3BCE-8B4B-AF70-74238EFE59A6}"/>
              </a:ext>
            </a:extLst>
          </p:cNvPr>
          <p:cNvCxnSpPr>
            <a:cxnSpLocks/>
            <a:stCxn id="12" idx="3"/>
            <a:endCxn id="155" idx="1"/>
          </p:cNvCxnSpPr>
          <p:nvPr/>
        </p:nvCxnSpPr>
        <p:spPr>
          <a:xfrm flipV="1">
            <a:off x="6930150" y="6258994"/>
            <a:ext cx="769689" cy="836"/>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3957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18</a:t>
            </a:r>
            <a:r>
              <a:rPr lang="ja-JP" altLang="en-US" sz="2600" dirty="0">
                <a:solidFill>
                  <a:schemeClr val="bg1"/>
                </a:solidFill>
              </a:rPr>
              <a:t>　ＡＢＣ</a:t>
            </a:r>
            <a:r>
              <a:rPr lang="zh-CN" altLang="en-US" sz="2600" dirty="0">
                <a:solidFill>
                  <a:schemeClr val="bg1"/>
                </a:solidFill>
              </a:rPr>
              <a:t>理论</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74</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如果事件和结果之间存在的信念是不合理的，就提出疑问，通过正确的信念进行思考，将负面的结果转换为正面的结果。</a:t>
            </a:r>
            <a:endParaRPr lang="en-US" altLang="ja-JP" sz="1138" dirty="0"/>
          </a:p>
        </p:txBody>
      </p:sp>
      <p:graphicFrame>
        <p:nvGraphicFramePr>
          <p:cNvPr id="6" name="表 6">
            <a:extLst>
              <a:ext uri="{FF2B5EF4-FFF2-40B4-BE49-F238E27FC236}">
                <a16:creationId xmlns:a16="http://schemas.microsoft.com/office/drawing/2014/main" id="{53034712-1191-CC49-9D3A-F1B882CF6611}"/>
              </a:ext>
            </a:extLst>
          </p:cNvPr>
          <p:cNvGraphicFramePr>
            <a:graphicFrameLocks noGrp="1"/>
          </p:cNvGraphicFramePr>
          <p:nvPr>
            <p:extLst>
              <p:ext uri="{D42A27DB-BD31-4B8C-83A1-F6EECF244321}">
                <p14:modId xmlns:p14="http://schemas.microsoft.com/office/powerpoint/2010/main" val="3627328870"/>
              </p:ext>
            </p:extLst>
          </p:nvPr>
        </p:nvGraphicFramePr>
        <p:xfrm>
          <a:off x="354052" y="2575489"/>
          <a:ext cx="2605955" cy="2117019"/>
        </p:xfrm>
        <a:graphic>
          <a:graphicData uri="http://schemas.openxmlformats.org/drawingml/2006/table">
            <a:tbl>
              <a:tblPr>
                <a:tableStyleId>{1FECB4D8-DB02-4DC6-A0A2-4F2EBAE1DC90}</a:tableStyleId>
              </a:tblPr>
              <a:tblGrid>
                <a:gridCol w="2605955">
                  <a:extLst>
                    <a:ext uri="{9D8B030D-6E8A-4147-A177-3AD203B41FA5}">
                      <a16:colId xmlns:a16="http://schemas.microsoft.com/office/drawing/2014/main" val="1180259087"/>
                    </a:ext>
                  </a:extLst>
                </a:gridCol>
              </a:tblGrid>
              <a:tr h="611781">
                <a:tc>
                  <a:txBody>
                    <a:bodyPr/>
                    <a:lstStyle/>
                    <a:p>
                      <a:pPr algn="ctr"/>
                      <a:r>
                        <a:rPr kumimoji="1" lang="en-US" altLang="ja-JP" dirty="0"/>
                        <a:t>Activating event</a:t>
                      </a:r>
                    </a:p>
                    <a:p>
                      <a:pPr algn="ctr"/>
                      <a:r>
                        <a:rPr kumimoji="1" lang="zh-CN" altLang="en-US" dirty="0"/>
                        <a:t>事件</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349670459"/>
                  </a:ext>
                </a:extLst>
              </a:tr>
              <a:tr h="1476939">
                <a:tc>
                  <a:txBody>
                    <a:bodyPr/>
                    <a:lstStyle/>
                    <a:p>
                      <a:endParaRPr kumimoji="1" lang="ja-JP" altLang="en-US" dirty="0"/>
                    </a:p>
                  </a:txBody>
                  <a:tcPr anchor="ctr">
                    <a:lnT w="12700" cap="flat" cmpd="sng" algn="ctr">
                      <a:solidFill>
                        <a:schemeClr val="accent3">
                          <a:lumMod val="60000"/>
                          <a:lumOff val="40000"/>
                        </a:schemeClr>
                      </a:solidFill>
                      <a:prstDash val="solid"/>
                      <a:round/>
                      <a:headEnd type="none" w="med" len="med"/>
                      <a:tailEnd type="none" w="med" len="med"/>
                    </a:lnT>
                  </a:tcPr>
                </a:tc>
                <a:extLst>
                  <a:ext uri="{0D108BD9-81ED-4DB2-BD59-A6C34878D82A}">
                    <a16:rowId xmlns:a16="http://schemas.microsoft.com/office/drawing/2014/main" val="2810466507"/>
                  </a:ext>
                </a:extLst>
              </a:tr>
            </a:tbl>
          </a:graphicData>
        </a:graphic>
      </p:graphicFrame>
      <p:graphicFrame>
        <p:nvGraphicFramePr>
          <p:cNvPr id="7" name="表 6">
            <a:extLst>
              <a:ext uri="{FF2B5EF4-FFF2-40B4-BE49-F238E27FC236}">
                <a16:creationId xmlns:a16="http://schemas.microsoft.com/office/drawing/2014/main" id="{ACB4EA5A-F855-2F4C-B967-62655F54E37E}"/>
              </a:ext>
            </a:extLst>
          </p:cNvPr>
          <p:cNvGraphicFramePr>
            <a:graphicFrameLocks noGrp="1"/>
          </p:cNvGraphicFramePr>
          <p:nvPr>
            <p:extLst>
              <p:ext uri="{D42A27DB-BD31-4B8C-83A1-F6EECF244321}">
                <p14:modId xmlns:p14="http://schemas.microsoft.com/office/powerpoint/2010/main" val="2940415867"/>
              </p:ext>
            </p:extLst>
          </p:nvPr>
        </p:nvGraphicFramePr>
        <p:xfrm>
          <a:off x="3650021" y="1850725"/>
          <a:ext cx="2605955" cy="2072068"/>
        </p:xfrm>
        <a:graphic>
          <a:graphicData uri="http://schemas.openxmlformats.org/drawingml/2006/table">
            <a:tbl>
              <a:tblPr>
                <a:tableStyleId>{1FECB4D8-DB02-4DC6-A0A2-4F2EBAE1DC90}</a:tableStyleId>
              </a:tblPr>
              <a:tblGrid>
                <a:gridCol w="2605955">
                  <a:extLst>
                    <a:ext uri="{9D8B030D-6E8A-4147-A177-3AD203B41FA5}">
                      <a16:colId xmlns:a16="http://schemas.microsoft.com/office/drawing/2014/main" val="1180259087"/>
                    </a:ext>
                  </a:extLst>
                </a:gridCol>
              </a:tblGrid>
              <a:tr h="640081">
                <a:tc>
                  <a:txBody>
                    <a:bodyPr/>
                    <a:lstStyle/>
                    <a:p>
                      <a:pPr algn="ctr"/>
                      <a:r>
                        <a:rPr kumimoji="1" lang="en-US" altLang="ja-JP" dirty="0"/>
                        <a:t>Irrational belief</a:t>
                      </a:r>
                    </a:p>
                    <a:p>
                      <a:pPr algn="ctr"/>
                      <a:r>
                        <a:rPr kumimoji="1" lang="zh-CN" altLang="en-US" dirty="0"/>
                        <a:t>不合理的信念</a:t>
                      </a:r>
                      <a:endParaRPr kumimoji="1" lang="ja-JP" altLang="en-US" dirty="0"/>
                    </a:p>
                  </a:txBody>
                  <a:tcPr anchor="ctr"/>
                </a:tc>
                <a:extLst>
                  <a:ext uri="{0D108BD9-81ED-4DB2-BD59-A6C34878D82A}">
                    <a16:rowId xmlns:a16="http://schemas.microsoft.com/office/drawing/2014/main" val="3349670459"/>
                  </a:ext>
                </a:extLst>
              </a:tr>
              <a:tr h="1431987">
                <a:tc>
                  <a:txBody>
                    <a:bodyPr/>
                    <a:lstStyle/>
                    <a:p>
                      <a:endParaRPr kumimoji="1" lang="ja-JP" altLang="en-US" dirty="0"/>
                    </a:p>
                  </a:txBody>
                  <a:tcPr anchor="ctr"/>
                </a:tc>
                <a:extLst>
                  <a:ext uri="{0D108BD9-81ED-4DB2-BD59-A6C34878D82A}">
                    <a16:rowId xmlns:a16="http://schemas.microsoft.com/office/drawing/2014/main" val="2810466507"/>
                  </a:ext>
                </a:extLst>
              </a:tr>
            </a:tbl>
          </a:graphicData>
        </a:graphic>
      </p:graphicFrame>
      <p:graphicFrame>
        <p:nvGraphicFramePr>
          <p:cNvPr id="8" name="表 7">
            <a:extLst>
              <a:ext uri="{FF2B5EF4-FFF2-40B4-BE49-F238E27FC236}">
                <a16:creationId xmlns:a16="http://schemas.microsoft.com/office/drawing/2014/main" id="{ECBE7599-9885-4846-971D-DFA1DB72D23E}"/>
              </a:ext>
            </a:extLst>
          </p:cNvPr>
          <p:cNvGraphicFramePr>
            <a:graphicFrameLocks noGrp="1"/>
          </p:cNvGraphicFramePr>
          <p:nvPr>
            <p:extLst>
              <p:ext uri="{D42A27DB-BD31-4B8C-83A1-F6EECF244321}">
                <p14:modId xmlns:p14="http://schemas.microsoft.com/office/powerpoint/2010/main" val="4162543828"/>
              </p:ext>
            </p:extLst>
          </p:nvPr>
        </p:nvGraphicFramePr>
        <p:xfrm>
          <a:off x="6945990" y="1850725"/>
          <a:ext cx="2605955" cy="2052585"/>
        </p:xfrm>
        <a:graphic>
          <a:graphicData uri="http://schemas.openxmlformats.org/drawingml/2006/table">
            <a:tbl>
              <a:tblPr>
                <a:tableStyleId>{1FECB4D8-DB02-4DC6-A0A2-4F2EBAE1DC90}</a:tableStyleId>
              </a:tblPr>
              <a:tblGrid>
                <a:gridCol w="2605955">
                  <a:extLst>
                    <a:ext uri="{9D8B030D-6E8A-4147-A177-3AD203B41FA5}">
                      <a16:colId xmlns:a16="http://schemas.microsoft.com/office/drawing/2014/main" val="1180259087"/>
                    </a:ext>
                  </a:extLst>
                </a:gridCol>
              </a:tblGrid>
              <a:tr h="575646">
                <a:tc>
                  <a:txBody>
                    <a:bodyPr/>
                    <a:lstStyle/>
                    <a:p>
                      <a:pPr algn="ctr"/>
                      <a:r>
                        <a:rPr kumimoji="1" lang="zh-CN" altLang="en-US" dirty="0"/>
                        <a:t>负面的</a:t>
                      </a:r>
                      <a:r>
                        <a:rPr kumimoji="1" lang="ja-JP" altLang="en-US" dirty="0"/>
                        <a:t>結果</a:t>
                      </a:r>
                    </a:p>
                  </a:txBody>
                  <a:tcPr anchor="ctr"/>
                </a:tc>
                <a:extLst>
                  <a:ext uri="{0D108BD9-81ED-4DB2-BD59-A6C34878D82A}">
                    <a16:rowId xmlns:a16="http://schemas.microsoft.com/office/drawing/2014/main" val="3349670459"/>
                  </a:ext>
                </a:extLst>
              </a:tr>
              <a:tr h="1476939">
                <a:tc>
                  <a:txBody>
                    <a:bodyPr/>
                    <a:lstStyle/>
                    <a:p>
                      <a:endParaRPr kumimoji="1" lang="ja-JP" altLang="en-US" dirty="0"/>
                    </a:p>
                  </a:txBody>
                  <a:tcPr anchor="ctr"/>
                </a:tc>
                <a:extLst>
                  <a:ext uri="{0D108BD9-81ED-4DB2-BD59-A6C34878D82A}">
                    <a16:rowId xmlns:a16="http://schemas.microsoft.com/office/drawing/2014/main" val="2810466507"/>
                  </a:ext>
                </a:extLst>
              </a:tr>
            </a:tbl>
          </a:graphicData>
        </a:graphic>
      </p:graphicFrame>
      <p:graphicFrame>
        <p:nvGraphicFramePr>
          <p:cNvPr id="9" name="表 8">
            <a:extLst>
              <a:ext uri="{FF2B5EF4-FFF2-40B4-BE49-F238E27FC236}">
                <a16:creationId xmlns:a16="http://schemas.microsoft.com/office/drawing/2014/main" id="{6AEEA26D-6661-6049-986B-DF55FAD25297}"/>
              </a:ext>
            </a:extLst>
          </p:cNvPr>
          <p:cNvGraphicFramePr>
            <a:graphicFrameLocks noGrp="1"/>
          </p:cNvGraphicFramePr>
          <p:nvPr>
            <p:extLst>
              <p:ext uri="{D42A27DB-BD31-4B8C-83A1-F6EECF244321}">
                <p14:modId xmlns:p14="http://schemas.microsoft.com/office/powerpoint/2010/main" val="3921477660"/>
              </p:ext>
            </p:extLst>
          </p:nvPr>
        </p:nvGraphicFramePr>
        <p:xfrm>
          <a:off x="6945989" y="4447275"/>
          <a:ext cx="2605955" cy="2052585"/>
        </p:xfrm>
        <a:graphic>
          <a:graphicData uri="http://schemas.openxmlformats.org/drawingml/2006/table">
            <a:tbl>
              <a:tblPr>
                <a:tableStyleId>{1FECB4D8-DB02-4DC6-A0A2-4F2EBAE1DC90}</a:tableStyleId>
              </a:tblPr>
              <a:tblGrid>
                <a:gridCol w="2605955">
                  <a:extLst>
                    <a:ext uri="{9D8B030D-6E8A-4147-A177-3AD203B41FA5}">
                      <a16:colId xmlns:a16="http://schemas.microsoft.com/office/drawing/2014/main" val="1180259087"/>
                    </a:ext>
                  </a:extLst>
                </a:gridCol>
              </a:tblGrid>
              <a:tr h="575646">
                <a:tc>
                  <a:txBody>
                    <a:bodyPr/>
                    <a:lstStyle/>
                    <a:p>
                      <a:pPr algn="ctr"/>
                      <a:r>
                        <a:rPr kumimoji="1" lang="zh-CN" altLang="en-US" dirty="0"/>
                        <a:t>正面的</a:t>
                      </a:r>
                      <a:r>
                        <a:rPr kumimoji="1" lang="ja-JP" altLang="en-US" dirty="0"/>
                        <a:t>結果</a:t>
                      </a:r>
                    </a:p>
                  </a:txBody>
                  <a:tcPr anchor="ctr"/>
                </a:tc>
                <a:extLst>
                  <a:ext uri="{0D108BD9-81ED-4DB2-BD59-A6C34878D82A}">
                    <a16:rowId xmlns:a16="http://schemas.microsoft.com/office/drawing/2014/main" val="3349670459"/>
                  </a:ext>
                </a:extLst>
              </a:tr>
              <a:tr h="1476939">
                <a:tc>
                  <a:txBody>
                    <a:bodyPr/>
                    <a:lstStyle/>
                    <a:p>
                      <a:endParaRPr kumimoji="1" lang="ja-JP" altLang="en-US" dirty="0"/>
                    </a:p>
                  </a:txBody>
                  <a:tcPr anchor="ctr"/>
                </a:tc>
                <a:extLst>
                  <a:ext uri="{0D108BD9-81ED-4DB2-BD59-A6C34878D82A}">
                    <a16:rowId xmlns:a16="http://schemas.microsoft.com/office/drawing/2014/main" val="2810466507"/>
                  </a:ext>
                </a:extLst>
              </a:tr>
            </a:tbl>
          </a:graphicData>
        </a:graphic>
      </p:graphicFrame>
      <p:graphicFrame>
        <p:nvGraphicFramePr>
          <p:cNvPr id="10" name="表 9">
            <a:extLst>
              <a:ext uri="{FF2B5EF4-FFF2-40B4-BE49-F238E27FC236}">
                <a16:creationId xmlns:a16="http://schemas.microsoft.com/office/drawing/2014/main" id="{9362BD90-F85C-A440-B879-9289D098691D}"/>
              </a:ext>
            </a:extLst>
          </p:cNvPr>
          <p:cNvGraphicFramePr>
            <a:graphicFrameLocks noGrp="1"/>
          </p:cNvGraphicFramePr>
          <p:nvPr>
            <p:extLst>
              <p:ext uri="{D42A27DB-BD31-4B8C-83A1-F6EECF244321}">
                <p14:modId xmlns:p14="http://schemas.microsoft.com/office/powerpoint/2010/main" val="1150563556"/>
              </p:ext>
            </p:extLst>
          </p:nvPr>
        </p:nvGraphicFramePr>
        <p:xfrm>
          <a:off x="3650020" y="4447275"/>
          <a:ext cx="2605955" cy="2057429"/>
        </p:xfrm>
        <a:graphic>
          <a:graphicData uri="http://schemas.openxmlformats.org/drawingml/2006/table">
            <a:tbl>
              <a:tblPr>
                <a:tableStyleId>{1FECB4D8-DB02-4DC6-A0A2-4F2EBAE1DC90}</a:tableStyleId>
              </a:tblPr>
              <a:tblGrid>
                <a:gridCol w="2605955">
                  <a:extLst>
                    <a:ext uri="{9D8B030D-6E8A-4147-A177-3AD203B41FA5}">
                      <a16:colId xmlns:a16="http://schemas.microsoft.com/office/drawing/2014/main" val="1180259087"/>
                    </a:ext>
                  </a:extLst>
                </a:gridCol>
              </a:tblGrid>
              <a:tr h="635236">
                <a:tc>
                  <a:txBody>
                    <a:bodyPr/>
                    <a:lstStyle/>
                    <a:p>
                      <a:pPr algn="ctr"/>
                      <a:r>
                        <a:rPr kumimoji="1" lang="en-US" altLang="ja-JP" dirty="0"/>
                        <a:t>Rational belief</a:t>
                      </a:r>
                    </a:p>
                    <a:p>
                      <a:pPr algn="ctr"/>
                      <a:r>
                        <a:rPr kumimoji="1" lang="zh-CN" altLang="en-US" dirty="0"/>
                        <a:t>合理的信念</a:t>
                      </a:r>
                      <a:endParaRPr kumimoji="1" lang="ja-JP" altLang="en-US" dirty="0"/>
                    </a:p>
                  </a:txBody>
                  <a:tcPr anchor="ctr"/>
                </a:tc>
                <a:extLst>
                  <a:ext uri="{0D108BD9-81ED-4DB2-BD59-A6C34878D82A}">
                    <a16:rowId xmlns:a16="http://schemas.microsoft.com/office/drawing/2014/main" val="3349670459"/>
                  </a:ext>
                </a:extLst>
              </a:tr>
              <a:tr h="1417349">
                <a:tc>
                  <a:txBody>
                    <a:bodyPr/>
                    <a:lstStyle/>
                    <a:p>
                      <a:endParaRPr kumimoji="1" lang="ja-JP" altLang="en-US" dirty="0"/>
                    </a:p>
                  </a:txBody>
                  <a:tcPr anchor="ctr"/>
                </a:tc>
                <a:extLst>
                  <a:ext uri="{0D108BD9-81ED-4DB2-BD59-A6C34878D82A}">
                    <a16:rowId xmlns:a16="http://schemas.microsoft.com/office/drawing/2014/main" val="2810466507"/>
                  </a:ext>
                </a:extLst>
              </a:tr>
            </a:tbl>
          </a:graphicData>
        </a:graphic>
      </p:graphicFrame>
      <p:graphicFrame>
        <p:nvGraphicFramePr>
          <p:cNvPr id="11" name="表 11">
            <a:extLst>
              <a:ext uri="{FF2B5EF4-FFF2-40B4-BE49-F238E27FC236}">
                <a16:creationId xmlns:a16="http://schemas.microsoft.com/office/drawing/2014/main" id="{9653B98F-0DEE-524F-961E-A8EBBBF77ECA}"/>
              </a:ext>
            </a:extLst>
          </p:cNvPr>
          <p:cNvGraphicFramePr>
            <a:graphicFrameLocks noGrp="1"/>
          </p:cNvGraphicFramePr>
          <p:nvPr>
            <p:extLst>
              <p:ext uri="{D42A27DB-BD31-4B8C-83A1-F6EECF244321}">
                <p14:modId xmlns:p14="http://schemas.microsoft.com/office/powerpoint/2010/main" val="1166071215"/>
              </p:ext>
            </p:extLst>
          </p:nvPr>
        </p:nvGraphicFramePr>
        <p:xfrm>
          <a:off x="3650020" y="1083505"/>
          <a:ext cx="2605955" cy="640080"/>
        </p:xfrm>
        <a:graphic>
          <a:graphicData uri="http://schemas.openxmlformats.org/drawingml/2006/table">
            <a:tbl>
              <a:tblPr>
                <a:tableStyleId>{1FECB4D8-DB02-4DC6-A0A2-4F2EBAE1DC90}</a:tableStyleId>
              </a:tblPr>
              <a:tblGrid>
                <a:gridCol w="2605955">
                  <a:extLst>
                    <a:ext uri="{9D8B030D-6E8A-4147-A177-3AD203B41FA5}">
                      <a16:colId xmlns:a16="http://schemas.microsoft.com/office/drawing/2014/main" val="858372689"/>
                    </a:ext>
                  </a:extLst>
                </a:gridCol>
              </a:tblGrid>
              <a:tr h="621070">
                <a:tc>
                  <a:txBody>
                    <a:bodyPr/>
                    <a:lstStyle/>
                    <a:p>
                      <a:pPr algn="ctr"/>
                      <a:r>
                        <a:rPr kumimoji="1" lang="en-US" altLang="ja-JP" dirty="0"/>
                        <a:t>Belief</a:t>
                      </a:r>
                    </a:p>
                    <a:p>
                      <a:pPr algn="ctr"/>
                      <a:r>
                        <a:rPr kumimoji="1" lang="ja-JP" altLang="en-US" dirty="0"/>
                        <a:t>信念</a:t>
                      </a:r>
                      <a:endParaRPr kumimoji="1" lang="en-US" altLang="ja-JP"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850395176"/>
                  </a:ext>
                </a:extLst>
              </a:tr>
            </a:tbl>
          </a:graphicData>
        </a:graphic>
      </p:graphicFrame>
      <p:graphicFrame>
        <p:nvGraphicFramePr>
          <p:cNvPr id="12" name="表 11">
            <a:extLst>
              <a:ext uri="{FF2B5EF4-FFF2-40B4-BE49-F238E27FC236}">
                <a16:creationId xmlns:a16="http://schemas.microsoft.com/office/drawing/2014/main" id="{0AEC0B9E-FFDB-9046-A89F-E7864052E778}"/>
              </a:ext>
            </a:extLst>
          </p:cNvPr>
          <p:cNvGraphicFramePr>
            <a:graphicFrameLocks noGrp="1"/>
          </p:cNvGraphicFramePr>
          <p:nvPr>
            <p:extLst>
              <p:ext uri="{D42A27DB-BD31-4B8C-83A1-F6EECF244321}">
                <p14:modId xmlns:p14="http://schemas.microsoft.com/office/powerpoint/2010/main" val="2830555220"/>
              </p:ext>
            </p:extLst>
          </p:nvPr>
        </p:nvGraphicFramePr>
        <p:xfrm>
          <a:off x="6945988" y="1083505"/>
          <a:ext cx="2605955" cy="640080"/>
        </p:xfrm>
        <a:graphic>
          <a:graphicData uri="http://schemas.openxmlformats.org/drawingml/2006/table">
            <a:tbl>
              <a:tblPr>
                <a:tableStyleId>{1FECB4D8-DB02-4DC6-A0A2-4F2EBAE1DC90}</a:tableStyleId>
              </a:tblPr>
              <a:tblGrid>
                <a:gridCol w="2605955">
                  <a:extLst>
                    <a:ext uri="{9D8B030D-6E8A-4147-A177-3AD203B41FA5}">
                      <a16:colId xmlns:a16="http://schemas.microsoft.com/office/drawing/2014/main" val="858372689"/>
                    </a:ext>
                  </a:extLst>
                </a:gridCol>
              </a:tblGrid>
              <a:tr h="621070">
                <a:tc>
                  <a:txBody>
                    <a:bodyPr/>
                    <a:lstStyle/>
                    <a:p>
                      <a:pPr algn="ctr"/>
                      <a:r>
                        <a:rPr kumimoji="1" lang="en-US" altLang="ja-JP" dirty="0"/>
                        <a:t>Consequence</a:t>
                      </a:r>
                    </a:p>
                    <a:p>
                      <a:pPr algn="ctr"/>
                      <a:r>
                        <a:rPr kumimoji="1" lang="zh-CN" altLang="en-US" dirty="0"/>
                        <a:t>结果</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850395176"/>
                  </a:ext>
                </a:extLst>
              </a:tr>
            </a:tbl>
          </a:graphicData>
        </a:graphic>
      </p:graphicFrame>
      <p:cxnSp>
        <p:nvCxnSpPr>
          <p:cNvPr id="14" name="直線矢印コネクタ 13">
            <a:extLst>
              <a:ext uri="{FF2B5EF4-FFF2-40B4-BE49-F238E27FC236}">
                <a16:creationId xmlns:a16="http://schemas.microsoft.com/office/drawing/2014/main" id="{2D82DB41-00C3-444F-AF3B-624BE605699F}"/>
              </a:ext>
            </a:extLst>
          </p:cNvPr>
          <p:cNvCxnSpPr>
            <a:cxnSpLocks/>
            <a:stCxn id="6" idx="3"/>
            <a:endCxn id="7" idx="1"/>
          </p:cNvCxnSpPr>
          <p:nvPr/>
        </p:nvCxnSpPr>
        <p:spPr>
          <a:xfrm flipV="1">
            <a:off x="2960007" y="2886759"/>
            <a:ext cx="690014" cy="747239"/>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7" name="直線矢印コネクタ 16">
            <a:extLst>
              <a:ext uri="{FF2B5EF4-FFF2-40B4-BE49-F238E27FC236}">
                <a16:creationId xmlns:a16="http://schemas.microsoft.com/office/drawing/2014/main" id="{860E9F63-89B3-7F4B-8888-FEBFE966BA7C}"/>
              </a:ext>
            </a:extLst>
          </p:cNvPr>
          <p:cNvCxnSpPr>
            <a:cxnSpLocks/>
            <a:stCxn id="7" idx="3"/>
            <a:endCxn id="8" idx="1"/>
          </p:cNvCxnSpPr>
          <p:nvPr/>
        </p:nvCxnSpPr>
        <p:spPr>
          <a:xfrm flipV="1">
            <a:off x="6255976" y="2877017"/>
            <a:ext cx="690014" cy="9742"/>
          </a:xfrm>
          <a:prstGeom prst="straightConnector1">
            <a:avLst/>
          </a:prstGeom>
          <a:ln w="12700">
            <a:solidFill>
              <a:schemeClr val="tx1"/>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4" name="直線矢印コネクタ 23">
            <a:extLst>
              <a:ext uri="{FF2B5EF4-FFF2-40B4-BE49-F238E27FC236}">
                <a16:creationId xmlns:a16="http://schemas.microsoft.com/office/drawing/2014/main" id="{3E4219D3-3A64-8C4E-8070-53339FB192AC}"/>
              </a:ext>
            </a:extLst>
          </p:cNvPr>
          <p:cNvCxnSpPr>
            <a:cxnSpLocks/>
            <a:stCxn id="10" idx="3"/>
            <a:endCxn id="9" idx="1"/>
          </p:cNvCxnSpPr>
          <p:nvPr/>
        </p:nvCxnSpPr>
        <p:spPr>
          <a:xfrm flipV="1">
            <a:off x="6255975" y="5473567"/>
            <a:ext cx="690014" cy="2422"/>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4D1AD068-A49F-2B47-8938-D89AECA5EFC1}"/>
              </a:ext>
            </a:extLst>
          </p:cNvPr>
          <p:cNvCxnSpPr>
            <a:cxnSpLocks/>
            <a:stCxn id="7" idx="2"/>
            <a:endCxn id="10" idx="0"/>
          </p:cNvCxnSpPr>
          <p:nvPr/>
        </p:nvCxnSpPr>
        <p:spPr>
          <a:xfrm flipH="1">
            <a:off x="4952997" y="3922793"/>
            <a:ext cx="1" cy="524482"/>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0" name="テキスト ボックス 29">
            <a:extLst>
              <a:ext uri="{FF2B5EF4-FFF2-40B4-BE49-F238E27FC236}">
                <a16:creationId xmlns:a16="http://schemas.microsoft.com/office/drawing/2014/main" id="{09AB0830-E3CD-A942-A85E-75F8BECF7BF4}"/>
              </a:ext>
            </a:extLst>
          </p:cNvPr>
          <p:cNvSpPr txBox="1"/>
          <p:nvPr/>
        </p:nvSpPr>
        <p:spPr>
          <a:xfrm>
            <a:off x="5004968" y="3995497"/>
            <a:ext cx="2057679" cy="369332"/>
          </a:xfrm>
          <a:prstGeom prst="rect">
            <a:avLst/>
          </a:prstGeom>
          <a:noFill/>
        </p:spPr>
        <p:txBody>
          <a:bodyPr wrap="none" rtlCol="0">
            <a:spAutoFit/>
          </a:bodyPr>
          <a:lstStyle/>
          <a:p>
            <a:r>
              <a:rPr kumimoji="1" lang="en-US" altLang="ja-JP" dirty="0"/>
              <a:t>Dispute</a:t>
            </a:r>
            <a:r>
              <a:rPr kumimoji="1" lang="ja-JP" altLang="en-US" dirty="0"/>
              <a:t>　</a:t>
            </a:r>
            <a:r>
              <a:rPr kumimoji="1" lang="zh-CN" altLang="en-US" dirty="0"/>
              <a:t>提出疑问</a:t>
            </a:r>
            <a:endParaRPr kumimoji="1" lang="ja-JP" altLang="en-US" dirty="0"/>
          </a:p>
        </p:txBody>
      </p:sp>
    </p:spTree>
    <p:extLst>
      <p:ext uri="{BB962C8B-B14F-4D97-AF65-F5344CB8AC3E}">
        <p14:creationId xmlns:p14="http://schemas.microsoft.com/office/powerpoint/2010/main" val="1480584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19</a:t>
            </a:r>
            <a:r>
              <a:rPr lang="ja-JP" altLang="en-US" sz="2600" dirty="0">
                <a:solidFill>
                  <a:schemeClr val="bg1"/>
                </a:solidFill>
              </a:rPr>
              <a:t>　空</a:t>
            </a:r>
            <a:r>
              <a:rPr lang="en-US" altLang="zh-CN" sz="2600" dirty="0">
                <a:solidFill>
                  <a:schemeClr val="bg1"/>
                </a:solidFill>
              </a:rPr>
              <a:t>—</a:t>
            </a:r>
            <a:r>
              <a:rPr lang="ja-JP" altLang="en-US" sz="2600" dirty="0">
                <a:solidFill>
                  <a:schemeClr val="bg1"/>
                </a:solidFill>
              </a:rPr>
              <a:t>雨</a:t>
            </a:r>
            <a:r>
              <a:rPr lang="en-US" altLang="zh-CN" sz="2600" dirty="0">
                <a:solidFill>
                  <a:schemeClr val="bg1"/>
                </a:solidFill>
              </a:rPr>
              <a:t>—</a:t>
            </a:r>
            <a:r>
              <a:rPr lang="zh-CN" altLang="en-US" sz="2600" dirty="0">
                <a:solidFill>
                  <a:schemeClr val="bg1"/>
                </a:solidFill>
              </a:rPr>
              <a:t>伞</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78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把握问题或课题的现状后，验证状况意味着什么</a:t>
            </a:r>
            <a:r>
              <a:rPr lang="en-US" altLang="zh-CN" sz="1138" dirty="0"/>
              <a:t>(</a:t>
            </a:r>
            <a:r>
              <a:rPr lang="zh-CN" altLang="en-US" sz="1138" dirty="0"/>
              <a:t>解释</a:t>
            </a:r>
            <a:r>
              <a:rPr lang="en-US" altLang="zh-CN" sz="1138" dirty="0"/>
              <a:t>)</a:t>
            </a:r>
            <a:r>
              <a:rPr lang="zh-CN" altLang="en-US" sz="1138" dirty="0"/>
              <a:t>，并根据解释思考应该做什么</a:t>
            </a:r>
            <a:r>
              <a:rPr lang="ja-JP" altLang="en-US" sz="1138" dirty="0"/>
              <a:t>。</a:t>
            </a:r>
            <a:endParaRPr lang="en-US" altLang="ja-JP" sz="1138" dirty="0"/>
          </a:p>
        </p:txBody>
      </p:sp>
      <p:graphicFrame>
        <p:nvGraphicFramePr>
          <p:cNvPr id="5" name="表 5">
            <a:extLst>
              <a:ext uri="{FF2B5EF4-FFF2-40B4-BE49-F238E27FC236}">
                <a16:creationId xmlns:a16="http://schemas.microsoft.com/office/drawing/2014/main" id="{61865826-5A95-0D4B-8675-6E8E76AF447C}"/>
              </a:ext>
            </a:extLst>
          </p:cNvPr>
          <p:cNvGraphicFramePr>
            <a:graphicFrameLocks noGrp="1"/>
          </p:cNvGraphicFramePr>
          <p:nvPr>
            <p:extLst>
              <p:ext uri="{D42A27DB-BD31-4B8C-83A1-F6EECF244321}">
                <p14:modId xmlns:p14="http://schemas.microsoft.com/office/powerpoint/2010/main" val="2863377074"/>
              </p:ext>
            </p:extLst>
          </p:nvPr>
        </p:nvGraphicFramePr>
        <p:xfrm>
          <a:off x="354053" y="1066800"/>
          <a:ext cx="9197895" cy="5433060"/>
        </p:xfrm>
        <a:graphic>
          <a:graphicData uri="http://schemas.openxmlformats.org/drawingml/2006/table">
            <a:tbl>
              <a:tblPr bandRow="1">
                <a:tableStyleId>{1FECB4D8-DB02-4DC6-A0A2-4F2EBAE1DC90}</a:tableStyleId>
              </a:tblPr>
              <a:tblGrid>
                <a:gridCol w="3065965">
                  <a:extLst>
                    <a:ext uri="{9D8B030D-6E8A-4147-A177-3AD203B41FA5}">
                      <a16:colId xmlns:a16="http://schemas.microsoft.com/office/drawing/2014/main" val="3143657903"/>
                    </a:ext>
                  </a:extLst>
                </a:gridCol>
                <a:gridCol w="3065965">
                  <a:extLst>
                    <a:ext uri="{9D8B030D-6E8A-4147-A177-3AD203B41FA5}">
                      <a16:colId xmlns:a16="http://schemas.microsoft.com/office/drawing/2014/main" val="1665260704"/>
                    </a:ext>
                  </a:extLst>
                </a:gridCol>
                <a:gridCol w="3065965">
                  <a:extLst>
                    <a:ext uri="{9D8B030D-6E8A-4147-A177-3AD203B41FA5}">
                      <a16:colId xmlns:a16="http://schemas.microsoft.com/office/drawing/2014/main" val="3224042284"/>
                    </a:ext>
                  </a:extLst>
                </a:gridCol>
              </a:tblGrid>
              <a:tr h="2124971">
                <a:tc>
                  <a:txBody>
                    <a:bodyPr/>
                    <a:lstStyle/>
                    <a:p>
                      <a:pPr algn="ctr"/>
                      <a:r>
                        <a:rPr kumimoji="1" lang="ja-JP" altLang="en-US" sz="1800" dirty="0"/>
                        <a:t>空</a:t>
                      </a:r>
                      <a:endParaRPr kumimoji="1" lang="en-US" altLang="ja-JP" sz="1800" dirty="0"/>
                    </a:p>
                    <a:p>
                      <a:pPr algn="ctr"/>
                      <a:r>
                        <a:rPr kumimoji="1" lang="ja-JP" altLang="en-US" sz="1600" dirty="0"/>
                        <a:t>（</a:t>
                      </a:r>
                      <a:r>
                        <a:rPr kumimoji="1" lang="zh-CN" altLang="en-US" sz="1600" dirty="0"/>
                        <a:t>事实</a:t>
                      </a:r>
                      <a:r>
                        <a:rPr kumimoji="1" lang="ja-JP" altLang="en-US" sz="1600" dirty="0"/>
                        <a:t>）</a:t>
                      </a:r>
                      <a:endParaRPr kumimoji="1" lang="en-US" altLang="ja-JP" sz="1600" dirty="0"/>
                    </a:p>
                    <a:p>
                      <a:pPr algn="ctr"/>
                      <a:endParaRPr kumimoji="1" lang="en-US" altLang="ja-JP" dirty="0"/>
                    </a:p>
                    <a:p>
                      <a:pPr algn="ctr"/>
                      <a:r>
                        <a:rPr kumimoji="1" lang="zh-CN" altLang="en-US" dirty="0"/>
                        <a:t>现状如何？</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ja-JP" altLang="en-US" sz="1800" dirty="0"/>
                        <a:t>雨</a:t>
                      </a:r>
                      <a:endParaRPr kumimoji="1" lang="en-US" altLang="ja-JP" sz="1800" dirty="0"/>
                    </a:p>
                    <a:p>
                      <a:pPr algn="ctr"/>
                      <a:r>
                        <a:rPr kumimoji="1" lang="ja-JP" altLang="en-US" sz="1600" dirty="0"/>
                        <a:t>（</a:t>
                      </a:r>
                      <a:r>
                        <a:rPr kumimoji="1" lang="zh-CN" altLang="en-US" sz="1600" dirty="0"/>
                        <a:t>解释</a:t>
                      </a:r>
                      <a:r>
                        <a:rPr kumimoji="1" lang="ja-JP" altLang="en-US" sz="1600" dirty="0"/>
                        <a:t>）</a:t>
                      </a:r>
                      <a:endParaRPr kumimoji="1" lang="en-US" altLang="ja-JP" sz="1600" dirty="0"/>
                    </a:p>
                    <a:p>
                      <a:pPr algn="ctr"/>
                      <a:endParaRPr kumimoji="1" lang="en-US" altLang="ja-JP" dirty="0"/>
                    </a:p>
                    <a:p>
                      <a:pPr algn="ctr"/>
                      <a:r>
                        <a:rPr kumimoji="1" lang="zh-CN" altLang="en-US" dirty="0"/>
                        <a:t>这个现状意味着什么？</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sz="1800" dirty="0"/>
                        <a:t>伞</a:t>
                      </a:r>
                      <a:endParaRPr kumimoji="1" lang="en-US" altLang="zh-CN" sz="1800" dirty="0"/>
                    </a:p>
                    <a:p>
                      <a:pPr algn="ctr"/>
                      <a:r>
                        <a:rPr kumimoji="1" lang="ja-JP" altLang="en-US" sz="1600" dirty="0"/>
                        <a:t>（</a:t>
                      </a:r>
                      <a:r>
                        <a:rPr kumimoji="1" lang="zh-CN" altLang="en-US" sz="1600" dirty="0"/>
                        <a:t>行动</a:t>
                      </a:r>
                      <a:r>
                        <a:rPr kumimoji="1" lang="ja-JP" altLang="en-US" sz="1600" dirty="0"/>
                        <a:t>）</a:t>
                      </a:r>
                      <a:endParaRPr kumimoji="1" lang="en-US" altLang="ja-JP" sz="1600" dirty="0"/>
                    </a:p>
                    <a:p>
                      <a:pPr algn="ctr"/>
                      <a:endParaRPr kumimoji="1" lang="en-US" altLang="ja-JP" dirty="0"/>
                    </a:p>
                    <a:p>
                      <a:pPr algn="ctr"/>
                      <a:r>
                        <a:rPr kumimoji="1" lang="zh-CN" altLang="en-US" dirty="0"/>
                        <a:t>根据解释采取什么行动？</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42131353"/>
                  </a:ext>
                </a:extLst>
              </a:tr>
              <a:tr h="3308089">
                <a:tc>
                  <a:txBody>
                    <a:bodyPr/>
                    <a:lstStyle/>
                    <a:p>
                      <a:endParaRPr kumimoji="1" lang="ja-JP" altLang="en-US"/>
                    </a:p>
                  </a:txBody>
                  <a:tcPr>
                    <a:lnR w="12700" cap="flat" cmpd="sng" algn="ctr">
                      <a:solidFill>
                        <a:schemeClr val="bg2">
                          <a:lumMod val="75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tcPr>
                </a:tc>
                <a:tc>
                  <a:txBody>
                    <a:bodyPr/>
                    <a:lstStyle/>
                    <a:p>
                      <a:endParaRPr kumimoji="1" lang="ja-JP" altLang="en-US"/>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tcPr>
                </a:tc>
                <a:tc>
                  <a:txBody>
                    <a:bodyPr/>
                    <a:lstStyle/>
                    <a:p>
                      <a:endParaRPr kumimoji="1" lang="ja-JP" altLang="en-US" dirty="0"/>
                    </a:p>
                  </a:txBody>
                  <a:tcPr>
                    <a:lnL w="12700" cap="flat" cmpd="sng" algn="ctr">
                      <a:solidFill>
                        <a:schemeClr val="bg2">
                          <a:lumMod val="75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tcPr>
                </a:tc>
                <a:extLst>
                  <a:ext uri="{0D108BD9-81ED-4DB2-BD59-A6C34878D82A}">
                    <a16:rowId xmlns:a16="http://schemas.microsoft.com/office/drawing/2014/main" val="123589690"/>
                  </a:ext>
                </a:extLst>
              </a:tr>
            </a:tbl>
          </a:graphicData>
        </a:graphic>
      </p:graphicFrame>
      <p:sp>
        <p:nvSpPr>
          <p:cNvPr id="6" name="三角形 5">
            <a:extLst>
              <a:ext uri="{FF2B5EF4-FFF2-40B4-BE49-F238E27FC236}">
                <a16:creationId xmlns:a16="http://schemas.microsoft.com/office/drawing/2014/main" id="{47F3974F-B512-CF4C-88F6-1658853C8BA0}"/>
              </a:ext>
            </a:extLst>
          </p:cNvPr>
          <p:cNvSpPr/>
          <p:nvPr/>
        </p:nvSpPr>
        <p:spPr>
          <a:xfrm rot="5400000">
            <a:off x="3259315" y="209260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8D6ABC8A-733A-AC47-9949-0B72F7481E1F}"/>
              </a:ext>
            </a:extLst>
          </p:cNvPr>
          <p:cNvSpPr/>
          <p:nvPr/>
        </p:nvSpPr>
        <p:spPr>
          <a:xfrm rot="5400000">
            <a:off x="6277687" y="209260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18183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5E173D6D-039D-9F40-B345-379B43444280}"/>
              </a:ext>
            </a:extLst>
          </p:cNvPr>
          <p:cNvGrpSpPr/>
          <p:nvPr/>
        </p:nvGrpSpPr>
        <p:grpSpPr>
          <a:xfrm>
            <a:off x="2048841" y="1744980"/>
            <a:ext cx="4802478" cy="4754880"/>
            <a:chOff x="2048841" y="1744980"/>
            <a:chExt cx="4802478" cy="4754880"/>
          </a:xfrm>
        </p:grpSpPr>
        <p:sp>
          <p:nvSpPr>
            <p:cNvPr id="11" name="正方形/長方形 10">
              <a:extLst>
                <a:ext uri="{FF2B5EF4-FFF2-40B4-BE49-F238E27FC236}">
                  <a16:creationId xmlns:a16="http://schemas.microsoft.com/office/drawing/2014/main" id="{56B569F0-8F91-0B48-B5C4-CAA142EB2144}"/>
                </a:ext>
              </a:extLst>
            </p:cNvPr>
            <p:cNvSpPr/>
            <p:nvPr/>
          </p:nvSpPr>
          <p:spPr>
            <a:xfrm>
              <a:off x="2048841" y="174498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紧急</a:t>
              </a:r>
              <a:r>
                <a:rPr kumimoji="1" lang="ja-JP" altLang="en-US" dirty="0">
                  <a:solidFill>
                    <a:schemeClr val="accent3">
                      <a:lumMod val="75000"/>
                    </a:schemeClr>
                  </a:solidFill>
                </a:rPr>
                <a:t>度：高</a:t>
              </a:r>
              <a:endParaRPr kumimoji="1" lang="en-US" altLang="ja-JP" dirty="0">
                <a:solidFill>
                  <a:schemeClr val="accent3">
                    <a:lumMod val="75000"/>
                  </a:schemeClr>
                </a:solidFill>
              </a:endParaRPr>
            </a:p>
            <a:p>
              <a:r>
                <a:rPr kumimoji="1" lang="ja-JP" altLang="en-US" dirty="0">
                  <a:solidFill>
                    <a:schemeClr val="accent3">
                      <a:lumMod val="75000"/>
                    </a:schemeClr>
                  </a:solidFill>
                </a:rPr>
                <a:t>重要度：高</a:t>
              </a:r>
            </a:p>
          </p:txBody>
        </p:sp>
        <p:sp>
          <p:nvSpPr>
            <p:cNvPr id="12" name="正方形/長方形 11">
              <a:extLst>
                <a:ext uri="{FF2B5EF4-FFF2-40B4-BE49-F238E27FC236}">
                  <a16:creationId xmlns:a16="http://schemas.microsoft.com/office/drawing/2014/main" id="{C5785F3F-B572-E040-8714-6AA2B762918C}"/>
                </a:ext>
              </a:extLst>
            </p:cNvPr>
            <p:cNvSpPr/>
            <p:nvPr/>
          </p:nvSpPr>
          <p:spPr>
            <a:xfrm>
              <a:off x="4450080" y="174498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紧急</a:t>
              </a:r>
              <a:r>
                <a:rPr kumimoji="1" lang="ja-JP" altLang="en-US" dirty="0">
                  <a:solidFill>
                    <a:schemeClr val="accent3">
                      <a:lumMod val="75000"/>
                    </a:schemeClr>
                  </a:solidFill>
                </a:rPr>
                <a:t>度：低</a:t>
              </a:r>
              <a:endParaRPr kumimoji="1" lang="en-US" altLang="ja-JP" dirty="0">
                <a:solidFill>
                  <a:schemeClr val="accent3">
                    <a:lumMod val="75000"/>
                  </a:schemeClr>
                </a:solidFill>
              </a:endParaRPr>
            </a:p>
            <a:p>
              <a:r>
                <a:rPr kumimoji="1" lang="ja-JP" altLang="en-US" dirty="0">
                  <a:solidFill>
                    <a:schemeClr val="accent3">
                      <a:lumMod val="75000"/>
                    </a:schemeClr>
                  </a:solidFill>
                </a:rPr>
                <a:t>重要度：高</a:t>
              </a:r>
            </a:p>
          </p:txBody>
        </p:sp>
        <p:sp>
          <p:nvSpPr>
            <p:cNvPr id="13" name="正方形/長方形 12">
              <a:extLst>
                <a:ext uri="{FF2B5EF4-FFF2-40B4-BE49-F238E27FC236}">
                  <a16:creationId xmlns:a16="http://schemas.microsoft.com/office/drawing/2014/main" id="{C44E29B0-F426-884C-BFBF-1DCDC38371B2}"/>
                </a:ext>
              </a:extLst>
            </p:cNvPr>
            <p:cNvSpPr/>
            <p:nvPr/>
          </p:nvSpPr>
          <p:spPr>
            <a:xfrm>
              <a:off x="2048841" y="412242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紧急</a:t>
              </a:r>
              <a:r>
                <a:rPr kumimoji="1" lang="ja-JP" altLang="en-US" dirty="0">
                  <a:solidFill>
                    <a:schemeClr val="accent3">
                      <a:lumMod val="75000"/>
                    </a:schemeClr>
                  </a:solidFill>
                </a:rPr>
                <a:t>度：高</a:t>
              </a:r>
              <a:endParaRPr kumimoji="1" lang="en-US" altLang="ja-JP" dirty="0">
                <a:solidFill>
                  <a:schemeClr val="accent3">
                    <a:lumMod val="75000"/>
                  </a:schemeClr>
                </a:solidFill>
              </a:endParaRPr>
            </a:p>
            <a:p>
              <a:r>
                <a:rPr kumimoji="1" lang="ja-JP" altLang="en-US" dirty="0">
                  <a:solidFill>
                    <a:schemeClr val="accent3">
                      <a:lumMod val="75000"/>
                    </a:schemeClr>
                  </a:solidFill>
                </a:rPr>
                <a:t>重要度：低</a:t>
              </a:r>
            </a:p>
          </p:txBody>
        </p:sp>
        <p:sp>
          <p:nvSpPr>
            <p:cNvPr id="14" name="正方形/長方形 13">
              <a:extLst>
                <a:ext uri="{FF2B5EF4-FFF2-40B4-BE49-F238E27FC236}">
                  <a16:creationId xmlns:a16="http://schemas.microsoft.com/office/drawing/2014/main" id="{47A5EFC0-A117-0E40-BBD1-B5FAA0DD7228}"/>
                </a:ext>
              </a:extLst>
            </p:cNvPr>
            <p:cNvSpPr/>
            <p:nvPr/>
          </p:nvSpPr>
          <p:spPr>
            <a:xfrm>
              <a:off x="4450079" y="4119309"/>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紧急</a:t>
              </a:r>
              <a:r>
                <a:rPr kumimoji="1" lang="ja-JP" altLang="en-US" dirty="0">
                  <a:solidFill>
                    <a:schemeClr val="accent3">
                      <a:lumMod val="75000"/>
                    </a:schemeClr>
                  </a:solidFill>
                </a:rPr>
                <a:t>度：低</a:t>
              </a:r>
              <a:endParaRPr kumimoji="1" lang="en-US" altLang="ja-JP" dirty="0">
                <a:solidFill>
                  <a:schemeClr val="accent3">
                    <a:lumMod val="75000"/>
                  </a:schemeClr>
                </a:solidFill>
              </a:endParaRPr>
            </a:p>
            <a:p>
              <a:r>
                <a:rPr kumimoji="1" lang="ja-JP" altLang="en-US" dirty="0">
                  <a:solidFill>
                    <a:schemeClr val="accent3">
                      <a:lumMod val="75000"/>
                    </a:schemeClr>
                  </a:solidFill>
                </a:rPr>
                <a:t>重要度：低</a:t>
              </a:r>
            </a:p>
          </p:txBody>
        </p:sp>
      </p:grpSp>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1800" dirty="0">
                <a:solidFill>
                  <a:schemeClr val="bg1"/>
                </a:solidFill>
              </a:rPr>
              <a:t>20</a:t>
            </a:r>
            <a:r>
              <a:rPr lang="ja-JP" altLang="en-US" sz="1800" dirty="0">
                <a:solidFill>
                  <a:schemeClr val="bg1"/>
                </a:solidFill>
              </a:rPr>
              <a:t>　重要度／</a:t>
            </a:r>
            <a:r>
              <a:rPr lang="zh-CN" altLang="en-US" sz="1800" dirty="0">
                <a:solidFill>
                  <a:schemeClr val="bg1"/>
                </a:solidFill>
              </a:rPr>
              <a:t>紧急度矩阵</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82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把业务内容和问题写出来后，落实到下面的矩阵中，按照四个领域划分优先级，彻底进行时间管理。</a:t>
            </a:r>
            <a:endParaRPr lang="en-US" altLang="ja-JP" sz="1138" dirty="0"/>
          </a:p>
        </p:txBody>
      </p:sp>
      <p:sp>
        <p:nvSpPr>
          <p:cNvPr id="5" name="上下矢印 4">
            <a:extLst>
              <a:ext uri="{FF2B5EF4-FFF2-40B4-BE49-F238E27FC236}">
                <a16:creationId xmlns:a16="http://schemas.microsoft.com/office/drawing/2014/main" id="{3089C459-851B-C24D-B4AB-26FAE84B4CC3}"/>
              </a:ext>
            </a:extLst>
          </p:cNvPr>
          <p:cNvSpPr/>
          <p:nvPr/>
        </p:nvSpPr>
        <p:spPr>
          <a:xfrm flipH="1" flipV="1">
            <a:off x="1684639" y="1784746"/>
            <a:ext cx="350036" cy="4473302"/>
          </a:xfrm>
          <a:prstGeom prst="up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725EF7D-B9A3-C648-995D-0A7B7B667F73}"/>
              </a:ext>
            </a:extLst>
          </p:cNvPr>
          <p:cNvSpPr txBox="1"/>
          <p:nvPr/>
        </p:nvSpPr>
        <p:spPr>
          <a:xfrm>
            <a:off x="1677556" y="1545788"/>
            <a:ext cx="364202" cy="307777"/>
          </a:xfrm>
          <a:prstGeom prst="rect">
            <a:avLst/>
          </a:prstGeom>
          <a:noFill/>
        </p:spPr>
        <p:txBody>
          <a:bodyPr wrap="none" rtlCol="0">
            <a:spAutoFit/>
          </a:bodyPr>
          <a:lstStyle/>
          <a:p>
            <a:r>
              <a:rPr kumimoji="1" lang="ja-JP" altLang="en-US" sz="1400"/>
              <a:t>高</a:t>
            </a:r>
          </a:p>
        </p:txBody>
      </p:sp>
      <p:sp>
        <p:nvSpPr>
          <p:cNvPr id="7" name="テキスト ボックス 6">
            <a:extLst>
              <a:ext uri="{FF2B5EF4-FFF2-40B4-BE49-F238E27FC236}">
                <a16:creationId xmlns:a16="http://schemas.microsoft.com/office/drawing/2014/main" id="{D5D161BB-AEEC-B145-88F4-64C503B8C640}"/>
              </a:ext>
            </a:extLst>
          </p:cNvPr>
          <p:cNvSpPr txBox="1"/>
          <p:nvPr/>
        </p:nvSpPr>
        <p:spPr>
          <a:xfrm>
            <a:off x="1677556" y="6197088"/>
            <a:ext cx="364202" cy="307777"/>
          </a:xfrm>
          <a:prstGeom prst="rect">
            <a:avLst/>
          </a:prstGeom>
          <a:noFill/>
        </p:spPr>
        <p:txBody>
          <a:bodyPr wrap="none" rtlCol="0">
            <a:spAutoFit/>
          </a:bodyPr>
          <a:lstStyle/>
          <a:p>
            <a:r>
              <a:rPr kumimoji="1" lang="ja-JP" altLang="en-US" sz="1400"/>
              <a:t>低</a:t>
            </a:r>
          </a:p>
        </p:txBody>
      </p:sp>
      <p:sp>
        <p:nvSpPr>
          <p:cNvPr id="8" name="上下矢印 7">
            <a:extLst>
              <a:ext uri="{FF2B5EF4-FFF2-40B4-BE49-F238E27FC236}">
                <a16:creationId xmlns:a16="http://schemas.microsoft.com/office/drawing/2014/main" id="{533AC203-256A-E447-96B4-2D4C1DC67F6E}"/>
              </a:ext>
            </a:extLst>
          </p:cNvPr>
          <p:cNvSpPr/>
          <p:nvPr/>
        </p:nvSpPr>
        <p:spPr>
          <a:xfrm rot="5400000" flipH="1" flipV="1">
            <a:off x="4252579" y="-745836"/>
            <a:ext cx="350036" cy="4473302"/>
          </a:xfrm>
          <a:prstGeom prst="up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D57B7D3-D890-7D4F-BCB4-4EEA18CDCED2}"/>
              </a:ext>
            </a:extLst>
          </p:cNvPr>
          <p:cNvSpPr txBox="1"/>
          <p:nvPr/>
        </p:nvSpPr>
        <p:spPr>
          <a:xfrm>
            <a:off x="6571201" y="1362388"/>
            <a:ext cx="364202" cy="307777"/>
          </a:xfrm>
          <a:prstGeom prst="rect">
            <a:avLst/>
          </a:prstGeom>
          <a:noFill/>
        </p:spPr>
        <p:txBody>
          <a:bodyPr wrap="none" rtlCol="0">
            <a:spAutoFit/>
          </a:bodyPr>
          <a:lstStyle/>
          <a:p>
            <a:r>
              <a:rPr kumimoji="1" lang="ja-JP" altLang="en-US" sz="1400"/>
              <a:t>低</a:t>
            </a:r>
          </a:p>
        </p:txBody>
      </p:sp>
      <p:sp>
        <p:nvSpPr>
          <p:cNvPr id="10" name="テキスト ボックス 9">
            <a:extLst>
              <a:ext uri="{FF2B5EF4-FFF2-40B4-BE49-F238E27FC236}">
                <a16:creationId xmlns:a16="http://schemas.microsoft.com/office/drawing/2014/main" id="{0B84364E-577A-0A4F-A663-6ED02D21927D}"/>
              </a:ext>
            </a:extLst>
          </p:cNvPr>
          <p:cNvSpPr txBox="1"/>
          <p:nvPr/>
        </p:nvSpPr>
        <p:spPr>
          <a:xfrm>
            <a:off x="1937793" y="1353188"/>
            <a:ext cx="364202" cy="307777"/>
          </a:xfrm>
          <a:prstGeom prst="rect">
            <a:avLst/>
          </a:prstGeom>
          <a:noFill/>
        </p:spPr>
        <p:txBody>
          <a:bodyPr wrap="none" rtlCol="0">
            <a:spAutoFit/>
          </a:bodyPr>
          <a:lstStyle/>
          <a:p>
            <a:r>
              <a:rPr kumimoji="1" lang="ja-JP" altLang="en-US" sz="1400"/>
              <a:t>高</a:t>
            </a:r>
          </a:p>
        </p:txBody>
      </p:sp>
      <p:sp>
        <p:nvSpPr>
          <p:cNvPr id="15" name="テキスト ボックス 14">
            <a:extLst>
              <a:ext uri="{FF2B5EF4-FFF2-40B4-BE49-F238E27FC236}">
                <a16:creationId xmlns:a16="http://schemas.microsoft.com/office/drawing/2014/main" id="{71C917DD-67EE-AD40-A2A9-D57D7AA69560}"/>
              </a:ext>
            </a:extLst>
          </p:cNvPr>
          <p:cNvSpPr txBox="1"/>
          <p:nvPr/>
        </p:nvSpPr>
        <p:spPr>
          <a:xfrm>
            <a:off x="4011497" y="1061795"/>
            <a:ext cx="877163" cy="369332"/>
          </a:xfrm>
          <a:prstGeom prst="rect">
            <a:avLst/>
          </a:prstGeom>
          <a:noFill/>
        </p:spPr>
        <p:txBody>
          <a:bodyPr wrap="none" rtlCol="0">
            <a:spAutoFit/>
          </a:bodyPr>
          <a:lstStyle/>
          <a:p>
            <a:r>
              <a:rPr kumimoji="1" lang="zh-CN" altLang="en-US" dirty="0"/>
              <a:t>紧急</a:t>
            </a:r>
            <a:r>
              <a:rPr kumimoji="1" lang="ja-JP" altLang="en-US" dirty="0"/>
              <a:t>度</a:t>
            </a:r>
          </a:p>
        </p:txBody>
      </p:sp>
      <p:sp>
        <p:nvSpPr>
          <p:cNvPr id="16" name="テキスト ボックス 15">
            <a:extLst>
              <a:ext uri="{FF2B5EF4-FFF2-40B4-BE49-F238E27FC236}">
                <a16:creationId xmlns:a16="http://schemas.microsoft.com/office/drawing/2014/main" id="{D7EF54B1-7599-2541-BD7C-591F8D066BF4}"/>
              </a:ext>
            </a:extLst>
          </p:cNvPr>
          <p:cNvSpPr txBox="1"/>
          <p:nvPr/>
        </p:nvSpPr>
        <p:spPr>
          <a:xfrm>
            <a:off x="1317085" y="3429000"/>
            <a:ext cx="461665" cy="1165860"/>
          </a:xfrm>
          <a:prstGeom prst="rect">
            <a:avLst/>
          </a:prstGeom>
          <a:noFill/>
        </p:spPr>
        <p:txBody>
          <a:bodyPr vert="eaVert" wrap="square" rtlCol="0">
            <a:spAutoFit/>
          </a:bodyPr>
          <a:lstStyle/>
          <a:p>
            <a:r>
              <a:rPr kumimoji="1" lang="ja-JP" altLang="en-US"/>
              <a:t>重要度</a:t>
            </a:r>
          </a:p>
        </p:txBody>
      </p:sp>
    </p:spTree>
    <p:extLst>
      <p:ext uri="{BB962C8B-B14F-4D97-AF65-F5344CB8AC3E}">
        <p14:creationId xmlns:p14="http://schemas.microsoft.com/office/powerpoint/2010/main" val="414872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21</a:t>
            </a:r>
            <a:r>
              <a:rPr lang="ja-JP" altLang="en-US" sz="2600" dirty="0">
                <a:solidFill>
                  <a:schemeClr val="bg1"/>
                </a:solidFill>
              </a:rPr>
              <a:t>　</a:t>
            </a:r>
            <a:r>
              <a:rPr lang="zh-CN" altLang="en-US" sz="2600" dirty="0">
                <a:solidFill>
                  <a:schemeClr val="bg1"/>
                </a:solidFill>
              </a:rPr>
              <a:t>假设思考</a:t>
            </a:r>
            <a:r>
              <a:rPr lang="ja-JP" altLang="en-US" sz="26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86</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填写课题</a:t>
            </a:r>
            <a:r>
              <a:rPr lang="en-US" altLang="zh-CN" sz="1138" dirty="0"/>
              <a:t>(</a:t>
            </a:r>
            <a:r>
              <a:rPr lang="zh-CN" altLang="en-US" sz="1138" dirty="0"/>
              <a:t>问题</a:t>
            </a:r>
            <a:r>
              <a:rPr lang="en-US" altLang="zh-CN" sz="1138" dirty="0"/>
              <a:t>)</a:t>
            </a:r>
            <a:r>
              <a:rPr lang="zh-CN" altLang="en-US" sz="1138" dirty="0"/>
              <a:t>后，就要建立假设，收集数据，验证假设。</a:t>
            </a:r>
            <a:endParaRPr lang="en-US" altLang="ja-JP" sz="1138" dirty="0"/>
          </a:p>
        </p:txBody>
      </p:sp>
      <p:sp>
        <p:nvSpPr>
          <p:cNvPr id="5" name="角丸四角形 4">
            <a:extLst>
              <a:ext uri="{FF2B5EF4-FFF2-40B4-BE49-F238E27FC236}">
                <a16:creationId xmlns:a16="http://schemas.microsoft.com/office/drawing/2014/main" id="{165A6279-BC0E-7D46-9AE2-F156D488E1E0}"/>
              </a:ext>
            </a:extLst>
          </p:cNvPr>
          <p:cNvSpPr/>
          <p:nvPr/>
        </p:nvSpPr>
        <p:spPr>
          <a:xfrm>
            <a:off x="3527338" y="1460311"/>
            <a:ext cx="2851322" cy="723955"/>
          </a:xfrm>
          <a:prstGeom prst="roundRect">
            <a:avLst/>
          </a:prstGeom>
          <a:solidFill>
            <a:schemeClr val="bg2"/>
          </a:solidFill>
        </p:spPr>
        <p:style>
          <a:lnRef idx="2">
            <a:schemeClr val="dk1">
              <a:shade val="50000"/>
            </a:schemeClr>
          </a:lnRef>
          <a:fillRef idx="1">
            <a:schemeClr val="dk1"/>
          </a:fillRef>
          <a:effectRef idx="0">
            <a:schemeClr val="dk1"/>
          </a:effectRef>
          <a:fontRef idx="minor">
            <a:schemeClr val="lt1"/>
          </a:fontRef>
        </p:style>
        <p:txBody>
          <a:bodyPr rtlCol="0" anchor="ctr"/>
          <a:lstStyle/>
          <a:p>
            <a:endParaRPr lang="ja-JP" altLang="en-US" sz="1463">
              <a:solidFill>
                <a:srgbClr val="FF0000"/>
              </a:solidFill>
            </a:endParaRPr>
          </a:p>
        </p:txBody>
      </p:sp>
      <p:sp>
        <p:nvSpPr>
          <p:cNvPr id="6" name="角丸四角形 5">
            <a:extLst>
              <a:ext uri="{FF2B5EF4-FFF2-40B4-BE49-F238E27FC236}">
                <a16:creationId xmlns:a16="http://schemas.microsoft.com/office/drawing/2014/main" id="{33410082-EBB0-374D-AF30-21B0B463848C}"/>
              </a:ext>
            </a:extLst>
          </p:cNvPr>
          <p:cNvSpPr/>
          <p:nvPr/>
        </p:nvSpPr>
        <p:spPr>
          <a:xfrm>
            <a:off x="352792" y="4291869"/>
            <a:ext cx="855556" cy="2193530"/>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endParaRPr lang="ja-JP" altLang="en-US" sz="1138">
              <a:solidFill>
                <a:schemeClr val="tx1"/>
              </a:solidFill>
            </a:endParaRPr>
          </a:p>
        </p:txBody>
      </p:sp>
      <p:sp>
        <p:nvSpPr>
          <p:cNvPr id="7" name="角丸四角形 6">
            <a:extLst>
              <a:ext uri="{FF2B5EF4-FFF2-40B4-BE49-F238E27FC236}">
                <a16:creationId xmlns:a16="http://schemas.microsoft.com/office/drawing/2014/main" id="{D00AECAB-40A4-E141-909D-C19E31EF6568}"/>
              </a:ext>
            </a:extLst>
          </p:cNvPr>
          <p:cNvSpPr/>
          <p:nvPr/>
        </p:nvSpPr>
        <p:spPr>
          <a:xfrm>
            <a:off x="2438377" y="4299981"/>
            <a:ext cx="855556" cy="2193530"/>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endParaRPr lang="ja-JP" altLang="en-US" sz="1138">
              <a:solidFill>
                <a:schemeClr val="tx1"/>
              </a:solidFill>
            </a:endParaRPr>
          </a:p>
        </p:txBody>
      </p:sp>
      <p:sp>
        <p:nvSpPr>
          <p:cNvPr id="8" name="角丸四角形 7">
            <a:extLst>
              <a:ext uri="{FF2B5EF4-FFF2-40B4-BE49-F238E27FC236}">
                <a16:creationId xmlns:a16="http://schemas.microsoft.com/office/drawing/2014/main" id="{7DE7F725-F3F1-CE4E-A097-CC180CA4B27E}"/>
              </a:ext>
            </a:extLst>
          </p:cNvPr>
          <p:cNvSpPr/>
          <p:nvPr/>
        </p:nvSpPr>
        <p:spPr>
          <a:xfrm>
            <a:off x="4525220" y="4306330"/>
            <a:ext cx="855556" cy="2193530"/>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endParaRPr lang="ja-JP" altLang="en-US" sz="1138">
              <a:solidFill>
                <a:schemeClr val="tx1"/>
              </a:solidFill>
            </a:endParaRPr>
          </a:p>
        </p:txBody>
      </p:sp>
      <p:sp>
        <p:nvSpPr>
          <p:cNvPr id="9" name="角丸四角形 8">
            <a:extLst>
              <a:ext uri="{FF2B5EF4-FFF2-40B4-BE49-F238E27FC236}">
                <a16:creationId xmlns:a16="http://schemas.microsoft.com/office/drawing/2014/main" id="{AE4741A9-AAD4-C846-9030-F993DFF82267}"/>
              </a:ext>
            </a:extLst>
          </p:cNvPr>
          <p:cNvSpPr/>
          <p:nvPr/>
        </p:nvSpPr>
        <p:spPr>
          <a:xfrm>
            <a:off x="6609545" y="4299981"/>
            <a:ext cx="855556" cy="219353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endParaRPr lang="ja-JP" altLang="en-US" sz="1138">
              <a:solidFill>
                <a:schemeClr val="tx1"/>
              </a:solidFill>
            </a:endParaRPr>
          </a:p>
        </p:txBody>
      </p:sp>
      <p:sp>
        <p:nvSpPr>
          <p:cNvPr id="10" name="角丸四角形 9">
            <a:extLst>
              <a:ext uri="{FF2B5EF4-FFF2-40B4-BE49-F238E27FC236}">
                <a16:creationId xmlns:a16="http://schemas.microsoft.com/office/drawing/2014/main" id="{5A3F2276-04C9-C749-B4D8-FEFB10181562}"/>
              </a:ext>
            </a:extLst>
          </p:cNvPr>
          <p:cNvSpPr/>
          <p:nvPr/>
        </p:nvSpPr>
        <p:spPr>
          <a:xfrm>
            <a:off x="8696391" y="4291868"/>
            <a:ext cx="855556" cy="219353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vert="eaVert" rtlCol="0" anchor="ctr"/>
          <a:lstStyle/>
          <a:p>
            <a:endParaRPr lang="ja-JP" altLang="en-US" sz="1138">
              <a:solidFill>
                <a:schemeClr val="tx1"/>
              </a:solidFill>
            </a:endParaRPr>
          </a:p>
        </p:txBody>
      </p:sp>
      <p:cxnSp>
        <p:nvCxnSpPr>
          <p:cNvPr id="11" name="カギ線コネクタ 10">
            <a:extLst>
              <a:ext uri="{FF2B5EF4-FFF2-40B4-BE49-F238E27FC236}">
                <a16:creationId xmlns:a16="http://schemas.microsoft.com/office/drawing/2014/main" id="{A91062B9-7221-B740-87FC-22CB6785C91B}"/>
              </a:ext>
            </a:extLst>
          </p:cNvPr>
          <p:cNvCxnSpPr>
            <a:cxnSpLocks/>
            <a:stCxn id="5" idx="2"/>
            <a:endCxn id="10" idx="0"/>
          </p:cNvCxnSpPr>
          <p:nvPr/>
        </p:nvCxnSpPr>
        <p:spPr>
          <a:xfrm rot="16200000" flipH="1">
            <a:off x="5984783" y="1152482"/>
            <a:ext cx="2107602" cy="4171170"/>
          </a:xfrm>
          <a:prstGeom prst="bentConnector3">
            <a:avLst/>
          </a:prstGeom>
          <a:ln w="12700"/>
        </p:spPr>
        <p:style>
          <a:lnRef idx="1">
            <a:schemeClr val="dk1"/>
          </a:lnRef>
          <a:fillRef idx="0">
            <a:schemeClr val="dk1"/>
          </a:fillRef>
          <a:effectRef idx="0">
            <a:schemeClr val="dk1"/>
          </a:effectRef>
          <a:fontRef idx="minor">
            <a:schemeClr val="tx1"/>
          </a:fontRef>
        </p:style>
      </p:cxnSp>
      <p:cxnSp>
        <p:nvCxnSpPr>
          <p:cNvPr id="12" name="カギ線コネクタ 11">
            <a:extLst>
              <a:ext uri="{FF2B5EF4-FFF2-40B4-BE49-F238E27FC236}">
                <a16:creationId xmlns:a16="http://schemas.microsoft.com/office/drawing/2014/main" id="{2C894F38-7D48-2D4C-8D19-4B91C9BD9054}"/>
              </a:ext>
            </a:extLst>
          </p:cNvPr>
          <p:cNvCxnSpPr>
            <a:cxnSpLocks/>
            <a:stCxn id="5" idx="2"/>
            <a:endCxn id="6" idx="0"/>
          </p:cNvCxnSpPr>
          <p:nvPr/>
        </p:nvCxnSpPr>
        <p:spPr>
          <a:xfrm rot="5400000">
            <a:off x="1812984" y="1151853"/>
            <a:ext cx="2107603" cy="4172429"/>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13" name="カギ線コネクタ 12">
            <a:extLst>
              <a:ext uri="{FF2B5EF4-FFF2-40B4-BE49-F238E27FC236}">
                <a16:creationId xmlns:a16="http://schemas.microsoft.com/office/drawing/2014/main" id="{16896A9E-74DD-E846-845C-A6EC8E641201}"/>
              </a:ext>
            </a:extLst>
          </p:cNvPr>
          <p:cNvCxnSpPr>
            <a:cxnSpLocks/>
            <a:stCxn id="5" idx="2"/>
            <a:endCxn id="9" idx="0"/>
          </p:cNvCxnSpPr>
          <p:nvPr/>
        </p:nvCxnSpPr>
        <p:spPr>
          <a:xfrm rot="16200000" flipH="1">
            <a:off x="4937304" y="2199961"/>
            <a:ext cx="2115715" cy="2084324"/>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14" name="カギ線コネクタ 13">
            <a:extLst>
              <a:ext uri="{FF2B5EF4-FFF2-40B4-BE49-F238E27FC236}">
                <a16:creationId xmlns:a16="http://schemas.microsoft.com/office/drawing/2014/main" id="{56085F81-661F-714E-A809-7BD95D6AC465}"/>
              </a:ext>
            </a:extLst>
          </p:cNvPr>
          <p:cNvCxnSpPr>
            <a:cxnSpLocks/>
            <a:stCxn id="5" idx="2"/>
            <a:endCxn id="8" idx="0"/>
          </p:cNvCxnSpPr>
          <p:nvPr/>
        </p:nvCxnSpPr>
        <p:spPr>
          <a:xfrm rot="5400000">
            <a:off x="3891967" y="3245298"/>
            <a:ext cx="2122064" cy="1"/>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15" name="カギ線コネクタ 14">
            <a:extLst>
              <a:ext uri="{FF2B5EF4-FFF2-40B4-BE49-F238E27FC236}">
                <a16:creationId xmlns:a16="http://schemas.microsoft.com/office/drawing/2014/main" id="{B8313B15-FEC5-7948-B7C0-2081F8BA982E}"/>
              </a:ext>
            </a:extLst>
          </p:cNvPr>
          <p:cNvCxnSpPr>
            <a:cxnSpLocks/>
            <a:stCxn id="5" idx="2"/>
            <a:endCxn id="7" idx="0"/>
          </p:cNvCxnSpPr>
          <p:nvPr/>
        </p:nvCxnSpPr>
        <p:spPr>
          <a:xfrm rot="5400000">
            <a:off x="2851720" y="2198701"/>
            <a:ext cx="2115715" cy="2086844"/>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sp>
        <p:nvSpPr>
          <p:cNvPr id="16" name="テキスト ボックス 15">
            <a:extLst>
              <a:ext uri="{FF2B5EF4-FFF2-40B4-BE49-F238E27FC236}">
                <a16:creationId xmlns:a16="http://schemas.microsoft.com/office/drawing/2014/main" id="{3451A8DD-13A1-7C47-9029-55EF49F39E6C}"/>
              </a:ext>
            </a:extLst>
          </p:cNvPr>
          <p:cNvSpPr txBox="1"/>
          <p:nvPr/>
        </p:nvSpPr>
        <p:spPr>
          <a:xfrm>
            <a:off x="3479497" y="1183312"/>
            <a:ext cx="1107996" cy="276999"/>
          </a:xfrm>
          <a:prstGeom prst="rect">
            <a:avLst/>
          </a:prstGeom>
          <a:noFill/>
        </p:spPr>
        <p:txBody>
          <a:bodyPr wrap="none" rtlCol="0">
            <a:spAutoFit/>
          </a:bodyPr>
          <a:lstStyle/>
          <a:p>
            <a:r>
              <a:rPr kumimoji="1" lang="zh-CN" altLang="en-US" sz="1200" dirty="0"/>
              <a:t>课题</a:t>
            </a:r>
            <a:r>
              <a:rPr kumimoji="1" lang="ja-JP" altLang="en-US" sz="1200" dirty="0"/>
              <a:t>（</a:t>
            </a:r>
            <a:r>
              <a:rPr kumimoji="1" lang="zh-CN" altLang="en-US" sz="1200" dirty="0"/>
              <a:t>问题</a:t>
            </a:r>
            <a:r>
              <a:rPr kumimoji="1" lang="ja-JP" altLang="en-US" sz="1200" dirty="0"/>
              <a:t>）</a:t>
            </a:r>
          </a:p>
        </p:txBody>
      </p:sp>
      <p:sp>
        <p:nvSpPr>
          <p:cNvPr id="17" name="テキスト ボックス 16">
            <a:extLst>
              <a:ext uri="{FF2B5EF4-FFF2-40B4-BE49-F238E27FC236}">
                <a16:creationId xmlns:a16="http://schemas.microsoft.com/office/drawing/2014/main" id="{3ABB98AD-27D6-064A-9506-794830D1B97B}"/>
              </a:ext>
            </a:extLst>
          </p:cNvPr>
          <p:cNvSpPr txBox="1"/>
          <p:nvPr/>
        </p:nvSpPr>
        <p:spPr>
          <a:xfrm>
            <a:off x="779310" y="4014869"/>
            <a:ext cx="492443" cy="276999"/>
          </a:xfrm>
          <a:prstGeom prst="rect">
            <a:avLst/>
          </a:prstGeom>
          <a:noFill/>
        </p:spPr>
        <p:txBody>
          <a:bodyPr wrap="none" rtlCol="0">
            <a:spAutoFit/>
          </a:bodyPr>
          <a:lstStyle/>
          <a:p>
            <a:r>
              <a:rPr kumimoji="1" lang="zh-CN" altLang="en-US" sz="1200" dirty="0"/>
              <a:t>假设</a:t>
            </a:r>
            <a:endParaRPr kumimoji="1" lang="ja-JP" altLang="en-US" sz="1200" dirty="0"/>
          </a:p>
        </p:txBody>
      </p:sp>
    </p:spTree>
    <p:extLst>
      <p:ext uri="{BB962C8B-B14F-4D97-AF65-F5344CB8AC3E}">
        <p14:creationId xmlns:p14="http://schemas.microsoft.com/office/powerpoint/2010/main" val="3855865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22</a:t>
            </a:r>
            <a:r>
              <a:rPr lang="ja-JP" altLang="en-US" sz="2600" dirty="0">
                <a:solidFill>
                  <a:schemeClr val="bg1"/>
                </a:solidFill>
              </a:rPr>
              <a:t>　ＰＥＳＴ分析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92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列举环境发生了怎样的变化，这些变化会给本公司带来怎样的变化，并将对应方案作为课题假设填写下来。 </a:t>
            </a:r>
            <a:r>
              <a:rPr lang="ja-JP" altLang="en-US" sz="1138" dirty="0"/>
              <a:t>。</a:t>
            </a:r>
            <a:endParaRPr lang="en-US" altLang="ja-JP" sz="1138" dirty="0"/>
          </a:p>
        </p:txBody>
      </p:sp>
      <p:graphicFrame>
        <p:nvGraphicFramePr>
          <p:cNvPr id="5" name="表 5">
            <a:extLst>
              <a:ext uri="{FF2B5EF4-FFF2-40B4-BE49-F238E27FC236}">
                <a16:creationId xmlns:a16="http://schemas.microsoft.com/office/drawing/2014/main" id="{58A38DB2-C404-AE47-BDA6-0F7A001749C6}"/>
              </a:ext>
            </a:extLst>
          </p:cNvPr>
          <p:cNvGraphicFramePr>
            <a:graphicFrameLocks noGrp="1"/>
          </p:cNvGraphicFramePr>
          <p:nvPr>
            <p:extLst>
              <p:ext uri="{D42A27DB-BD31-4B8C-83A1-F6EECF244321}">
                <p14:modId xmlns:p14="http://schemas.microsoft.com/office/powerpoint/2010/main" val="894652354"/>
              </p:ext>
            </p:extLst>
          </p:nvPr>
        </p:nvGraphicFramePr>
        <p:xfrm>
          <a:off x="354051" y="1066800"/>
          <a:ext cx="9197896" cy="5468982"/>
        </p:xfrm>
        <a:graphic>
          <a:graphicData uri="http://schemas.openxmlformats.org/drawingml/2006/table">
            <a:tbl>
              <a:tblPr>
                <a:tableStyleId>{1FECB4D8-DB02-4DC6-A0A2-4F2EBAE1DC90}</a:tableStyleId>
              </a:tblPr>
              <a:tblGrid>
                <a:gridCol w="1305699">
                  <a:extLst>
                    <a:ext uri="{9D8B030D-6E8A-4147-A177-3AD203B41FA5}">
                      <a16:colId xmlns:a16="http://schemas.microsoft.com/office/drawing/2014/main" val="968148656"/>
                    </a:ext>
                  </a:extLst>
                </a:gridCol>
                <a:gridCol w="1260182">
                  <a:extLst>
                    <a:ext uri="{9D8B030D-6E8A-4147-A177-3AD203B41FA5}">
                      <a16:colId xmlns:a16="http://schemas.microsoft.com/office/drawing/2014/main" val="703433809"/>
                    </a:ext>
                  </a:extLst>
                </a:gridCol>
                <a:gridCol w="1659750">
                  <a:extLst>
                    <a:ext uri="{9D8B030D-6E8A-4147-A177-3AD203B41FA5}">
                      <a16:colId xmlns:a16="http://schemas.microsoft.com/office/drawing/2014/main" val="2152374419"/>
                    </a:ext>
                  </a:extLst>
                </a:gridCol>
                <a:gridCol w="1713540">
                  <a:extLst>
                    <a:ext uri="{9D8B030D-6E8A-4147-A177-3AD203B41FA5}">
                      <a16:colId xmlns:a16="http://schemas.microsoft.com/office/drawing/2014/main" val="962379314"/>
                    </a:ext>
                  </a:extLst>
                </a:gridCol>
                <a:gridCol w="1682803">
                  <a:extLst>
                    <a:ext uri="{9D8B030D-6E8A-4147-A177-3AD203B41FA5}">
                      <a16:colId xmlns:a16="http://schemas.microsoft.com/office/drawing/2014/main" val="1882333470"/>
                    </a:ext>
                  </a:extLst>
                </a:gridCol>
                <a:gridCol w="1575922">
                  <a:extLst>
                    <a:ext uri="{9D8B030D-6E8A-4147-A177-3AD203B41FA5}">
                      <a16:colId xmlns:a16="http://schemas.microsoft.com/office/drawing/2014/main" val="3433571200"/>
                    </a:ext>
                  </a:extLst>
                </a:gridCol>
              </a:tblGrid>
              <a:tr h="462323">
                <a:tc>
                  <a:txBody>
                    <a:bodyPr/>
                    <a:lstStyle/>
                    <a:p>
                      <a:endParaRPr kumimoji="1" lang="ja-JP" altLang="en-US"/>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endParaRPr kumimoji="1" lang="ja-JP" altLang="en-US"/>
                    </a:p>
                  </a:txBody>
                  <a:tcP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algn="ctr"/>
                      <a:r>
                        <a:rPr kumimoji="1" lang="zh-CN" altLang="en-US" dirty="0"/>
                        <a:t>变化</a:t>
                      </a:r>
                      <a:endParaRPr kumimoji="1" lang="ja-JP" altLang="en-US" dirty="0"/>
                    </a:p>
                  </a:txBody>
                  <a:tcPr anchor="ctr">
                    <a:lnT w="12700" cap="flat" cmpd="sng" algn="ctr">
                      <a:solidFill>
                        <a:schemeClr val="bg1"/>
                      </a:solidFill>
                      <a:prstDash val="solid"/>
                      <a:round/>
                      <a:headEnd type="none" w="med" len="med"/>
                      <a:tailEnd type="none" w="med" len="med"/>
                    </a:lnT>
                  </a:tcPr>
                </a:tc>
                <a:tc>
                  <a:txBody>
                    <a:bodyPr/>
                    <a:lstStyle/>
                    <a:p>
                      <a:pPr algn="ctr"/>
                      <a:r>
                        <a:rPr kumimoji="1" lang="zh-CN" altLang="en-US" dirty="0"/>
                        <a:t>机会</a:t>
                      </a:r>
                      <a:endParaRPr kumimoji="1" lang="ja-JP" altLang="en-US" dirty="0"/>
                    </a:p>
                  </a:txBody>
                  <a:tcPr anchor="ctr">
                    <a:lnT w="12700" cap="flat" cmpd="sng" algn="ctr">
                      <a:solidFill>
                        <a:schemeClr val="bg1"/>
                      </a:solidFill>
                      <a:prstDash val="solid"/>
                      <a:round/>
                      <a:headEnd type="none" w="med" len="med"/>
                      <a:tailEnd type="none" w="med" len="med"/>
                    </a:lnT>
                  </a:tcPr>
                </a:tc>
                <a:tc>
                  <a:txBody>
                    <a:bodyPr/>
                    <a:lstStyle/>
                    <a:p>
                      <a:pPr algn="ctr"/>
                      <a:r>
                        <a:rPr kumimoji="1" lang="zh-CN" altLang="en-US" dirty="0"/>
                        <a:t>威胁</a:t>
                      </a:r>
                      <a:endParaRPr kumimoji="1" lang="ja-JP" altLang="en-US" dirty="0"/>
                    </a:p>
                  </a:txBody>
                  <a:tcPr anchor="ctr">
                    <a:lnT w="12700" cap="flat" cmpd="sng" algn="ctr">
                      <a:solidFill>
                        <a:schemeClr val="bg1"/>
                      </a:solidFill>
                      <a:prstDash val="solid"/>
                      <a:round/>
                      <a:headEnd type="none" w="med" len="med"/>
                      <a:tailEnd type="none" w="med" len="med"/>
                    </a:lnT>
                  </a:tcPr>
                </a:tc>
                <a:tc>
                  <a:txBody>
                    <a:bodyPr/>
                    <a:lstStyle/>
                    <a:p>
                      <a:pPr algn="ctr"/>
                      <a:r>
                        <a:rPr kumimoji="1" lang="zh-CN" altLang="en-US" dirty="0"/>
                        <a:t>课题假设</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2471922466"/>
                  </a:ext>
                </a:extLst>
              </a:tr>
              <a:tr h="1221761">
                <a:tc>
                  <a:txBody>
                    <a:bodyPr/>
                    <a:lstStyle/>
                    <a:p>
                      <a:pPr algn="ctr"/>
                      <a:r>
                        <a:rPr kumimoji="1" lang="en-US" altLang="ja-JP" dirty="0"/>
                        <a:t>Politics</a:t>
                      </a:r>
                    </a:p>
                    <a:p>
                      <a:pPr algn="ctr"/>
                      <a:r>
                        <a:rPr kumimoji="1" lang="ja-JP" altLang="en-US" dirty="0"/>
                        <a:t>政治</a:t>
                      </a:r>
                      <a:endParaRPr kumimoji="1" lang="en-US" altLang="ja-JP" dirty="0"/>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050" b="0" kern="1200" dirty="0">
                          <a:solidFill>
                            <a:schemeClr val="dk1"/>
                          </a:solidFill>
                          <a:effectLst/>
                          <a:latin typeface="+mn-lt"/>
                          <a:ea typeface="+mn-ea"/>
                          <a:cs typeface="+mn-cs"/>
                        </a:rPr>
                        <a:t>使市场规则发生变化</a:t>
                      </a:r>
                      <a:endParaRPr lang="ja-JP" altLang="en-US" sz="1050"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法律法规的制定与修改</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税制的改革</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政治局势</a:t>
                      </a:r>
                      <a:endParaRPr kumimoji="1" lang="en-US" altLang="zh-CN" sz="100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政策方向</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消费者保护</a:t>
                      </a:r>
                      <a:endParaRPr kumimoji="1" lang="ja-JP" altLang="ja-JP" sz="1000" kern="1200" dirty="0">
                        <a:solidFill>
                          <a:schemeClr val="dk1"/>
                        </a:solidFill>
                        <a:effectLst/>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3866901225"/>
                  </a:ext>
                </a:extLst>
              </a:tr>
              <a:tr h="1237129">
                <a:tc>
                  <a:txBody>
                    <a:bodyPr/>
                    <a:lstStyle/>
                    <a:p>
                      <a:pPr algn="ctr"/>
                      <a:r>
                        <a:rPr kumimoji="1" lang="en-US" altLang="ja-JP" dirty="0"/>
                        <a:t>Economy</a:t>
                      </a:r>
                    </a:p>
                    <a:p>
                      <a:pPr algn="ctr"/>
                      <a:r>
                        <a:rPr kumimoji="1" lang="zh-CN" altLang="en-US" dirty="0"/>
                        <a:t>经济</a:t>
                      </a:r>
                      <a:endParaRPr kumimoji="1" lang="en-US" altLang="zh-CN" dirty="0"/>
                    </a:p>
                    <a:p>
                      <a:pPr algn="ctr"/>
                      <a:r>
                        <a:rPr kumimoji="1" lang="zh-CN" altLang="en-US" sz="1050" dirty="0"/>
                        <a:t>对价值链造成影响</a:t>
                      </a:r>
                      <a:endParaRPr kumimoji="1" lang="en-US" altLang="ja-JP" sz="1050"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经济发展趋势</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消费意愿</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汇率、股价、利率</a:t>
                      </a:r>
                      <a:endParaRPr kumimoji="1" lang="en-US" altLang="zh-CN" sz="100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物价</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经济增长率</a:t>
                      </a:r>
                      <a:endParaRPr kumimoji="1" lang="ja-JP" altLang="ja-JP" sz="1000" kern="1200" dirty="0">
                        <a:solidFill>
                          <a:schemeClr val="dk1"/>
                        </a:solidFill>
                        <a:effectLst/>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dirty="0"/>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3456476496"/>
                  </a:ext>
                </a:extLst>
              </a:tr>
              <a:tr h="1267866">
                <a:tc>
                  <a:txBody>
                    <a:bodyPr/>
                    <a:lstStyle/>
                    <a:p>
                      <a:pPr algn="ctr"/>
                      <a:r>
                        <a:rPr kumimoji="1" lang="en-US" altLang="ja-JP" dirty="0"/>
                        <a:t>Society</a:t>
                      </a:r>
                    </a:p>
                    <a:p>
                      <a:pPr algn="ctr"/>
                      <a:r>
                        <a:rPr kumimoji="1" lang="ja-JP" altLang="en-US" dirty="0"/>
                        <a:t>社会</a:t>
                      </a:r>
                      <a:endParaRPr kumimoji="1" lang="en-US" altLang="ja-JP" dirty="0"/>
                    </a:p>
                    <a:p>
                      <a:pPr algn="ctr"/>
                      <a:r>
                        <a:rPr kumimoji="1" lang="zh-CN" altLang="en-US" sz="1050" dirty="0"/>
                        <a:t>使供需结构产生变化</a:t>
                      </a:r>
                      <a:endParaRPr kumimoji="1" lang="ja-JP" altLang="en-US" sz="1050"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人口动态、结构</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家庭结构变化</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能源消耗</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自然资源</a:t>
                      </a:r>
                      <a:endParaRPr kumimoji="1" lang="en-US" altLang="zh-CN" sz="100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社会老龄化</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流行趋势、舆论导向</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生活习惯变化</a:t>
                      </a:r>
                      <a:endParaRPr kumimoji="1" lang="ja-JP" altLang="ja-JP" sz="1000" kern="1200" dirty="0">
                        <a:solidFill>
                          <a:schemeClr val="dk1"/>
                        </a:solidFill>
                        <a:effectLst/>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dirty="0"/>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3266879578"/>
                  </a:ext>
                </a:extLst>
              </a:tr>
              <a:tr h="1237129">
                <a:tc>
                  <a:txBody>
                    <a:bodyPr/>
                    <a:lstStyle/>
                    <a:p>
                      <a:pPr algn="ctr"/>
                      <a:r>
                        <a:rPr kumimoji="1" lang="en-US" altLang="ja-JP" dirty="0"/>
                        <a:t>Technology</a:t>
                      </a:r>
                    </a:p>
                    <a:p>
                      <a:pPr marL="0" algn="ctr" defTabSz="914400" rtl="0" eaLnBrk="1" latinLnBrk="0" hangingPunct="1"/>
                      <a:r>
                        <a:rPr kumimoji="1" lang="zh-CN" altLang="en-US" sz="1800" kern="1200" dirty="0">
                          <a:solidFill>
                            <a:schemeClr val="dk1"/>
                          </a:solidFill>
                          <a:latin typeface="+mn-lt"/>
                          <a:ea typeface="+mn-ea"/>
                          <a:cs typeface="+mn-cs"/>
                        </a:rPr>
                        <a:t>技术</a:t>
                      </a:r>
                      <a:endParaRPr kumimoji="1" lang="en-US" altLang="ja-JP" sz="1800" kern="1200" dirty="0">
                        <a:solidFill>
                          <a:schemeClr val="dk1"/>
                        </a:solidFill>
                        <a:latin typeface="+mn-lt"/>
                        <a:ea typeface="+mn-ea"/>
                        <a:cs typeface="+mn-cs"/>
                      </a:endParaRPr>
                    </a:p>
                    <a:p>
                      <a:pPr algn="ctr"/>
                      <a:r>
                        <a:rPr kumimoji="1" lang="zh-CN" altLang="en-US" sz="1050" dirty="0"/>
                        <a:t>对竞争环境造成影响</a:t>
                      </a:r>
                      <a:endParaRPr kumimoji="1" lang="ja-JP" altLang="en-US" sz="1050"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基础设施</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信息技术</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专利</a:t>
                      </a:r>
                      <a:endParaRPr kumimoji="1" lang="en-US" altLang="zh-CN" sz="100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新产品</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kern="1200" dirty="0">
                          <a:solidFill>
                            <a:schemeClr val="dk1"/>
                          </a:solidFill>
                          <a:effectLst/>
                          <a:latin typeface="+mn-lt"/>
                          <a:ea typeface="+mn-ea"/>
                          <a:cs typeface="+mn-cs"/>
                        </a:rPr>
                        <a:t>• </a:t>
                      </a:r>
                      <a:r>
                        <a:rPr kumimoji="1" lang="zh-CN" altLang="en-US" sz="1000" kern="1200" dirty="0">
                          <a:solidFill>
                            <a:schemeClr val="dk1"/>
                          </a:solidFill>
                          <a:effectLst/>
                          <a:latin typeface="+mn-lt"/>
                          <a:ea typeface="+mn-ea"/>
                          <a:cs typeface="+mn-cs"/>
                        </a:rPr>
                        <a:t>新技术</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029204713"/>
                  </a:ext>
                </a:extLst>
              </a:tr>
            </a:tbl>
          </a:graphicData>
        </a:graphic>
      </p:graphicFrame>
    </p:spTree>
    <p:extLst>
      <p:ext uri="{BB962C8B-B14F-4D97-AF65-F5344CB8AC3E}">
        <p14:creationId xmlns:p14="http://schemas.microsoft.com/office/powerpoint/2010/main" val="4053453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23</a:t>
            </a:r>
            <a:r>
              <a:rPr lang="ja-JP" altLang="en-US" sz="2600" dirty="0">
                <a:solidFill>
                  <a:schemeClr val="bg1"/>
                </a:solidFill>
              </a:rPr>
              <a:t>　</a:t>
            </a:r>
            <a:r>
              <a:rPr lang="zh-CN" altLang="en-US" sz="2600" dirty="0">
                <a:solidFill>
                  <a:schemeClr val="bg1"/>
                </a:solidFill>
              </a:rPr>
              <a:t>五力</a:t>
            </a:r>
            <a:r>
              <a:rPr lang="ja-JP" altLang="en-US" sz="2600" dirty="0">
                <a:solidFill>
                  <a:schemeClr val="bg1"/>
                </a:solidFill>
              </a:rPr>
              <a:t>分析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96</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从五个角度分析本公司所属的行业，或者正在考虑新进入的行业的结构和吸引力。</a:t>
            </a:r>
            <a:endParaRPr lang="en-US" altLang="ja-JP" sz="1138" dirty="0"/>
          </a:p>
        </p:txBody>
      </p:sp>
      <p:sp>
        <p:nvSpPr>
          <p:cNvPr id="5" name="角丸四角形 4">
            <a:extLst>
              <a:ext uri="{FF2B5EF4-FFF2-40B4-BE49-F238E27FC236}">
                <a16:creationId xmlns:a16="http://schemas.microsoft.com/office/drawing/2014/main" id="{149199E8-1476-B542-B34F-405D4AE66919}"/>
              </a:ext>
            </a:extLst>
          </p:cNvPr>
          <p:cNvSpPr/>
          <p:nvPr/>
        </p:nvSpPr>
        <p:spPr>
          <a:xfrm>
            <a:off x="4183379" y="3348990"/>
            <a:ext cx="1539240" cy="86868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zh-CN" altLang="en-US" dirty="0"/>
              <a:t>现有竞争者的竞争能力</a:t>
            </a:r>
            <a:endParaRPr kumimoji="1" lang="ja-JP" altLang="en-US" dirty="0"/>
          </a:p>
        </p:txBody>
      </p:sp>
      <p:sp>
        <p:nvSpPr>
          <p:cNvPr id="6" name="角丸四角形 5">
            <a:extLst>
              <a:ext uri="{FF2B5EF4-FFF2-40B4-BE49-F238E27FC236}">
                <a16:creationId xmlns:a16="http://schemas.microsoft.com/office/drawing/2014/main" id="{9A48D5C3-AF26-2747-B6ED-47CF8A44F93B}"/>
              </a:ext>
            </a:extLst>
          </p:cNvPr>
          <p:cNvSpPr/>
          <p:nvPr/>
        </p:nvSpPr>
        <p:spPr>
          <a:xfrm>
            <a:off x="354051" y="3348990"/>
            <a:ext cx="1539240" cy="868680"/>
          </a:xfrm>
          <a:prstGeom prst="roundRect">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zh-CN" altLang="en-US" dirty="0">
                <a:solidFill>
                  <a:schemeClr val="tx1"/>
                </a:solidFill>
              </a:rPr>
              <a:t>供应商的</a:t>
            </a:r>
            <a:endParaRPr kumimoji="1" lang="en-US" altLang="zh-CN" dirty="0">
              <a:solidFill>
                <a:schemeClr val="tx1"/>
              </a:solidFill>
            </a:endParaRPr>
          </a:p>
          <a:p>
            <a:pPr algn="ctr"/>
            <a:r>
              <a:rPr kumimoji="1" lang="zh-CN" altLang="en-US" dirty="0">
                <a:solidFill>
                  <a:schemeClr val="tx1"/>
                </a:solidFill>
              </a:rPr>
              <a:t>议价能力</a:t>
            </a:r>
            <a:endParaRPr kumimoji="1" lang="ja-JP" altLang="en-US" dirty="0">
              <a:solidFill>
                <a:schemeClr val="tx1"/>
              </a:solidFill>
            </a:endParaRPr>
          </a:p>
        </p:txBody>
      </p:sp>
      <p:sp>
        <p:nvSpPr>
          <p:cNvPr id="7" name="角丸四角形 6">
            <a:extLst>
              <a:ext uri="{FF2B5EF4-FFF2-40B4-BE49-F238E27FC236}">
                <a16:creationId xmlns:a16="http://schemas.microsoft.com/office/drawing/2014/main" id="{510526C9-3A62-BF4B-999C-0AA2DEE8DA2C}"/>
              </a:ext>
            </a:extLst>
          </p:cNvPr>
          <p:cNvSpPr/>
          <p:nvPr/>
        </p:nvSpPr>
        <p:spPr>
          <a:xfrm>
            <a:off x="8012707" y="3348990"/>
            <a:ext cx="1539240" cy="868680"/>
          </a:xfrm>
          <a:prstGeom prst="roundRect">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zh-CN" altLang="en-US" dirty="0">
                <a:solidFill>
                  <a:schemeClr val="tx1"/>
                </a:solidFill>
              </a:rPr>
              <a:t>购买者的议价能力</a:t>
            </a:r>
            <a:endParaRPr kumimoji="1" lang="ja-JP" altLang="en-US" dirty="0">
              <a:solidFill>
                <a:schemeClr val="tx1"/>
              </a:solidFill>
            </a:endParaRPr>
          </a:p>
        </p:txBody>
      </p:sp>
      <p:sp>
        <p:nvSpPr>
          <p:cNvPr id="8" name="角丸四角形 7">
            <a:extLst>
              <a:ext uri="{FF2B5EF4-FFF2-40B4-BE49-F238E27FC236}">
                <a16:creationId xmlns:a16="http://schemas.microsoft.com/office/drawing/2014/main" id="{4930BB72-AB1A-7348-A8EE-CBADAA61EDF8}"/>
              </a:ext>
            </a:extLst>
          </p:cNvPr>
          <p:cNvSpPr/>
          <p:nvPr/>
        </p:nvSpPr>
        <p:spPr>
          <a:xfrm>
            <a:off x="4183379" y="1066800"/>
            <a:ext cx="1539240" cy="868680"/>
          </a:xfrm>
          <a:prstGeom prst="roundRect">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zh-CN" altLang="en-US" dirty="0">
                <a:solidFill>
                  <a:schemeClr val="tx1"/>
                </a:solidFill>
              </a:rPr>
              <a:t>潜在竞争者</a:t>
            </a:r>
            <a:endParaRPr kumimoji="1" lang="en-US" altLang="zh-CN" dirty="0">
              <a:solidFill>
                <a:schemeClr val="tx1"/>
              </a:solidFill>
            </a:endParaRPr>
          </a:p>
          <a:p>
            <a:pPr algn="ctr"/>
            <a:r>
              <a:rPr kumimoji="1" lang="zh-CN" altLang="en-US" dirty="0">
                <a:solidFill>
                  <a:schemeClr val="tx1"/>
                </a:solidFill>
              </a:rPr>
              <a:t>进入的能力</a:t>
            </a:r>
            <a:endParaRPr kumimoji="1" lang="ja-JP" altLang="en-US" dirty="0">
              <a:solidFill>
                <a:schemeClr val="tx1"/>
              </a:solidFill>
            </a:endParaRPr>
          </a:p>
        </p:txBody>
      </p:sp>
      <p:sp>
        <p:nvSpPr>
          <p:cNvPr id="9" name="角丸四角形 8">
            <a:extLst>
              <a:ext uri="{FF2B5EF4-FFF2-40B4-BE49-F238E27FC236}">
                <a16:creationId xmlns:a16="http://schemas.microsoft.com/office/drawing/2014/main" id="{B8721C07-D463-0041-9AF4-811E8EDFD97F}"/>
              </a:ext>
            </a:extLst>
          </p:cNvPr>
          <p:cNvSpPr/>
          <p:nvPr/>
        </p:nvSpPr>
        <p:spPr>
          <a:xfrm>
            <a:off x="4183379" y="5631180"/>
            <a:ext cx="1539240" cy="868680"/>
          </a:xfrm>
          <a:prstGeom prst="roundRect">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zh-CN" altLang="en-US" dirty="0">
                <a:solidFill>
                  <a:schemeClr val="tx1"/>
                </a:solidFill>
              </a:rPr>
              <a:t>替代品的</a:t>
            </a:r>
            <a:endParaRPr kumimoji="1" lang="en-US" altLang="zh-CN" dirty="0">
              <a:solidFill>
                <a:schemeClr val="tx1"/>
              </a:solidFill>
            </a:endParaRPr>
          </a:p>
          <a:p>
            <a:pPr algn="ctr"/>
            <a:r>
              <a:rPr kumimoji="1" lang="zh-CN" altLang="en-US" dirty="0">
                <a:solidFill>
                  <a:schemeClr val="tx1"/>
                </a:solidFill>
              </a:rPr>
              <a:t>替代能力</a:t>
            </a:r>
            <a:endParaRPr kumimoji="1" lang="ja-JP" altLang="en-US" dirty="0">
              <a:solidFill>
                <a:schemeClr val="tx1"/>
              </a:solidFill>
            </a:endParaRPr>
          </a:p>
        </p:txBody>
      </p:sp>
      <p:sp>
        <p:nvSpPr>
          <p:cNvPr id="11" name="右矢印 10">
            <a:extLst>
              <a:ext uri="{FF2B5EF4-FFF2-40B4-BE49-F238E27FC236}">
                <a16:creationId xmlns:a16="http://schemas.microsoft.com/office/drawing/2014/main" id="{5FB0C096-28DB-D342-96FD-45B4D958DE20}"/>
              </a:ext>
            </a:extLst>
          </p:cNvPr>
          <p:cNvSpPr/>
          <p:nvPr/>
        </p:nvSpPr>
        <p:spPr>
          <a:xfrm>
            <a:off x="1893291" y="3495675"/>
            <a:ext cx="2290088" cy="575310"/>
          </a:xfrm>
          <a:prstGeom prst="rightArrow">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右矢印 12">
            <a:extLst>
              <a:ext uri="{FF2B5EF4-FFF2-40B4-BE49-F238E27FC236}">
                <a16:creationId xmlns:a16="http://schemas.microsoft.com/office/drawing/2014/main" id="{789EEFED-4483-C644-85C6-91AC8B9E989B}"/>
              </a:ext>
            </a:extLst>
          </p:cNvPr>
          <p:cNvSpPr/>
          <p:nvPr/>
        </p:nvSpPr>
        <p:spPr>
          <a:xfrm rot="10800000">
            <a:off x="5722619" y="3495675"/>
            <a:ext cx="2290088" cy="575310"/>
          </a:xfrm>
          <a:prstGeom prst="rightArrow">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右矢印 13">
            <a:extLst>
              <a:ext uri="{FF2B5EF4-FFF2-40B4-BE49-F238E27FC236}">
                <a16:creationId xmlns:a16="http://schemas.microsoft.com/office/drawing/2014/main" id="{52FC740D-560C-114A-A840-FEBBCE4916B4}"/>
              </a:ext>
            </a:extLst>
          </p:cNvPr>
          <p:cNvSpPr/>
          <p:nvPr/>
        </p:nvSpPr>
        <p:spPr>
          <a:xfrm rot="5400000">
            <a:off x="4246243" y="2354580"/>
            <a:ext cx="1413510" cy="575310"/>
          </a:xfrm>
          <a:prstGeom prst="rightArrow">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a:p>
        </p:txBody>
      </p:sp>
      <p:sp>
        <p:nvSpPr>
          <p:cNvPr id="16" name="右矢印 15">
            <a:extLst>
              <a:ext uri="{FF2B5EF4-FFF2-40B4-BE49-F238E27FC236}">
                <a16:creationId xmlns:a16="http://schemas.microsoft.com/office/drawing/2014/main" id="{A5B42748-21B1-5C40-90DA-DF0836EEFA9F}"/>
              </a:ext>
            </a:extLst>
          </p:cNvPr>
          <p:cNvSpPr/>
          <p:nvPr/>
        </p:nvSpPr>
        <p:spPr>
          <a:xfrm rot="16200000">
            <a:off x="4246243" y="4636770"/>
            <a:ext cx="1413510" cy="575310"/>
          </a:xfrm>
          <a:prstGeom prst="rightArrow">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a:p>
        </p:txBody>
      </p:sp>
      <p:sp>
        <p:nvSpPr>
          <p:cNvPr id="17" name="テキスト ボックス 16">
            <a:extLst>
              <a:ext uri="{FF2B5EF4-FFF2-40B4-BE49-F238E27FC236}">
                <a16:creationId xmlns:a16="http://schemas.microsoft.com/office/drawing/2014/main" id="{BCC26890-866B-7D4A-8396-EA76F5ED3ED6}"/>
              </a:ext>
            </a:extLst>
          </p:cNvPr>
          <p:cNvSpPr txBox="1"/>
          <p:nvPr/>
        </p:nvSpPr>
        <p:spPr>
          <a:xfrm>
            <a:off x="5919030" y="1066800"/>
            <a:ext cx="2766060" cy="1169551"/>
          </a:xfrm>
          <a:prstGeom prst="rect">
            <a:avLst/>
          </a:prstGeom>
          <a:noFill/>
          <a:ln>
            <a:solidFill>
              <a:schemeClr val="tx1"/>
            </a:solidFill>
          </a:ln>
        </p:spPr>
        <p:txBody>
          <a:bodyPr wrap="square" rtlCol="0">
            <a:spAutoFit/>
          </a:bodyPr>
          <a:lstStyle/>
          <a:p>
            <a:r>
              <a:rPr kumimoji="1" lang="zh-CN" altLang="en-US" sz="1400" dirty="0">
                <a:solidFill>
                  <a:schemeClr val="tx1"/>
                </a:solidFill>
              </a:rPr>
              <a:t>进入的能力</a:t>
            </a:r>
            <a:r>
              <a:rPr kumimoji="1" lang="en-US" altLang="ja-JP" sz="1400" dirty="0"/>
              <a:t>……</a:t>
            </a:r>
          </a:p>
          <a:p>
            <a:r>
              <a:rPr kumimoji="1" lang="ja-JP" altLang="en-US" sz="1400" dirty="0"/>
              <a:t>大</a:t>
            </a:r>
            <a:r>
              <a:rPr kumimoji="1" lang="en-US" altLang="ja-JP" sz="1400" dirty="0"/>
              <a:t> or </a:t>
            </a:r>
            <a:r>
              <a:rPr kumimoji="1" lang="ja-JP" altLang="en-US" sz="1400" dirty="0"/>
              <a:t>中</a:t>
            </a:r>
            <a:r>
              <a:rPr kumimoji="1" lang="en-US" altLang="ja-JP" sz="1400" dirty="0"/>
              <a:t> or </a:t>
            </a:r>
            <a:r>
              <a:rPr kumimoji="1" lang="ja-JP" altLang="en-US" sz="1400" dirty="0"/>
              <a:t>小</a:t>
            </a:r>
            <a:endParaRPr kumimoji="1" lang="en-US" altLang="ja-JP" sz="1400" dirty="0"/>
          </a:p>
          <a:p>
            <a:endParaRPr kumimoji="1" lang="en-US" altLang="ja-JP" sz="1400" dirty="0"/>
          </a:p>
          <a:p>
            <a:r>
              <a:rPr kumimoji="1" lang="ja-JP" altLang="en-US" sz="1400" dirty="0"/>
              <a:t>理由</a:t>
            </a:r>
            <a:r>
              <a:rPr kumimoji="1" lang="zh-CN" altLang="en-US" sz="1400" dirty="0"/>
              <a:t>是</a:t>
            </a:r>
            <a:r>
              <a:rPr kumimoji="1" lang="en-US" altLang="ja-JP" sz="1400" dirty="0"/>
              <a:t>……</a:t>
            </a:r>
          </a:p>
          <a:p>
            <a:endParaRPr kumimoji="1" lang="ja-JP" altLang="en-US" sz="1400" dirty="0"/>
          </a:p>
        </p:txBody>
      </p:sp>
      <p:sp>
        <p:nvSpPr>
          <p:cNvPr id="18" name="テキスト ボックス 17">
            <a:extLst>
              <a:ext uri="{FF2B5EF4-FFF2-40B4-BE49-F238E27FC236}">
                <a16:creationId xmlns:a16="http://schemas.microsoft.com/office/drawing/2014/main" id="{ED087938-9917-1E46-A076-D6106D5DABCB}"/>
              </a:ext>
            </a:extLst>
          </p:cNvPr>
          <p:cNvSpPr txBox="1"/>
          <p:nvPr/>
        </p:nvSpPr>
        <p:spPr>
          <a:xfrm>
            <a:off x="6785884" y="4430553"/>
            <a:ext cx="2766060" cy="1169551"/>
          </a:xfrm>
          <a:prstGeom prst="rect">
            <a:avLst/>
          </a:prstGeom>
          <a:noFill/>
          <a:ln>
            <a:solidFill>
              <a:schemeClr val="tx1"/>
            </a:solidFill>
          </a:ln>
        </p:spPr>
        <p:txBody>
          <a:bodyPr wrap="square" rtlCol="0">
            <a:spAutoFit/>
          </a:bodyPr>
          <a:lstStyle/>
          <a:p>
            <a:r>
              <a:rPr kumimoji="1" lang="zh-CN" altLang="en-US" sz="1400" dirty="0"/>
              <a:t>议价能力</a:t>
            </a:r>
            <a:r>
              <a:rPr kumimoji="1" lang="en-US" altLang="ja-JP" sz="1400" dirty="0"/>
              <a:t>……</a:t>
            </a:r>
          </a:p>
          <a:p>
            <a:r>
              <a:rPr kumimoji="1" lang="ja-JP" altLang="en-US" sz="1400" dirty="0"/>
              <a:t>大</a:t>
            </a:r>
            <a:r>
              <a:rPr kumimoji="1" lang="en-US" altLang="ja-JP" sz="1400" dirty="0"/>
              <a:t> or </a:t>
            </a:r>
            <a:r>
              <a:rPr kumimoji="1" lang="ja-JP" altLang="en-US" sz="1400" dirty="0"/>
              <a:t>中</a:t>
            </a:r>
            <a:r>
              <a:rPr kumimoji="1" lang="en-US" altLang="ja-JP" sz="1400" dirty="0"/>
              <a:t> or </a:t>
            </a:r>
            <a:r>
              <a:rPr kumimoji="1" lang="ja-JP" altLang="en-US" sz="1400" dirty="0"/>
              <a:t>小</a:t>
            </a:r>
            <a:endParaRPr kumimoji="1" lang="en-US" altLang="ja-JP" sz="1400" dirty="0"/>
          </a:p>
          <a:p>
            <a:endParaRPr kumimoji="1" lang="en-US" altLang="ja-JP" sz="1400" dirty="0"/>
          </a:p>
          <a:p>
            <a:r>
              <a:rPr kumimoji="1" lang="ja-JP" altLang="en-US" sz="1400" dirty="0"/>
              <a:t>理由</a:t>
            </a:r>
            <a:r>
              <a:rPr kumimoji="1" lang="zh-CN" altLang="en-US" sz="1400" dirty="0"/>
              <a:t>是</a:t>
            </a:r>
            <a:r>
              <a:rPr kumimoji="1" lang="en-US" altLang="ja-JP" sz="1400" dirty="0"/>
              <a:t>……</a:t>
            </a:r>
          </a:p>
          <a:p>
            <a:endParaRPr kumimoji="1" lang="ja-JP" altLang="en-US" sz="1400" dirty="0"/>
          </a:p>
        </p:txBody>
      </p:sp>
      <p:sp>
        <p:nvSpPr>
          <p:cNvPr id="19" name="テキスト ボックス 18">
            <a:extLst>
              <a:ext uri="{FF2B5EF4-FFF2-40B4-BE49-F238E27FC236}">
                <a16:creationId xmlns:a16="http://schemas.microsoft.com/office/drawing/2014/main" id="{5653AEBD-5843-014D-90C5-DAF720B0E378}"/>
              </a:ext>
            </a:extLst>
          </p:cNvPr>
          <p:cNvSpPr txBox="1"/>
          <p:nvPr/>
        </p:nvSpPr>
        <p:spPr>
          <a:xfrm>
            <a:off x="1206817" y="5278813"/>
            <a:ext cx="2766060" cy="1169551"/>
          </a:xfrm>
          <a:prstGeom prst="rect">
            <a:avLst/>
          </a:prstGeom>
          <a:noFill/>
          <a:ln>
            <a:solidFill>
              <a:schemeClr val="tx1"/>
            </a:solidFill>
          </a:ln>
        </p:spPr>
        <p:txBody>
          <a:bodyPr wrap="square" rtlCol="0">
            <a:spAutoFit/>
          </a:bodyPr>
          <a:lstStyle/>
          <a:p>
            <a:r>
              <a:rPr kumimoji="1" lang="zh-CN" altLang="en-US" sz="1400" dirty="0"/>
              <a:t>替代能力</a:t>
            </a:r>
            <a:r>
              <a:rPr kumimoji="1" lang="en-US" altLang="ja-JP" sz="1400" dirty="0"/>
              <a:t>……</a:t>
            </a:r>
          </a:p>
          <a:p>
            <a:r>
              <a:rPr kumimoji="1" lang="ja-JP" altLang="en-US" sz="1400" dirty="0"/>
              <a:t>大</a:t>
            </a:r>
            <a:r>
              <a:rPr kumimoji="1" lang="en-US" altLang="ja-JP" sz="1400" dirty="0"/>
              <a:t> or </a:t>
            </a:r>
            <a:r>
              <a:rPr kumimoji="1" lang="ja-JP" altLang="en-US" sz="1400" dirty="0"/>
              <a:t>中</a:t>
            </a:r>
            <a:r>
              <a:rPr kumimoji="1" lang="en-US" altLang="ja-JP" sz="1400" dirty="0"/>
              <a:t> or </a:t>
            </a:r>
            <a:r>
              <a:rPr kumimoji="1" lang="ja-JP" altLang="en-US" sz="1400" dirty="0"/>
              <a:t>小</a:t>
            </a:r>
            <a:endParaRPr kumimoji="1" lang="en-US" altLang="ja-JP" sz="1400" dirty="0"/>
          </a:p>
          <a:p>
            <a:endParaRPr kumimoji="1" lang="en-US" altLang="ja-JP" sz="1400" dirty="0"/>
          </a:p>
          <a:p>
            <a:r>
              <a:rPr kumimoji="1" lang="ja-JP" altLang="en-US" sz="1400" dirty="0"/>
              <a:t>理由</a:t>
            </a:r>
            <a:r>
              <a:rPr kumimoji="1" lang="zh-CN" altLang="en-US" sz="1400" dirty="0"/>
              <a:t>是</a:t>
            </a:r>
            <a:r>
              <a:rPr kumimoji="1" lang="en-US" altLang="ja-JP" sz="1400" dirty="0"/>
              <a:t>……</a:t>
            </a:r>
          </a:p>
          <a:p>
            <a:endParaRPr kumimoji="1" lang="ja-JP" altLang="en-US" sz="1400" dirty="0"/>
          </a:p>
        </p:txBody>
      </p:sp>
      <p:sp>
        <p:nvSpPr>
          <p:cNvPr id="20" name="テキスト ボックス 19">
            <a:extLst>
              <a:ext uri="{FF2B5EF4-FFF2-40B4-BE49-F238E27FC236}">
                <a16:creationId xmlns:a16="http://schemas.microsoft.com/office/drawing/2014/main" id="{EB201D03-2D7E-6341-A55D-04504DF660E3}"/>
              </a:ext>
            </a:extLst>
          </p:cNvPr>
          <p:cNvSpPr txBox="1"/>
          <p:nvPr/>
        </p:nvSpPr>
        <p:spPr>
          <a:xfrm>
            <a:off x="354050" y="1511792"/>
            <a:ext cx="1628432" cy="1600438"/>
          </a:xfrm>
          <a:prstGeom prst="rect">
            <a:avLst/>
          </a:prstGeom>
          <a:noFill/>
          <a:ln>
            <a:solidFill>
              <a:schemeClr val="tx1"/>
            </a:solidFill>
          </a:ln>
        </p:spPr>
        <p:txBody>
          <a:bodyPr wrap="square" rtlCol="0">
            <a:spAutoFit/>
          </a:bodyPr>
          <a:lstStyle/>
          <a:p>
            <a:r>
              <a:rPr kumimoji="1" lang="ja-JP" altLang="en-US" sz="1400" dirty="0"/>
              <a:t>议价能力</a:t>
            </a:r>
            <a:r>
              <a:rPr kumimoji="1" lang="en-US" altLang="ja-JP" sz="1400" dirty="0"/>
              <a:t>……</a:t>
            </a:r>
          </a:p>
          <a:p>
            <a:r>
              <a:rPr kumimoji="1" lang="ja-JP" altLang="en-US" sz="1400" dirty="0"/>
              <a:t>大</a:t>
            </a:r>
            <a:r>
              <a:rPr kumimoji="1" lang="en-US" altLang="ja-JP" sz="1400" dirty="0"/>
              <a:t> or </a:t>
            </a:r>
            <a:r>
              <a:rPr kumimoji="1" lang="ja-JP" altLang="en-US" sz="1400" dirty="0"/>
              <a:t>中</a:t>
            </a:r>
            <a:r>
              <a:rPr kumimoji="1" lang="en-US" altLang="ja-JP" sz="1400" dirty="0"/>
              <a:t> or </a:t>
            </a:r>
            <a:r>
              <a:rPr kumimoji="1" lang="ja-JP" altLang="en-US" sz="1400" dirty="0"/>
              <a:t>小</a:t>
            </a:r>
            <a:endParaRPr kumimoji="1" lang="en-US" altLang="ja-JP" sz="1400" dirty="0"/>
          </a:p>
          <a:p>
            <a:endParaRPr kumimoji="1" lang="en-US" altLang="ja-JP" sz="1400" dirty="0"/>
          </a:p>
          <a:p>
            <a:r>
              <a:rPr kumimoji="1" lang="ja-JP" altLang="en-US" sz="1400" dirty="0"/>
              <a:t>理由</a:t>
            </a:r>
            <a:r>
              <a:rPr kumimoji="1" lang="zh-CN" altLang="en-US" sz="1400" dirty="0"/>
              <a:t>是</a:t>
            </a:r>
            <a:r>
              <a:rPr kumimoji="1" lang="en-US" altLang="ja-JP" sz="1400" dirty="0"/>
              <a:t>……</a:t>
            </a:r>
          </a:p>
          <a:p>
            <a:endParaRPr kumimoji="1" lang="en-US" altLang="ja-JP" sz="1400" dirty="0"/>
          </a:p>
          <a:p>
            <a:endParaRPr kumimoji="1" lang="en-US" altLang="ja-JP" sz="1400" dirty="0"/>
          </a:p>
          <a:p>
            <a:endParaRPr kumimoji="1" lang="ja-JP" altLang="en-US" sz="1400" dirty="0"/>
          </a:p>
        </p:txBody>
      </p:sp>
      <p:sp>
        <p:nvSpPr>
          <p:cNvPr id="21" name="三角形 20">
            <a:extLst>
              <a:ext uri="{FF2B5EF4-FFF2-40B4-BE49-F238E27FC236}">
                <a16:creationId xmlns:a16="http://schemas.microsoft.com/office/drawing/2014/main" id="{5F522CF6-5C5C-8E4B-B34E-0433ACDB9213}"/>
              </a:ext>
            </a:extLst>
          </p:cNvPr>
          <p:cNvSpPr/>
          <p:nvPr/>
        </p:nvSpPr>
        <p:spPr>
          <a:xfrm>
            <a:off x="921741" y="3152578"/>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三角形 21">
            <a:extLst>
              <a:ext uri="{FF2B5EF4-FFF2-40B4-BE49-F238E27FC236}">
                <a16:creationId xmlns:a16="http://schemas.microsoft.com/office/drawing/2014/main" id="{54F4248B-2DEF-4840-BD76-92DF5CE4673F}"/>
              </a:ext>
            </a:extLst>
          </p:cNvPr>
          <p:cNvSpPr/>
          <p:nvPr/>
        </p:nvSpPr>
        <p:spPr>
          <a:xfrm rot="10800000">
            <a:off x="8580397" y="4217669"/>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三角形 22">
            <a:extLst>
              <a:ext uri="{FF2B5EF4-FFF2-40B4-BE49-F238E27FC236}">
                <a16:creationId xmlns:a16="http://schemas.microsoft.com/office/drawing/2014/main" id="{F26551B0-3BF0-894E-9A6D-1E3F8FA9B1A7}"/>
              </a:ext>
            </a:extLst>
          </p:cNvPr>
          <p:cNvSpPr/>
          <p:nvPr/>
        </p:nvSpPr>
        <p:spPr>
          <a:xfrm rot="5400000">
            <a:off x="5618894" y="1402934"/>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三角形 23">
            <a:extLst>
              <a:ext uri="{FF2B5EF4-FFF2-40B4-BE49-F238E27FC236}">
                <a16:creationId xmlns:a16="http://schemas.microsoft.com/office/drawing/2014/main" id="{FF8064D8-6B70-D041-AD48-B1885F15228E}"/>
              </a:ext>
            </a:extLst>
          </p:cNvPr>
          <p:cNvSpPr/>
          <p:nvPr/>
        </p:nvSpPr>
        <p:spPr>
          <a:xfrm rot="16200000">
            <a:off x="3883243" y="5967314"/>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三角形 24">
            <a:extLst>
              <a:ext uri="{FF2B5EF4-FFF2-40B4-BE49-F238E27FC236}">
                <a16:creationId xmlns:a16="http://schemas.microsoft.com/office/drawing/2014/main" id="{E1DDED68-DCE3-2F4A-9FF6-DFFF2927F2F5}"/>
              </a:ext>
            </a:extLst>
          </p:cNvPr>
          <p:cNvSpPr/>
          <p:nvPr/>
        </p:nvSpPr>
        <p:spPr>
          <a:xfrm rot="18900000">
            <a:off x="3858412" y="3069036"/>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2D6AB77D-3107-2644-A915-1926783EC111}"/>
              </a:ext>
            </a:extLst>
          </p:cNvPr>
          <p:cNvSpPr txBox="1"/>
          <p:nvPr/>
        </p:nvSpPr>
        <p:spPr>
          <a:xfrm>
            <a:off x="2260557" y="1492806"/>
            <a:ext cx="1674307" cy="1600438"/>
          </a:xfrm>
          <a:prstGeom prst="rect">
            <a:avLst/>
          </a:prstGeom>
          <a:noFill/>
          <a:ln>
            <a:solidFill>
              <a:schemeClr val="tx1"/>
            </a:solidFill>
          </a:ln>
        </p:spPr>
        <p:txBody>
          <a:bodyPr wrap="square" rtlCol="0">
            <a:spAutoFit/>
          </a:bodyPr>
          <a:lstStyle/>
          <a:p>
            <a:r>
              <a:rPr kumimoji="1" lang="zh-CN" altLang="en-US" sz="1400" dirty="0"/>
              <a:t>竞争能力</a:t>
            </a:r>
            <a:r>
              <a:rPr kumimoji="1" lang="en-US" altLang="ja-JP" sz="1400" dirty="0"/>
              <a:t>……</a:t>
            </a:r>
          </a:p>
          <a:p>
            <a:r>
              <a:rPr kumimoji="1" lang="ja-JP" altLang="en-US" sz="1400" dirty="0"/>
              <a:t>大</a:t>
            </a:r>
            <a:r>
              <a:rPr kumimoji="1" lang="en-US" altLang="ja-JP" sz="1400" dirty="0"/>
              <a:t> or </a:t>
            </a:r>
            <a:r>
              <a:rPr kumimoji="1" lang="ja-JP" altLang="en-US" sz="1400" dirty="0"/>
              <a:t>中</a:t>
            </a:r>
            <a:r>
              <a:rPr kumimoji="1" lang="en-US" altLang="ja-JP" sz="1400" dirty="0"/>
              <a:t> or </a:t>
            </a:r>
            <a:r>
              <a:rPr kumimoji="1" lang="ja-JP" altLang="en-US" sz="1400" dirty="0"/>
              <a:t>小</a:t>
            </a:r>
            <a:endParaRPr kumimoji="1" lang="en-US" altLang="ja-JP" sz="1400" dirty="0"/>
          </a:p>
          <a:p>
            <a:endParaRPr kumimoji="1" lang="en-US" altLang="ja-JP" sz="1400" dirty="0"/>
          </a:p>
          <a:p>
            <a:r>
              <a:rPr kumimoji="1" lang="ja-JP" altLang="en-US" sz="1400" dirty="0"/>
              <a:t>理由</a:t>
            </a:r>
            <a:r>
              <a:rPr kumimoji="1" lang="zh-CN" altLang="en-US" sz="1400" dirty="0"/>
              <a:t>是</a:t>
            </a:r>
            <a:r>
              <a:rPr kumimoji="1" lang="en-US" altLang="ja-JP" sz="1400" dirty="0"/>
              <a:t>……</a:t>
            </a:r>
          </a:p>
          <a:p>
            <a:endParaRPr kumimoji="1" lang="en-US" altLang="ja-JP" sz="1400" dirty="0"/>
          </a:p>
          <a:p>
            <a:endParaRPr kumimoji="1" lang="en-US" altLang="ja-JP" sz="1400" dirty="0"/>
          </a:p>
          <a:p>
            <a:endParaRPr kumimoji="1" lang="ja-JP" altLang="en-US" sz="1400" dirty="0"/>
          </a:p>
        </p:txBody>
      </p:sp>
    </p:spTree>
    <p:extLst>
      <p:ext uri="{BB962C8B-B14F-4D97-AF65-F5344CB8AC3E}">
        <p14:creationId xmlns:p14="http://schemas.microsoft.com/office/powerpoint/2010/main" val="3549991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 name="表 43">
            <a:extLst>
              <a:ext uri="{FF2B5EF4-FFF2-40B4-BE49-F238E27FC236}">
                <a16:creationId xmlns:a16="http://schemas.microsoft.com/office/drawing/2014/main" id="{4E428FC6-FF03-7C45-80C1-931ED164D33B}"/>
              </a:ext>
            </a:extLst>
          </p:cNvPr>
          <p:cNvGraphicFramePr>
            <a:graphicFrameLocks noGrp="1"/>
          </p:cNvGraphicFramePr>
          <p:nvPr>
            <p:extLst>
              <p:ext uri="{D42A27DB-BD31-4B8C-83A1-F6EECF244321}">
                <p14:modId xmlns:p14="http://schemas.microsoft.com/office/powerpoint/2010/main" val="1728598499"/>
              </p:ext>
            </p:extLst>
          </p:nvPr>
        </p:nvGraphicFramePr>
        <p:xfrm>
          <a:off x="354052" y="968826"/>
          <a:ext cx="9197895" cy="5703090"/>
        </p:xfrm>
        <a:graphic>
          <a:graphicData uri="http://schemas.openxmlformats.org/drawingml/2006/table">
            <a:tbl>
              <a:tblPr>
                <a:tableStyleId>{5C22544A-7EE6-4342-B048-85BDC9FD1C3A}</a:tableStyleId>
              </a:tblPr>
              <a:tblGrid>
                <a:gridCol w="2465348">
                  <a:extLst>
                    <a:ext uri="{9D8B030D-6E8A-4147-A177-3AD203B41FA5}">
                      <a16:colId xmlns:a16="http://schemas.microsoft.com/office/drawing/2014/main" val="3760899985"/>
                    </a:ext>
                  </a:extLst>
                </a:gridCol>
                <a:gridCol w="3360420">
                  <a:extLst>
                    <a:ext uri="{9D8B030D-6E8A-4147-A177-3AD203B41FA5}">
                      <a16:colId xmlns:a16="http://schemas.microsoft.com/office/drawing/2014/main" val="1649533172"/>
                    </a:ext>
                  </a:extLst>
                </a:gridCol>
                <a:gridCol w="3372127">
                  <a:extLst>
                    <a:ext uri="{9D8B030D-6E8A-4147-A177-3AD203B41FA5}">
                      <a16:colId xmlns:a16="http://schemas.microsoft.com/office/drawing/2014/main" val="2041394964"/>
                    </a:ext>
                  </a:extLst>
                </a:gridCol>
              </a:tblGrid>
              <a:tr h="339566">
                <a:tc>
                  <a:txBody>
                    <a:bodyPr/>
                    <a:lstStyle/>
                    <a:p>
                      <a:endParaRPr kumimoji="1" lang="ja-JP" altLang="en-US" sz="1400"/>
                    </a:p>
                  </a:txBody>
                  <a:tcPr>
                    <a:noFill/>
                  </a:tcPr>
                </a:tc>
                <a:tc>
                  <a:txBody>
                    <a:bodyPr/>
                    <a:lstStyle/>
                    <a:p>
                      <a:pPr algn="ctr"/>
                      <a:r>
                        <a:rPr kumimoji="1" lang="zh-CN" altLang="en-US" sz="1400" dirty="0"/>
                        <a:t>问题示例</a:t>
                      </a:r>
                      <a:endParaRPr kumimoji="1" lang="ja-JP" altLang="en-US" sz="1400" dirty="0"/>
                    </a:p>
                  </a:txBody>
                  <a:tcPr anchor="ctr">
                    <a:lnR w="12700" cap="flat" cmpd="sng" algn="ctr">
                      <a:solidFill>
                        <a:schemeClr val="bg1"/>
                      </a:solidFill>
                      <a:prstDash val="solid"/>
                      <a:round/>
                      <a:headEnd type="none" w="med" len="med"/>
                      <a:tailEnd type="none" w="med" len="med"/>
                    </a:lnR>
                    <a:solidFill>
                      <a:schemeClr val="bg2">
                        <a:lumMod val="90000"/>
                      </a:schemeClr>
                    </a:solidFill>
                  </a:tcPr>
                </a:tc>
                <a:tc>
                  <a:txBody>
                    <a:bodyPr/>
                    <a:lstStyle/>
                    <a:p>
                      <a:pPr algn="ctr"/>
                      <a:r>
                        <a:rPr kumimoji="1" lang="ja-JP" altLang="en-US" sz="1400"/>
                        <a:t>分析</a:t>
                      </a:r>
                    </a:p>
                  </a:txBody>
                  <a:tcPr anchor="ctr">
                    <a:lnL w="12700" cap="flat" cmpd="sng" algn="ctr">
                      <a:solidFill>
                        <a:schemeClr val="bg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948145035"/>
                  </a:ext>
                </a:extLst>
              </a:tr>
              <a:tr h="339566">
                <a:tc rowSpan="5">
                  <a:txBody>
                    <a:bodyPr/>
                    <a:lstStyle/>
                    <a:p>
                      <a:pPr algn="ctr"/>
                      <a:r>
                        <a:rPr kumimoji="1" lang="en-US" altLang="ja-JP" sz="1800" dirty="0"/>
                        <a:t>Customer</a:t>
                      </a:r>
                    </a:p>
                    <a:p>
                      <a:pPr algn="ctr"/>
                      <a:endParaRPr kumimoji="1" lang="en-US" altLang="ja-JP" sz="1800" dirty="0"/>
                    </a:p>
                    <a:p>
                      <a:pPr algn="ctr"/>
                      <a:r>
                        <a:rPr kumimoji="1" lang="zh-CN" altLang="en-US" sz="1800" dirty="0"/>
                        <a:t>顾客</a:t>
                      </a:r>
                      <a:endParaRPr kumimoji="1" lang="ja-JP" altLang="en-US" sz="1800" dirty="0"/>
                    </a:p>
                  </a:txBody>
                  <a:tcPr anchor="ctr">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r>
                        <a:rPr kumimoji="1" lang="zh-CN" altLang="en-US" sz="1400" dirty="0"/>
                        <a:t>市场规模和增长潜力如何？</a:t>
                      </a:r>
                      <a:endParaRPr kumimoji="1" lang="ja-JP" altLang="en-US" sz="1400" dirty="0"/>
                    </a:p>
                  </a:txBody>
                  <a:tcPr>
                    <a:lnR w="12700" cap="flat" cmpd="sng" algn="ctr">
                      <a:solidFill>
                        <a:schemeClr val="bg2">
                          <a:lumMod val="75000"/>
                        </a:schemeClr>
                      </a:solid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noFill/>
                  </a:tcPr>
                </a:tc>
                <a:tc rowSpan="5">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941502887"/>
                  </a:ext>
                </a:extLst>
              </a:tr>
              <a:tr h="339566">
                <a:tc vMerge="1">
                  <a:txBody>
                    <a:bodyPr/>
                    <a:lstStyle/>
                    <a:p>
                      <a:endParaRPr kumimoji="1" lang="ja-JP" altLang="en-US" sz="1400"/>
                    </a:p>
                  </a:txBody>
                  <a:tcPr/>
                </a:tc>
                <a:tc>
                  <a:txBody>
                    <a:bodyPr/>
                    <a:lstStyle/>
                    <a:p>
                      <a:r>
                        <a:rPr kumimoji="1" lang="zh-CN" altLang="en-US" sz="1400" dirty="0"/>
                        <a:t>什么是决定购买的关键因素？</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2519510076"/>
                  </a:ext>
                </a:extLst>
              </a:tr>
              <a:tr h="339566">
                <a:tc vMerge="1">
                  <a:txBody>
                    <a:bodyPr/>
                    <a:lstStyle/>
                    <a:p>
                      <a:endParaRPr kumimoji="1" lang="ja-JP" altLang="en-US" sz="1400"/>
                    </a:p>
                  </a:txBody>
                  <a:tcPr/>
                </a:tc>
                <a:tc>
                  <a:txBody>
                    <a:bodyPr/>
                    <a:lstStyle/>
                    <a:p>
                      <a:r>
                        <a:rPr kumimoji="1" lang="zh-CN" altLang="en-US" sz="1400" dirty="0"/>
                        <a:t>在市场中取胜的决定性因素是什么？</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733494812"/>
                  </a:ext>
                </a:extLst>
              </a:tr>
              <a:tr h="339566">
                <a:tc vMerge="1">
                  <a:txBody>
                    <a:bodyPr/>
                    <a:lstStyle/>
                    <a:p>
                      <a:endParaRPr kumimoji="1" lang="ja-JP" altLang="en-US" sz="1400"/>
                    </a:p>
                  </a:txBody>
                  <a:tcPr/>
                </a:tc>
                <a:tc>
                  <a:txBody>
                    <a:bodyPr/>
                    <a:lstStyle/>
                    <a:p>
                      <a:r>
                        <a:rPr kumimoji="1" lang="zh-CN" altLang="en-US" sz="1400" dirty="0"/>
                        <a:t>顾客有什么需求？</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3532973497"/>
                  </a:ext>
                </a:extLst>
              </a:tr>
              <a:tr h="339566">
                <a:tc vMerge="1">
                  <a:txBody>
                    <a:bodyPr/>
                    <a:lstStyle/>
                    <a:p>
                      <a:endParaRPr kumimoji="1" lang="ja-JP" altLang="en-US" sz="1400"/>
                    </a:p>
                  </a:txBody>
                  <a:tcPr/>
                </a:tc>
                <a:tc>
                  <a:txBody>
                    <a:bodyPr/>
                    <a:lstStyle/>
                    <a:p>
                      <a:r>
                        <a:rPr kumimoji="1" lang="zh-CN" altLang="en-US" sz="1400" dirty="0"/>
                        <a:t>技术发展路径和法规将如何变化？</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1888430670"/>
                  </a:ext>
                </a:extLst>
              </a:tr>
              <a:tr h="339566">
                <a:tc rowSpan="5">
                  <a:txBody>
                    <a:bodyPr/>
                    <a:lstStyle/>
                    <a:p>
                      <a:pPr algn="ctr"/>
                      <a:r>
                        <a:rPr kumimoji="1" lang="en-US" altLang="ja-JP" sz="1800" dirty="0"/>
                        <a:t>Competitor</a:t>
                      </a:r>
                    </a:p>
                    <a:p>
                      <a:pPr algn="ctr"/>
                      <a:endParaRPr kumimoji="1" lang="en-US" altLang="ja-JP" sz="1800" dirty="0"/>
                    </a:p>
                    <a:p>
                      <a:pPr algn="ctr"/>
                      <a:r>
                        <a:rPr kumimoji="1" lang="zh-CN" altLang="en-US" sz="1800" dirty="0"/>
                        <a:t>竞争对手</a:t>
                      </a:r>
                      <a:endParaRPr kumimoji="1" lang="ja-JP" altLang="en-US" sz="1800" dirty="0"/>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r>
                        <a:rPr kumimoji="1" lang="zh-CN" altLang="en-US" sz="1400" dirty="0"/>
                        <a:t>竞争对手是谁？</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rowSpan="5">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2536244392"/>
                  </a:ext>
                </a:extLst>
              </a:tr>
              <a:tr h="339566">
                <a:tc vMerge="1">
                  <a:txBody>
                    <a:bodyPr/>
                    <a:lstStyle/>
                    <a:p>
                      <a:endParaRPr kumimoji="1" lang="ja-JP" altLang="en-US" sz="1400"/>
                    </a:p>
                  </a:txBody>
                  <a:tcPr/>
                </a:tc>
                <a:tc>
                  <a:txBody>
                    <a:bodyPr/>
                    <a:lstStyle/>
                    <a:p>
                      <a:r>
                        <a:rPr kumimoji="1" lang="zh-CN" altLang="en-US" sz="1400" dirty="0"/>
                        <a:t>竞争对手的市场份额是多少？</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1112674810"/>
                  </a:ext>
                </a:extLst>
              </a:tr>
              <a:tr h="339566">
                <a:tc vMerge="1">
                  <a:txBody>
                    <a:bodyPr/>
                    <a:lstStyle/>
                    <a:p>
                      <a:endParaRPr kumimoji="1" lang="ja-JP" altLang="en-US" sz="1400"/>
                    </a:p>
                  </a:txBody>
                  <a:tcPr/>
                </a:tc>
                <a:tc>
                  <a:txBody>
                    <a:bodyPr/>
                    <a:lstStyle/>
                    <a:p>
                      <a:r>
                        <a:rPr kumimoji="1" lang="zh-CN" altLang="en-US" sz="1400" dirty="0"/>
                        <a:t>竞争对手对行业的看法是什么？</a:t>
                      </a:r>
                      <a:endParaRPr kumimoji="1" lang="en-US" altLang="ja-JP"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473799815"/>
                  </a:ext>
                </a:extLst>
              </a:tr>
              <a:tr h="339566">
                <a:tc vMerge="1">
                  <a:txBody>
                    <a:bodyPr/>
                    <a:lstStyle/>
                    <a:p>
                      <a:endParaRPr kumimoji="1" lang="ja-JP" altLang="en-US" sz="1400"/>
                    </a:p>
                  </a:txBody>
                  <a:tcPr/>
                </a:tc>
                <a:tc>
                  <a:txBody>
                    <a:bodyPr/>
                    <a:lstStyle/>
                    <a:p>
                      <a:r>
                        <a:rPr kumimoji="1" lang="zh-CN" altLang="en-US" sz="1400" dirty="0"/>
                        <a:t>竞争对手的优势和劣势是什么？</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2690082622"/>
                  </a:ext>
                </a:extLst>
              </a:tr>
              <a:tr h="339566">
                <a:tc vMerge="1">
                  <a:txBody>
                    <a:bodyPr/>
                    <a:lstStyle/>
                    <a:p>
                      <a:endParaRPr kumimoji="1" lang="ja-JP" altLang="en-US" sz="1400"/>
                    </a:p>
                  </a:txBody>
                  <a:tcPr/>
                </a:tc>
                <a:tc>
                  <a:txBody>
                    <a:bodyPr/>
                    <a:lstStyle/>
                    <a:p>
                      <a:r>
                        <a:rPr kumimoji="1" lang="zh-CN" altLang="en-US" sz="1400" dirty="0"/>
                        <a:t>新企业加入竞争的可能性有多大？</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4185020507"/>
                  </a:ext>
                </a:extLst>
              </a:tr>
              <a:tr h="339566">
                <a:tc rowSpan="6">
                  <a:txBody>
                    <a:bodyPr/>
                    <a:lstStyle/>
                    <a:p>
                      <a:pPr algn="ctr"/>
                      <a:r>
                        <a:rPr kumimoji="1" lang="en-US" altLang="ja-JP" sz="1800" dirty="0"/>
                        <a:t>Company</a:t>
                      </a:r>
                    </a:p>
                    <a:p>
                      <a:pPr algn="ctr"/>
                      <a:endParaRPr kumimoji="1" lang="en-US" altLang="ja-JP" sz="1800" dirty="0"/>
                    </a:p>
                    <a:p>
                      <a:pPr algn="ctr"/>
                      <a:r>
                        <a:rPr kumimoji="1" lang="zh-CN" altLang="en-US" sz="1800" dirty="0"/>
                        <a:t>企业</a:t>
                      </a:r>
                      <a:endParaRPr kumimoji="1" lang="ja-JP" altLang="en-US" sz="1800" dirty="0"/>
                    </a:p>
                  </a:txBody>
                  <a:tcPr anchor="ctr">
                    <a:lnT w="12700" cap="flat" cmpd="sng" algn="ctr">
                      <a:solidFill>
                        <a:schemeClr val="bg1"/>
                      </a:solidFill>
                      <a:prstDash val="solid"/>
                      <a:round/>
                      <a:headEnd type="none" w="med" len="med"/>
                      <a:tailEnd type="none" w="med" len="med"/>
                    </a:lnT>
                    <a:solidFill>
                      <a:schemeClr val="bg2">
                        <a:lumMod val="90000"/>
                      </a:schemeClr>
                    </a:solidFill>
                  </a:tcPr>
                </a:tc>
                <a:tc>
                  <a:txBody>
                    <a:bodyPr/>
                    <a:lstStyle/>
                    <a:p>
                      <a:r>
                        <a:rPr kumimoji="1" lang="zh-CN" altLang="en-US" sz="1400" dirty="0"/>
                        <a:t>企业的目标是什么？</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rowSpan="6">
                  <a:txBody>
                    <a:bodyPr/>
                    <a:lstStyle/>
                    <a:p>
                      <a:endParaRPr kumimoji="1" lang="ja-JP" altLang="en-US" sz="1400" dirty="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2846677527"/>
                  </a:ext>
                </a:extLst>
              </a:tr>
              <a:tr h="339566">
                <a:tc vMerge="1">
                  <a:txBody>
                    <a:bodyPr/>
                    <a:lstStyle/>
                    <a:p>
                      <a:endParaRPr kumimoji="1" lang="ja-JP" altLang="en-US" sz="1400"/>
                    </a:p>
                  </a:txBody>
                  <a:tcPr/>
                </a:tc>
                <a:tc>
                  <a:txBody>
                    <a:bodyPr/>
                    <a:lstStyle/>
                    <a:p>
                      <a:r>
                        <a:rPr kumimoji="1" lang="zh-CN" altLang="en-US" sz="1400" dirty="0"/>
                        <a:t>企业的财务状况和成本结构如何？</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76204912"/>
                  </a:ext>
                </a:extLst>
              </a:tr>
              <a:tr h="339566">
                <a:tc vMerge="1">
                  <a:txBody>
                    <a:bodyPr/>
                    <a:lstStyle/>
                    <a:p>
                      <a:endParaRPr kumimoji="1" lang="ja-JP" altLang="en-US" sz="1400"/>
                    </a:p>
                  </a:txBody>
                  <a:tcPr/>
                </a:tc>
                <a:tc>
                  <a:txBody>
                    <a:bodyPr/>
                    <a:lstStyle/>
                    <a:p>
                      <a:r>
                        <a:rPr kumimoji="1" lang="zh-CN" altLang="en-US" sz="1400" dirty="0"/>
                        <a:t>企业的总部是否拥有掌控全局的能力？</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752317511"/>
                  </a:ext>
                </a:extLst>
              </a:tr>
              <a:tr h="339566">
                <a:tc vMerge="1">
                  <a:txBody>
                    <a:bodyPr/>
                    <a:lstStyle/>
                    <a:p>
                      <a:endParaRPr kumimoji="1" lang="ja-JP" altLang="en-US" sz="1400"/>
                    </a:p>
                  </a:txBody>
                  <a:tcPr/>
                </a:tc>
                <a:tc>
                  <a:txBody>
                    <a:bodyPr/>
                    <a:lstStyle/>
                    <a:p>
                      <a:r>
                        <a:rPr kumimoji="1" lang="zh-CN" altLang="en-US" sz="1400" dirty="0"/>
                        <a:t>企业的研究开发与生产是否存在问题？</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1767418208"/>
                  </a:ext>
                </a:extLst>
              </a:tr>
              <a:tr h="169783">
                <a:tc vMerge="1">
                  <a:txBody>
                    <a:bodyPr/>
                    <a:lstStyle/>
                    <a:p>
                      <a:endParaRPr kumimoji="1" lang="ja-JP" altLang="en-US" sz="1400"/>
                    </a:p>
                  </a:txBody>
                  <a:tcPr/>
                </a:tc>
                <a:tc>
                  <a:txBody>
                    <a:bodyPr/>
                    <a:lstStyle/>
                    <a:p>
                      <a:r>
                        <a:rPr kumimoji="1" lang="zh-CN" altLang="en-US" sz="1400" dirty="0"/>
                        <a:t>企业的销售和营销是否存在问题？</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kumimoji="1" lang="ja-JP" altLang="en-US" sz="1400"/>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1340264523"/>
                  </a:ext>
                </a:extLst>
              </a:tr>
              <a:tr h="169783">
                <a:tc vMerge="1">
                  <a:txBody>
                    <a:bodyPr/>
                    <a:lstStyle/>
                    <a:p>
                      <a:endParaRPr lang="zh-CN" altLang="en-US"/>
                    </a:p>
                  </a:txBody>
                  <a:tcPr/>
                </a:tc>
                <a:tc>
                  <a:txBody>
                    <a:bodyPr/>
                    <a:lstStyle/>
                    <a:p>
                      <a:r>
                        <a:rPr kumimoji="1" lang="zh-CN" altLang="en-US" sz="1400" dirty="0"/>
                        <a:t>企业的优势和劣势是什么？</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vMerge="1">
                  <a:txBody>
                    <a:bodyPr/>
                    <a:lstStyle/>
                    <a:p>
                      <a:endParaRPr lang="zh-CN" altLang="en-US"/>
                    </a:p>
                  </a:txBody>
                  <a:tcPr/>
                </a:tc>
                <a:extLst>
                  <a:ext uri="{0D108BD9-81ED-4DB2-BD59-A6C34878D82A}">
                    <a16:rowId xmlns:a16="http://schemas.microsoft.com/office/drawing/2014/main" val="1194791422"/>
                  </a:ext>
                </a:extLst>
              </a:tr>
            </a:tbl>
          </a:graphicData>
        </a:graphic>
      </p:graphicFrame>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24</a:t>
            </a:r>
            <a:r>
              <a:rPr lang="ja-JP" altLang="en-US" sz="2600" dirty="0">
                <a:solidFill>
                  <a:schemeClr val="bg1"/>
                </a:solidFill>
              </a:rPr>
              <a:t>　３Ｃ分析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100</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将本公司的经营环境套用在市场、顾客、竞争对手、本公司这三个框架上进行分析。认识现场和问题，制定事业战略。</a:t>
            </a:r>
            <a:endParaRPr lang="en-US" altLang="ja-JP" sz="1138" dirty="0"/>
          </a:p>
        </p:txBody>
      </p:sp>
    </p:spTree>
    <p:extLst>
      <p:ext uri="{BB962C8B-B14F-4D97-AF65-F5344CB8AC3E}">
        <p14:creationId xmlns:p14="http://schemas.microsoft.com/office/powerpoint/2010/main" val="1603159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25</a:t>
            </a:r>
            <a:r>
              <a:rPr lang="ja-JP" altLang="en-US" sz="2600" dirty="0">
                <a:solidFill>
                  <a:schemeClr val="bg1"/>
                </a:solidFill>
              </a:rPr>
              <a:t>　ＳＴＰ分析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104</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按照“细分市场”“选定目标市场”“确定定位”的流程分析市场，明确本公司的定位。</a:t>
            </a:r>
            <a:endParaRPr lang="en-US" altLang="ja-JP" sz="1138" dirty="0"/>
          </a:p>
        </p:txBody>
      </p:sp>
      <p:graphicFrame>
        <p:nvGraphicFramePr>
          <p:cNvPr id="5" name="表 5">
            <a:extLst>
              <a:ext uri="{FF2B5EF4-FFF2-40B4-BE49-F238E27FC236}">
                <a16:creationId xmlns:a16="http://schemas.microsoft.com/office/drawing/2014/main" id="{43F18334-C879-774A-BE12-93FF21C78FA5}"/>
              </a:ext>
            </a:extLst>
          </p:cNvPr>
          <p:cNvGraphicFramePr>
            <a:graphicFrameLocks noGrp="1"/>
          </p:cNvGraphicFramePr>
          <p:nvPr>
            <p:extLst>
              <p:ext uri="{D42A27DB-BD31-4B8C-83A1-F6EECF244321}">
                <p14:modId xmlns:p14="http://schemas.microsoft.com/office/powerpoint/2010/main" val="4054760689"/>
              </p:ext>
            </p:extLst>
          </p:nvPr>
        </p:nvGraphicFramePr>
        <p:xfrm>
          <a:off x="354051" y="1066800"/>
          <a:ext cx="9197896" cy="5433060"/>
        </p:xfrm>
        <a:graphic>
          <a:graphicData uri="http://schemas.openxmlformats.org/drawingml/2006/table">
            <a:tbl>
              <a:tblPr>
                <a:tableStyleId>{1FECB4D8-DB02-4DC6-A0A2-4F2EBAE1DC90}</a:tableStyleId>
              </a:tblPr>
              <a:tblGrid>
                <a:gridCol w="2678709">
                  <a:extLst>
                    <a:ext uri="{9D8B030D-6E8A-4147-A177-3AD203B41FA5}">
                      <a16:colId xmlns:a16="http://schemas.microsoft.com/office/drawing/2014/main" val="4248183515"/>
                    </a:ext>
                  </a:extLst>
                </a:gridCol>
                <a:gridCol w="6519187">
                  <a:extLst>
                    <a:ext uri="{9D8B030D-6E8A-4147-A177-3AD203B41FA5}">
                      <a16:colId xmlns:a16="http://schemas.microsoft.com/office/drawing/2014/main" val="2793724792"/>
                    </a:ext>
                  </a:extLst>
                </a:gridCol>
              </a:tblGrid>
              <a:tr h="1811020">
                <a:tc>
                  <a:txBody>
                    <a:bodyPr/>
                    <a:lstStyle/>
                    <a:p>
                      <a:pPr algn="ctr"/>
                      <a:r>
                        <a:rPr kumimoji="1" lang="en-US" altLang="ja-JP" sz="1800" dirty="0"/>
                        <a:t>Segmentation</a:t>
                      </a:r>
                    </a:p>
                    <a:p>
                      <a:pPr algn="ctr"/>
                      <a:endParaRPr kumimoji="1" lang="en-US" altLang="ja-JP" sz="1800" dirty="0"/>
                    </a:p>
                    <a:p>
                      <a:pPr algn="ctr"/>
                      <a:r>
                        <a:rPr kumimoji="1" lang="zh-CN" altLang="en-US" sz="1800" dirty="0"/>
                        <a:t>市场细分</a:t>
                      </a:r>
                      <a:endParaRPr kumimoji="1" lang="ja-JP" altLang="en-US" sz="180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endParaRPr kumimoji="1" lang="ja-JP" altLang="en-US"/>
                    </a:p>
                  </a:txBody>
                  <a:tcPr>
                    <a:lnL w="12700" cap="flat" cmpd="sng" algn="ctr">
                      <a:solidFill>
                        <a:schemeClr val="accent3">
                          <a:lumMod val="60000"/>
                          <a:lumOff val="40000"/>
                        </a:schemeClr>
                      </a:solidFill>
                      <a:prstDash val="solid"/>
                      <a:round/>
                      <a:headEnd type="none" w="med" len="med"/>
                      <a:tailEnd type="none" w="med" len="med"/>
                    </a:lnL>
                  </a:tcPr>
                </a:tc>
                <a:extLst>
                  <a:ext uri="{0D108BD9-81ED-4DB2-BD59-A6C34878D82A}">
                    <a16:rowId xmlns:a16="http://schemas.microsoft.com/office/drawing/2014/main" val="3964177899"/>
                  </a:ext>
                </a:extLst>
              </a:tr>
              <a:tr h="1811020">
                <a:tc>
                  <a:txBody>
                    <a:bodyPr/>
                    <a:lstStyle/>
                    <a:p>
                      <a:pPr algn="ctr"/>
                      <a:r>
                        <a:rPr kumimoji="1" lang="en-US" altLang="ja-JP" sz="1800" dirty="0"/>
                        <a:t>Targeting</a:t>
                      </a:r>
                    </a:p>
                    <a:p>
                      <a:pPr algn="ctr"/>
                      <a:endParaRPr kumimoji="1" lang="en-US" altLang="ja-JP" sz="1800" dirty="0"/>
                    </a:p>
                    <a:p>
                      <a:pPr algn="ctr"/>
                      <a:r>
                        <a:rPr kumimoji="1" lang="zh-CN" altLang="en-US" sz="1800" dirty="0"/>
                        <a:t>目标市场选择</a:t>
                      </a:r>
                      <a:endParaRPr kumimoji="1" lang="ja-JP" altLang="en-US" sz="180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endParaRPr kumimoji="1" lang="ja-JP" altLang="en-US"/>
                    </a:p>
                  </a:txBody>
                  <a:tcPr>
                    <a:lnL w="12700" cap="flat" cmpd="sng" algn="ctr">
                      <a:solidFill>
                        <a:schemeClr val="accent3">
                          <a:lumMod val="60000"/>
                          <a:lumOff val="40000"/>
                        </a:schemeClr>
                      </a:solidFill>
                      <a:prstDash val="solid"/>
                      <a:round/>
                      <a:headEnd type="none" w="med" len="med"/>
                      <a:tailEnd type="none" w="med" len="med"/>
                    </a:lnL>
                  </a:tcPr>
                </a:tc>
                <a:extLst>
                  <a:ext uri="{0D108BD9-81ED-4DB2-BD59-A6C34878D82A}">
                    <a16:rowId xmlns:a16="http://schemas.microsoft.com/office/drawing/2014/main" val="98665675"/>
                  </a:ext>
                </a:extLst>
              </a:tr>
              <a:tr h="1811020">
                <a:tc>
                  <a:txBody>
                    <a:bodyPr/>
                    <a:lstStyle/>
                    <a:p>
                      <a:pPr algn="ctr"/>
                      <a:r>
                        <a:rPr kumimoji="1" lang="en-US" altLang="ja-JP" sz="1800" dirty="0"/>
                        <a:t>Positioning</a:t>
                      </a:r>
                    </a:p>
                    <a:p>
                      <a:pPr algn="ctr"/>
                      <a:endParaRPr kumimoji="1" lang="en-US" altLang="ja-JP" sz="1800" dirty="0"/>
                    </a:p>
                    <a:p>
                      <a:pPr algn="ctr"/>
                      <a:r>
                        <a:rPr kumimoji="1" lang="zh-CN" altLang="en-US" sz="1800" dirty="0"/>
                        <a:t>市场定位</a:t>
                      </a:r>
                      <a:endParaRPr kumimoji="1" lang="ja-JP" altLang="en-US" sz="180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2">
                        <a:lumMod val="90000"/>
                      </a:schemeClr>
                    </a:solidFill>
                  </a:tcPr>
                </a:tc>
                <a:tc>
                  <a:txBody>
                    <a:bodyPr/>
                    <a:lstStyle/>
                    <a:p>
                      <a:endParaRPr kumimoji="1" lang="ja-JP" altLang="en-US" dirty="0"/>
                    </a:p>
                  </a:txBody>
                  <a:tcPr>
                    <a:lnL w="12700" cap="flat" cmpd="sng" algn="ctr">
                      <a:solidFill>
                        <a:schemeClr val="accent3">
                          <a:lumMod val="60000"/>
                          <a:lumOff val="40000"/>
                        </a:schemeClr>
                      </a:solidFill>
                      <a:prstDash val="solid"/>
                      <a:round/>
                      <a:headEnd type="none" w="med" len="med"/>
                      <a:tailEnd type="none" w="med" len="med"/>
                    </a:lnL>
                  </a:tcPr>
                </a:tc>
                <a:extLst>
                  <a:ext uri="{0D108BD9-81ED-4DB2-BD59-A6C34878D82A}">
                    <a16:rowId xmlns:a16="http://schemas.microsoft.com/office/drawing/2014/main" val="2581398271"/>
                  </a:ext>
                </a:extLst>
              </a:tr>
            </a:tbl>
          </a:graphicData>
        </a:graphic>
      </p:graphicFrame>
      <p:sp>
        <p:nvSpPr>
          <p:cNvPr id="6" name="三角形 5">
            <a:extLst>
              <a:ext uri="{FF2B5EF4-FFF2-40B4-BE49-F238E27FC236}">
                <a16:creationId xmlns:a16="http://schemas.microsoft.com/office/drawing/2014/main" id="{55DBCBA0-5609-E844-9A4A-2DCB08AE3A24}"/>
              </a:ext>
            </a:extLst>
          </p:cNvPr>
          <p:cNvSpPr/>
          <p:nvPr/>
        </p:nvSpPr>
        <p:spPr>
          <a:xfrm rot="10800000">
            <a:off x="1445755" y="280507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56A3E2B1-CE52-3147-855B-3D3A468B3867}"/>
              </a:ext>
            </a:extLst>
          </p:cNvPr>
          <p:cNvSpPr/>
          <p:nvPr/>
        </p:nvSpPr>
        <p:spPr>
          <a:xfrm rot="10800000">
            <a:off x="1445755" y="4621188"/>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97956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1800" dirty="0">
                <a:solidFill>
                  <a:schemeClr val="bg1"/>
                </a:solidFill>
              </a:rPr>
              <a:t>26</a:t>
            </a:r>
            <a:r>
              <a:rPr lang="ja-JP" altLang="en-US" sz="1800" dirty="0">
                <a:solidFill>
                  <a:schemeClr val="bg1"/>
                </a:solidFill>
              </a:rPr>
              <a:t>　</a:t>
            </a:r>
            <a:r>
              <a:rPr lang="zh-CN" altLang="en-US" sz="1800" dirty="0">
                <a:solidFill>
                  <a:schemeClr val="bg1"/>
                </a:solidFill>
              </a:rPr>
              <a:t>市场营销组合</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108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为了给顾客提供优质的产品，企业需要什么呢</a:t>
            </a:r>
            <a:r>
              <a:rPr lang="en-US" altLang="zh-CN" sz="1138" dirty="0"/>
              <a:t>?</a:t>
            </a:r>
            <a:r>
              <a:rPr lang="zh-CN" altLang="en-US" sz="1138" dirty="0"/>
              <a:t>试着举几个站在顾客角度思考“问题”的示例。</a:t>
            </a:r>
            <a:endParaRPr lang="en-US" altLang="ja-JP" sz="1138" dirty="0"/>
          </a:p>
        </p:txBody>
      </p:sp>
      <p:graphicFrame>
        <p:nvGraphicFramePr>
          <p:cNvPr id="6" name="表 6">
            <a:extLst>
              <a:ext uri="{FF2B5EF4-FFF2-40B4-BE49-F238E27FC236}">
                <a16:creationId xmlns:a16="http://schemas.microsoft.com/office/drawing/2014/main" id="{2E4155E3-558B-0F45-96D7-4018E8DDF32B}"/>
              </a:ext>
            </a:extLst>
          </p:cNvPr>
          <p:cNvGraphicFramePr>
            <a:graphicFrameLocks noGrp="1"/>
          </p:cNvGraphicFramePr>
          <p:nvPr>
            <p:extLst>
              <p:ext uri="{D42A27DB-BD31-4B8C-83A1-F6EECF244321}">
                <p14:modId xmlns:p14="http://schemas.microsoft.com/office/powerpoint/2010/main" val="2031464534"/>
              </p:ext>
            </p:extLst>
          </p:nvPr>
        </p:nvGraphicFramePr>
        <p:xfrm>
          <a:off x="354053" y="1066800"/>
          <a:ext cx="9197895" cy="5433060"/>
        </p:xfrm>
        <a:graphic>
          <a:graphicData uri="http://schemas.openxmlformats.org/drawingml/2006/table">
            <a:tbl>
              <a:tblPr>
                <a:tableStyleId>{1FECB4D8-DB02-4DC6-A0A2-4F2EBAE1DC90}</a:tableStyleId>
              </a:tblPr>
              <a:tblGrid>
                <a:gridCol w="2175788">
                  <a:extLst>
                    <a:ext uri="{9D8B030D-6E8A-4147-A177-3AD203B41FA5}">
                      <a16:colId xmlns:a16="http://schemas.microsoft.com/office/drawing/2014/main" val="3230481782"/>
                    </a:ext>
                  </a:extLst>
                </a:gridCol>
                <a:gridCol w="2217420">
                  <a:extLst>
                    <a:ext uri="{9D8B030D-6E8A-4147-A177-3AD203B41FA5}">
                      <a16:colId xmlns:a16="http://schemas.microsoft.com/office/drawing/2014/main" val="773840834"/>
                    </a:ext>
                  </a:extLst>
                </a:gridCol>
                <a:gridCol w="4804687">
                  <a:extLst>
                    <a:ext uri="{9D8B030D-6E8A-4147-A177-3AD203B41FA5}">
                      <a16:colId xmlns:a16="http://schemas.microsoft.com/office/drawing/2014/main" val="3143430502"/>
                    </a:ext>
                  </a:extLst>
                </a:gridCol>
              </a:tblGrid>
              <a:tr h="474925">
                <a:tc>
                  <a:txBody>
                    <a:bodyPr/>
                    <a:lstStyle/>
                    <a:p>
                      <a:pPr algn="ctr"/>
                      <a:r>
                        <a:rPr kumimoji="1" lang="zh-CN" altLang="en-US" sz="1600" dirty="0"/>
                        <a:t>企业的角度</a:t>
                      </a:r>
                      <a:r>
                        <a:rPr kumimoji="1" lang="ja-JP" altLang="en-US" sz="1600" dirty="0"/>
                        <a:t>（</a:t>
                      </a:r>
                      <a:r>
                        <a:rPr kumimoji="1" lang="en-US" altLang="ja-JP" sz="1600" dirty="0"/>
                        <a:t>4P</a:t>
                      </a:r>
                      <a:r>
                        <a:rPr kumimoji="1" lang="ja-JP" altLang="en-US" sz="1600" dirty="0"/>
                        <a:t>）</a:t>
                      </a:r>
                      <a:endParaRPr kumimoji="1" lang="ja-JP"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lgn="ctr"/>
                      <a:r>
                        <a:rPr kumimoji="1" lang="zh-CN" altLang="en-US" dirty="0"/>
                        <a:t>顾客的角度</a:t>
                      </a:r>
                      <a:r>
                        <a:rPr kumimoji="1" lang="ja-JP" altLang="en-US" sz="1600" dirty="0"/>
                        <a:t>（</a:t>
                      </a:r>
                      <a:r>
                        <a:rPr kumimoji="1" lang="en-US" altLang="ja-JP" sz="1600" dirty="0"/>
                        <a:t>4C</a:t>
                      </a:r>
                      <a:r>
                        <a:rPr kumimoji="1" lang="ja-JP" altLang="en-US" sz="1600" dirty="0"/>
                        <a:t>）</a:t>
                      </a:r>
                      <a:endParaRPr kumimoji="1" lang="ja-JP" altLang="en-US" dirty="0"/>
                    </a:p>
                  </a:txBody>
                  <a:tcPr anchor="ctr">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lgn="ctr"/>
                      <a:r>
                        <a:rPr kumimoji="1" lang="zh-CN" altLang="en-US" dirty="0"/>
                        <a:t>站在顾客的角度思考问题</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360279754"/>
                  </a:ext>
                </a:extLst>
              </a:tr>
              <a:tr h="1256572">
                <a:tc>
                  <a:txBody>
                    <a:bodyPr/>
                    <a:lstStyle/>
                    <a:p>
                      <a:pPr algn="ctr"/>
                      <a:r>
                        <a:rPr kumimoji="1" lang="en-US" altLang="ja-JP" sz="1800" dirty="0"/>
                        <a:t>Product</a:t>
                      </a:r>
                    </a:p>
                    <a:p>
                      <a:pPr algn="ctr"/>
                      <a:endParaRPr kumimoji="1" lang="en-US" altLang="ja-JP" sz="1800" dirty="0"/>
                    </a:p>
                    <a:p>
                      <a:pPr algn="ctr"/>
                      <a:r>
                        <a:rPr kumimoji="1" lang="zh-CN" altLang="en-US" sz="1800" dirty="0"/>
                        <a:t>产品</a:t>
                      </a:r>
                      <a:endParaRPr kumimoji="1" lang="en-US" altLang="ja-JP" sz="180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kumimoji="1" lang="en-US" altLang="ja-JP" sz="1800" dirty="0"/>
                        <a:t>Customer Value</a:t>
                      </a:r>
                    </a:p>
                    <a:p>
                      <a:pPr algn="ctr"/>
                      <a:endParaRPr kumimoji="1" lang="en-US" altLang="ja-JP" sz="1800" dirty="0"/>
                    </a:p>
                    <a:p>
                      <a:pPr algn="ctr"/>
                      <a:r>
                        <a:rPr kumimoji="1" lang="zh-CN" altLang="en-US" sz="1800" dirty="0"/>
                        <a:t>顾客价值</a:t>
                      </a:r>
                      <a:endParaRPr kumimoji="1" lang="ja-JP" altLang="en-US" sz="1800" dirty="0"/>
                    </a:p>
                  </a:txBody>
                  <a:tcPr anchor="ctr">
                    <a:lnL w="12700" cap="flat" cmpd="sng" algn="ctr">
                      <a:solidFill>
                        <a:schemeClr val="bg1"/>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endParaRPr kumimoji="1" lang="ja-JP" altLang="en-US" dirty="0"/>
                    </a:p>
                  </a:txBody>
                  <a:tcPr/>
                </a:tc>
                <a:extLst>
                  <a:ext uri="{0D108BD9-81ED-4DB2-BD59-A6C34878D82A}">
                    <a16:rowId xmlns:a16="http://schemas.microsoft.com/office/drawing/2014/main" val="1836824362"/>
                  </a:ext>
                </a:extLst>
              </a:tr>
              <a:tr h="1286255">
                <a:tc>
                  <a:txBody>
                    <a:bodyPr/>
                    <a:lstStyle/>
                    <a:p>
                      <a:pPr algn="ctr"/>
                      <a:r>
                        <a:rPr kumimoji="1" lang="en-US" altLang="ja-JP" sz="1800" dirty="0"/>
                        <a:t>Price</a:t>
                      </a:r>
                    </a:p>
                    <a:p>
                      <a:pPr algn="ctr"/>
                      <a:endParaRPr kumimoji="1" lang="en-US" altLang="ja-JP" sz="1800" dirty="0"/>
                    </a:p>
                    <a:p>
                      <a:pPr algn="ctr"/>
                      <a:r>
                        <a:rPr kumimoji="1" lang="zh-CN" altLang="en-US" sz="1800" dirty="0"/>
                        <a:t>价格</a:t>
                      </a:r>
                      <a:endParaRPr kumimoji="1" lang="en-US" altLang="ja-JP" sz="180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kumimoji="1" lang="en-US" altLang="ja-JP" sz="1800" dirty="0"/>
                        <a:t>Customer Cost</a:t>
                      </a:r>
                    </a:p>
                    <a:p>
                      <a:pPr algn="ctr"/>
                      <a:endParaRPr kumimoji="1" lang="en-US" altLang="ja-JP" sz="1800" dirty="0"/>
                    </a:p>
                    <a:p>
                      <a:pPr algn="ctr"/>
                      <a:r>
                        <a:rPr kumimoji="1" lang="zh-CN" altLang="en-US" sz="1800" dirty="0"/>
                        <a:t>顾客负担的费用</a:t>
                      </a:r>
                      <a:endParaRPr kumimoji="1" lang="ja-JP" altLang="en-US" sz="1800"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endParaRPr kumimoji="1" lang="ja-JP" altLang="en-US"/>
                    </a:p>
                  </a:txBody>
                  <a:tcPr/>
                </a:tc>
                <a:extLst>
                  <a:ext uri="{0D108BD9-81ED-4DB2-BD59-A6C34878D82A}">
                    <a16:rowId xmlns:a16="http://schemas.microsoft.com/office/drawing/2014/main" val="1422672648"/>
                  </a:ext>
                </a:extLst>
              </a:tr>
              <a:tr h="1187313">
                <a:tc>
                  <a:txBody>
                    <a:bodyPr/>
                    <a:lstStyle/>
                    <a:p>
                      <a:pPr algn="ctr"/>
                      <a:r>
                        <a:rPr kumimoji="1" lang="en-US" altLang="ja-JP" sz="1800" dirty="0"/>
                        <a:t>Place</a:t>
                      </a:r>
                    </a:p>
                    <a:p>
                      <a:pPr algn="ctr"/>
                      <a:endParaRPr kumimoji="1" lang="en-US" altLang="ja-JP" sz="1800" dirty="0"/>
                    </a:p>
                    <a:p>
                      <a:pPr algn="ctr"/>
                      <a:r>
                        <a:rPr kumimoji="1" lang="zh-CN" altLang="en-US" sz="1800" dirty="0"/>
                        <a:t>渠道</a:t>
                      </a:r>
                      <a:endParaRPr kumimoji="1" lang="ja-JP" altLang="en-US" sz="180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kumimoji="1" lang="en-US" altLang="ja-JP" sz="1800" dirty="0"/>
                        <a:t>Convenience</a:t>
                      </a:r>
                    </a:p>
                    <a:p>
                      <a:pPr algn="ctr"/>
                      <a:endParaRPr kumimoji="1" lang="en-US" altLang="zh-CN" sz="1800" dirty="0"/>
                    </a:p>
                    <a:p>
                      <a:pPr algn="ctr"/>
                      <a:r>
                        <a:rPr kumimoji="1" lang="zh-CN" altLang="en-US" sz="1800" dirty="0"/>
                        <a:t>便利</a:t>
                      </a:r>
                      <a:endParaRPr kumimoji="1" lang="ja-JP" altLang="en-US" sz="1800"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endParaRPr kumimoji="1" lang="ja-JP" altLang="en-US"/>
                    </a:p>
                  </a:txBody>
                  <a:tcPr/>
                </a:tc>
                <a:extLst>
                  <a:ext uri="{0D108BD9-81ED-4DB2-BD59-A6C34878D82A}">
                    <a16:rowId xmlns:a16="http://schemas.microsoft.com/office/drawing/2014/main" val="2395445590"/>
                  </a:ext>
                </a:extLst>
              </a:tr>
              <a:tr h="1227995">
                <a:tc>
                  <a:txBody>
                    <a:bodyPr/>
                    <a:lstStyle/>
                    <a:p>
                      <a:pPr algn="ctr"/>
                      <a:r>
                        <a:rPr kumimoji="1" lang="en-US" altLang="ja-JP" sz="1800" dirty="0"/>
                        <a:t>Promotion</a:t>
                      </a:r>
                    </a:p>
                    <a:p>
                      <a:pPr algn="ctr"/>
                      <a:endParaRPr kumimoji="1" lang="en-US" altLang="ja-JP" sz="1800" dirty="0"/>
                    </a:p>
                    <a:p>
                      <a:pPr algn="ctr"/>
                      <a:r>
                        <a:rPr kumimoji="1" lang="zh-CN" altLang="en-US" sz="1800" dirty="0"/>
                        <a:t>促销</a:t>
                      </a:r>
                      <a:endParaRPr kumimoji="1" lang="ja-JP" altLang="en-US" sz="180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2">
                        <a:lumMod val="90000"/>
                      </a:schemeClr>
                    </a:solidFill>
                  </a:tcPr>
                </a:tc>
                <a:tc>
                  <a:txBody>
                    <a:bodyPr/>
                    <a:lstStyle/>
                    <a:p>
                      <a:pPr algn="ctr"/>
                      <a:r>
                        <a:rPr kumimoji="1" lang="en-US" altLang="ja-JP" dirty="0"/>
                        <a:t>Communication</a:t>
                      </a:r>
                    </a:p>
                    <a:p>
                      <a:pPr algn="ctr"/>
                      <a:endParaRPr kumimoji="1" lang="en-US" altLang="zh-CN" sz="1600" dirty="0"/>
                    </a:p>
                    <a:p>
                      <a:pPr algn="ctr"/>
                      <a:r>
                        <a:rPr kumimoji="1" lang="zh-CN" altLang="en-US" sz="1600" dirty="0"/>
                        <a:t>沟通</a:t>
                      </a:r>
                      <a:endParaRPr kumimoji="1" lang="ja-JP" altLang="en-US" sz="1600"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2">
                        <a:lumMod val="90000"/>
                      </a:schemeClr>
                    </a:solidFill>
                  </a:tcPr>
                </a:tc>
                <a:tc>
                  <a:txBody>
                    <a:bodyPr/>
                    <a:lstStyle/>
                    <a:p>
                      <a:endParaRPr kumimoji="1" lang="ja-JP" altLang="en-US" dirty="0"/>
                    </a:p>
                  </a:txBody>
                  <a:tcPr/>
                </a:tc>
                <a:extLst>
                  <a:ext uri="{0D108BD9-81ED-4DB2-BD59-A6C34878D82A}">
                    <a16:rowId xmlns:a16="http://schemas.microsoft.com/office/drawing/2014/main" val="3604056797"/>
                  </a:ext>
                </a:extLst>
              </a:tr>
            </a:tbl>
          </a:graphicData>
        </a:graphic>
      </p:graphicFrame>
      <p:sp>
        <p:nvSpPr>
          <p:cNvPr id="7" name="三角形 6">
            <a:extLst>
              <a:ext uri="{FF2B5EF4-FFF2-40B4-BE49-F238E27FC236}">
                <a16:creationId xmlns:a16="http://schemas.microsoft.com/office/drawing/2014/main" id="{48BD46C8-7215-2D4C-AF3D-15080C09AAF6}"/>
              </a:ext>
            </a:extLst>
          </p:cNvPr>
          <p:cNvSpPr/>
          <p:nvPr/>
        </p:nvSpPr>
        <p:spPr>
          <a:xfrm rot="5400000">
            <a:off x="4541519" y="209641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三角形 7">
            <a:extLst>
              <a:ext uri="{FF2B5EF4-FFF2-40B4-BE49-F238E27FC236}">
                <a16:creationId xmlns:a16="http://schemas.microsoft.com/office/drawing/2014/main" id="{CC8280AF-E597-2148-8CD1-67693C4154D9}"/>
              </a:ext>
            </a:extLst>
          </p:cNvPr>
          <p:cNvSpPr/>
          <p:nvPr/>
        </p:nvSpPr>
        <p:spPr>
          <a:xfrm rot="5400000">
            <a:off x="4541519" y="3330794"/>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三角形 8">
            <a:extLst>
              <a:ext uri="{FF2B5EF4-FFF2-40B4-BE49-F238E27FC236}">
                <a16:creationId xmlns:a16="http://schemas.microsoft.com/office/drawing/2014/main" id="{D647A804-D46D-064A-B318-7B0FB10BE5A1}"/>
              </a:ext>
            </a:extLst>
          </p:cNvPr>
          <p:cNvSpPr/>
          <p:nvPr/>
        </p:nvSpPr>
        <p:spPr>
          <a:xfrm rot="5400000">
            <a:off x="4541519" y="4563329"/>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三角形 9">
            <a:extLst>
              <a:ext uri="{FF2B5EF4-FFF2-40B4-BE49-F238E27FC236}">
                <a16:creationId xmlns:a16="http://schemas.microsoft.com/office/drawing/2014/main" id="{49AE37E1-080B-2843-82C3-059B2675A2CD}"/>
              </a:ext>
            </a:extLst>
          </p:cNvPr>
          <p:cNvSpPr/>
          <p:nvPr/>
        </p:nvSpPr>
        <p:spPr>
          <a:xfrm rot="5400000">
            <a:off x="4541519" y="5795864"/>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56496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 9">
            <a:extLst>
              <a:ext uri="{FF2B5EF4-FFF2-40B4-BE49-F238E27FC236}">
                <a16:creationId xmlns:a16="http://schemas.microsoft.com/office/drawing/2014/main" id="{DAAB5FAF-BC85-9947-80AD-5B3AED23A778}"/>
              </a:ext>
            </a:extLst>
          </p:cNvPr>
          <p:cNvGraphicFramePr>
            <a:graphicFrameLocks noGrp="1"/>
          </p:cNvGraphicFramePr>
          <p:nvPr>
            <p:extLst>
              <p:ext uri="{D42A27DB-BD31-4B8C-83A1-F6EECF244321}">
                <p14:modId xmlns:p14="http://schemas.microsoft.com/office/powerpoint/2010/main" val="979787753"/>
              </p:ext>
            </p:extLst>
          </p:nvPr>
        </p:nvGraphicFramePr>
        <p:xfrm>
          <a:off x="364489" y="1065070"/>
          <a:ext cx="9187458" cy="5433066"/>
        </p:xfrm>
        <a:graphic>
          <a:graphicData uri="http://schemas.openxmlformats.org/drawingml/2006/table">
            <a:tbl>
              <a:tblPr>
                <a:tableStyleId>{1FECB4D8-DB02-4DC6-A0A2-4F2EBAE1DC90}</a:tableStyleId>
              </a:tblPr>
              <a:tblGrid>
                <a:gridCol w="2195831">
                  <a:extLst>
                    <a:ext uri="{9D8B030D-6E8A-4147-A177-3AD203B41FA5}">
                      <a16:colId xmlns:a16="http://schemas.microsoft.com/office/drawing/2014/main" val="847224589"/>
                    </a:ext>
                  </a:extLst>
                </a:gridCol>
                <a:gridCol w="6991627">
                  <a:extLst>
                    <a:ext uri="{9D8B030D-6E8A-4147-A177-3AD203B41FA5}">
                      <a16:colId xmlns:a16="http://schemas.microsoft.com/office/drawing/2014/main" val="2764821678"/>
                    </a:ext>
                  </a:extLst>
                </a:gridCol>
              </a:tblGrid>
              <a:tr h="301837">
                <a:tc>
                  <a:txBody>
                    <a:bodyPr/>
                    <a:lstStyle/>
                    <a:p>
                      <a:pPr algn="ctr"/>
                      <a:r>
                        <a:rPr kumimoji="1" lang="zh-CN" altLang="en-US" sz="1200" dirty="0"/>
                        <a:t>姓    名</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nchor="ct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469071819"/>
                  </a:ext>
                </a:extLst>
              </a:tr>
              <a:tr h="301837">
                <a:tc>
                  <a:txBody>
                    <a:bodyPr/>
                    <a:lstStyle/>
                    <a:p>
                      <a:pPr algn="ctr"/>
                      <a:r>
                        <a:rPr kumimoji="1" lang="ja-JP" altLang="en-US" sz="1200"/>
                        <a:t>性　別</a:t>
                      </a:r>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470873507"/>
                  </a:ext>
                </a:extLst>
              </a:tr>
              <a:tr h="301837">
                <a:tc>
                  <a:txBody>
                    <a:bodyPr/>
                    <a:lstStyle/>
                    <a:p>
                      <a:pPr algn="ctr"/>
                      <a:r>
                        <a:rPr kumimoji="1" lang="ja-JP" altLang="en-US" sz="1200" dirty="0"/>
                        <a:t>年　</a:t>
                      </a:r>
                      <a:r>
                        <a:rPr kumimoji="1" lang="zh-CN" altLang="en-US" sz="1200" dirty="0"/>
                        <a:t>龄</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4130747439"/>
                  </a:ext>
                </a:extLst>
              </a:tr>
              <a:tr h="301837">
                <a:tc>
                  <a:txBody>
                    <a:bodyPr/>
                    <a:lstStyle/>
                    <a:p>
                      <a:pPr algn="ctr"/>
                      <a:r>
                        <a:rPr kumimoji="1" lang="zh-CN" altLang="en-US" sz="1200" dirty="0"/>
                        <a:t>家庭成员</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240252358"/>
                  </a:ext>
                </a:extLst>
              </a:tr>
              <a:tr h="301837">
                <a:tc>
                  <a:txBody>
                    <a:bodyPr/>
                    <a:lstStyle/>
                    <a:p>
                      <a:pPr algn="ctr"/>
                      <a:r>
                        <a:rPr kumimoji="1" lang="ja-JP" altLang="en-US" sz="1200"/>
                        <a:t>居住地</a:t>
                      </a:r>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074856944"/>
                  </a:ext>
                </a:extLst>
              </a:tr>
              <a:tr h="301837">
                <a:tc>
                  <a:txBody>
                    <a:bodyPr/>
                    <a:lstStyle/>
                    <a:p>
                      <a:pPr algn="ctr"/>
                      <a:r>
                        <a:rPr kumimoji="1" lang="zh-CN" altLang="en-US" sz="1200" dirty="0"/>
                        <a:t>职业</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631907106"/>
                  </a:ext>
                </a:extLst>
              </a:tr>
              <a:tr h="301837">
                <a:tc>
                  <a:txBody>
                    <a:bodyPr/>
                    <a:lstStyle/>
                    <a:p>
                      <a:pPr algn="ctr"/>
                      <a:r>
                        <a:rPr kumimoji="1" lang="zh-CN" altLang="en-US" sz="1200" dirty="0"/>
                        <a:t>职务</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787105670"/>
                  </a:ext>
                </a:extLst>
              </a:tr>
              <a:tr h="301837">
                <a:tc>
                  <a:txBody>
                    <a:bodyPr/>
                    <a:lstStyle/>
                    <a:p>
                      <a:pPr algn="ctr"/>
                      <a:r>
                        <a:rPr kumimoji="1" lang="zh-CN" altLang="en-US" sz="1200" dirty="0"/>
                        <a:t>收入</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866807394"/>
                  </a:ext>
                </a:extLst>
              </a:tr>
              <a:tr h="301837">
                <a:tc>
                  <a:txBody>
                    <a:bodyPr/>
                    <a:lstStyle/>
                    <a:p>
                      <a:pPr algn="ctr"/>
                      <a:r>
                        <a:rPr kumimoji="1" lang="zh-CN" altLang="en-US" sz="1200" dirty="0"/>
                        <a:t>积蓄</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413120162"/>
                  </a:ext>
                </a:extLst>
              </a:tr>
              <a:tr h="301837">
                <a:tc>
                  <a:txBody>
                    <a:bodyPr/>
                    <a:lstStyle/>
                    <a:p>
                      <a:pPr algn="ctr"/>
                      <a:r>
                        <a:rPr kumimoji="1" lang="zh-CN" altLang="en-US" sz="1200" dirty="0"/>
                        <a:t>学历</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527082761"/>
                  </a:ext>
                </a:extLst>
              </a:tr>
              <a:tr h="301837">
                <a:tc>
                  <a:txBody>
                    <a:bodyPr/>
                    <a:lstStyle/>
                    <a:p>
                      <a:pPr algn="ctr"/>
                      <a:r>
                        <a:rPr kumimoji="1" lang="zh-CN" altLang="en-US" sz="1200" dirty="0"/>
                        <a:t>兴趣</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101085890"/>
                  </a:ext>
                </a:extLst>
              </a:tr>
              <a:tr h="301837">
                <a:tc>
                  <a:txBody>
                    <a:bodyPr/>
                    <a:lstStyle/>
                    <a:p>
                      <a:pPr algn="ctr"/>
                      <a:r>
                        <a:rPr kumimoji="1" lang="zh-CN" altLang="en-US" sz="1200" dirty="0"/>
                        <a:t>最常使用的社交软件</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519223375"/>
                  </a:ext>
                </a:extLst>
              </a:tr>
              <a:tr h="301837">
                <a:tc>
                  <a:txBody>
                    <a:bodyPr/>
                    <a:lstStyle/>
                    <a:p>
                      <a:pPr algn="ctr"/>
                      <a:r>
                        <a:rPr kumimoji="1" lang="zh-CN" altLang="en-US" sz="1200" dirty="0"/>
                        <a:t>休息日做什么</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36153532"/>
                  </a:ext>
                </a:extLst>
              </a:tr>
              <a:tr h="301837">
                <a:tc>
                  <a:txBody>
                    <a:bodyPr/>
                    <a:lstStyle/>
                    <a:p>
                      <a:pPr algn="ctr"/>
                      <a:r>
                        <a:rPr kumimoji="1" lang="ja-JP" altLang="en-US" sz="1200" dirty="0"/>
                        <a:t>常用媒体</a:t>
                      </a:r>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286472897"/>
                  </a:ext>
                </a:extLst>
              </a:tr>
              <a:tr h="301837">
                <a:tc>
                  <a:txBody>
                    <a:bodyPr/>
                    <a:lstStyle/>
                    <a:p>
                      <a:pPr algn="ctr"/>
                      <a:r>
                        <a:rPr kumimoji="1" lang="zh-CN" altLang="en-US" sz="1200" dirty="0"/>
                        <a:t>最常检索的关键词</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3966505587"/>
                  </a:ext>
                </a:extLst>
              </a:tr>
              <a:tr h="301837">
                <a:tc>
                  <a:txBody>
                    <a:bodyPr/>
                    <a:lstStyle/>
                    <a:p>
                      <a:pPr algn="ctr"/>
                      <a:r>
                        <a:rPr kumimoji="1" lang="ja-JP" altLang="en-US" sz="1200"/>
                        <a:t>生活パターン</a:t>
                      </a:r>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3196415817"/>
                  </a:ext>
                </a:extLst>
              </a:tr>
              <a:tr h="301837">
                <a:tc>
                  <a:txBody>
                    <a:bodyPr/>
                    <a:lstStyle/>
                    <a:p>
                      <a:pPr algn="ctr"/>
                      <a:r>
                        <a:rPr kumimoji="1" lang="zh-CN" altLang="en-US" sz="1200" dirty="0"/>
                        <a:t>生活时间安排</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340615015"/>
                  </a:ext>
                </a:extLst>
              </a:tr>
              <a:tr h="301837">
                <a:tc>
                  <a:txBody>
                    <a:bodyPr/>
                    <a:lstStyle/>
                    <a:p>
                      <a:pPr algn="ctr"/>
                      <a:r>
                        <a:rPr kumimoji="1" lang="zh-CN" altLang="en-US" sz="1200" dirty="0"/>
                        <a:t>正在进行的挑战</a:t>
                      </a:r>
                      <a:endParaRPr kumimoji="1" lang="ja-JP" altLang="en-US" sz="1200" dirty="0"/>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617013460"/>
                  </a:ext>
                </a:extLst>
              </a:tr>
            </a:tbl>
          </a:graphicData>
        </a:graphic>
      </p:graphicFrame>
      <p:sp>
        <p:nvSpPr>
          <p:cNvPr id="8" name="正方形/長方形 7">
            <a:extLst>
              <a:ext uri="{FF2B5EF4-FFF2-40B4-BE49-F238E27FC236}">
                <a16:creationId xmlns:a16="http://schemas.microsoft.com/office/drawing/2014/main" id="{B26D2550-860B-7F4F-9607-B4AE959C3089}"/>
              </a:ext>
            </a:extLst>
          </p:cNvPr>
          <p:cNvSpPr/>
          <p:nvPr/>
        </p:nvSpPr>
        <p:spPr>
          <a:xfrm>
            <a:off x="6918959" y="1063346"/>
            <a:ext cx="2632987" cy="3607714"/>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27</a:t>
            </a:r>
            <a:r>
              <a:rPr lang="ja-JP" altLang="en-US" sz="2600" dirty="0">
                <a:solidFill>
                  <a:schemeClr val="bg1"/>
                </a:solidFill>
              </a:rPr>
              <a:t>　</a:t>
            </a:r>
            <a:r>
              <a:rPr lang="zh-CN" altLang="en-US" sz="2600" dirty="0">
                <a:solidFill>
                  <a:schemeClr val="bg1"/>
                </a:solidFill>
              </a:rPr>
              <a:t>用户画像</a:t>
            </a:r>
            <a:r>
              <a:rPr lang="ja-JP" altLang="en-US" sz="2600" dirty="0">
                <a:solidFill>
                  <a:schemeClr val="bg1"/>
                </a:solidFill>
              </a:rPr>
              <a:t>分析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112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fontScale="92500"/>
          </a:bodyPr>
          <a:lstStyle/>
          <a:p>
            <a:pPr algn="l"/>
            <a:r>
              <a:rPr lang="zh-CN" altLang="en-US" sz="1138" dirty="0"/>
              <a:t>收集与目标顾客相关的信息和数据，写出目标顾客比较有代表性的思维方式、生活习惯等</a:t>
            </a:r>
            <a:r>
              <a:rPr lang="ja-JP" altLang="en-US" sz="1138" dirty="0"/>
              <a:t>。</a:t>
            </a:r>
            <a:r>
              <a:rPr lang="zh-CN" altLang="en-US" sz="1138" dirty="0"/>
              <a:t>根据信息描绘出目标顾客的特征，制作出用户画像。</a:t>
            </a:r>
            <a:endParaRPr lang="en-US" altLang="ja-JP" sz="1138" dirty="0"/>
          </a:p>
        </p:txBody>
      </p:sp>
      <p:grpSp>
        <p:nvGrpSpPr>
          <p:cNvPr id="7" name="グループ化 6">
            <a:extLst>
              <a:ext uri="{FF2B5EF4-FFF2-40B4-BE49-F238E27FC236}">
                <a16:creationId xmlns:a16="http://schemas.microsoft.com/office/drawing/2014/main" id="{77F20F9F-8601-8545-AD4F-824DCCC13160}"/>
              </a:ext>
            </a:extLst>
          </p:cNvPr>
          <p:cNvGrpSpPr/>
          <p:nvPr/>
        </p:nvGrpSpPr>
        <p:grpSpPr>
          <a:xfrm>
            <a:off x="7086600" y="1225090"/>
            <a:ext cx="2349393" cy="3354708"/>
            <a:chOff x="8393430" y="1225090"/>
            <a:chExt cx="929639" cy="1394460"/>
          </a:xfrm>
        </p:grpSpPr>
        <p:sp>
          <p:nvSpPr>
            <p:cNvPr id="5" name="円/楕円 4">
              <a:extLst>
                <a:ext uri="{FF2B5EF4-FFF2-40B4-BE49-F238E27FC236}">
                  <a16:creationId xmlns:a16="http://schemas.microsoft.com/office/drawing/2014/main" id="{39F21C96-7760-8648-919D-422B7AD30465}"/>
                </a:ext>
              </a:extLst>
            </p:cNvPr>
            <p:cNvSpPr/>
            <p:nvPr/>
          </p:nvSpPr>
          <p:spPr>
            <a:xfrm>
              <a:off x="8454390" y="1225090"/>
              <a:ext cx="807720" cy="807720"/>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4C152B57-C884-1442-BB7A-689E02E7C406}"/>
                </a:ext>
              </a:extLst>
            </p:cNvPr>
            <p:cNvSpPr/>
            <p:nvPr/>
          </p:nvSpPr>
          <p:spPr>
            <a:xfrm>
              <a:off x="8393430" y="2048050"/>
              <a:ext cx="929639" cy="571500"/>
            </a:xfrm>
            <a:prstGeom prst="roundRect">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aphicFrame>
        <p:nvGraphicFramePr>
          <p:cNvPr id="4" name="表格 3">
            <a:extLst>
              <a:ext uri="{FF2B5EF4-FFF2-40B4-BE49-F238E27FC236}">
                <a16:creationId xmlns:a16="http://schemas.microsoft.com/office/drawing/2014/main" id="{3703EB45-75AF-2EBC-CF1B-CC228CD05E05}"/>
              </a:ext>
            </a:extLst>
          </p:cNvPr>
          <p:cNvGraphicFramePr>
            <a:graphicFrameLocks noGrp="1"/>
          </p:cNvGraphicFramePr>
          <p:nvPr>
            <p:extLst>
              <p:ext uri="{D42A27DB-BD31-4B8C-83A1-F6EECF244321}">
                <p14:modId xmlns:p14="http://schemas.microsoft.com/office/powerpoint/2010/main" val="442464466"/>
              </p:ext>
            </p:extLst>
          </p:nvPr>
        </p:nvGraphicFramePr>
        <p:xfrm>
          <a:off x="364938" y="6473190"/>
          <a:ext cx="9187458" cy="301837"/>
        </p:xfrm>
        <a:graphic>
          <a:graphicData uri="http://schemas.openxmlformats.org/drawingml/2006/table">
            <a:tbl>
              <a:tblPr>
                <a:tableStyleId>{1FECB4D8-DB02-4DC6-A0A2-4F2EBAE1DC90}</a:tableStyleId>
              </a:tblPr>
              <a:tblGrid>
                <a:gridCol w="2195831">
                  <a:extLst>
                    <a:ext uri="{9D8B030D-6E8A-4147-A177-3AD203B41FA5}">
                      <a16:colId xmlns:a16="http://schemas.microsoft.com/office/drawing/2014/main" val="860760849"/>
                    </a:ext>
                  </a:extLst>
                </a:gridCol>
                <a:gridCol w="6991627">
                  <a:extLst>
                    <a:ext uri="{9D8B030D-6E8A-4147-A177-3AD203B41FA5}">
                      <a16:colId xmlns:a16="http://schemas.microsoft.com/office/drawing/2014/main" val="393943568"/>
                    </a:ext>
                  </a:extLst>
                </a:gridCol>
              </a:tblGrid>
              <a:tr h="301837">
                <a:tc>
                  <a:txBody>
                    <a:bodyPr/>
                    <a:lstStyle/>
                    <a:p>
                      <a:pPr algn="ctr"/>
                      <a:r>
                        <a:rPr kumimoji="1" lang="ja-JP" altLang="en-US" sz="1200" dirty="0"/>
                        <a:t>现在的烦恼</a:t>
                      </a:r>
                    </a:p>
                  </a:txBody>
                  <a:tcPr anchor="ctr">
                    <a:lnR w="12700" cap="flat" cmpd="sng" algn="ctr">
                      <a:solidFill>
                        <a:schemeClr val="accent3"/>
                      </a:solidFill>
                      <a:prstDash val="solid"/>
                      <a:round/>
                      <a:headEnd type="none" w="med" len="med"/>
                      <a:tailEnd type="none" w="med" len="med"/>
                    </a:lnR>
                    <a:solidFill>
                      <a:schemeClr val="accent3">
                        <a:lumMod val="20000"/>
                        <a:lumOff val="80000"/>
                      </a:schemeClr>
                    </a:solidFill>
                  </a:tcPr>
                </a:tc>
                <a:tc>
                  <a:txBody>
                    <a:bodyPr/>
                    <a:lstStyle/>
                    <a:p>
                      <a:endParaRPr kumimoji="1" lang="ja-JP" altLang="en-US" sz="1200"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794325323"/>
                  </a:ext>
                </a:extLst>
              </a:tr>
            </a:tbl>
          </a:graphicData>
        </a:graphic>
      </p:graphicFrame>
    </p:spTree>
    <p:extLst>
      <p:ext uri="{BB962C8B-B14F-4D97-AF65-F5344CB8AC3E}">
        <p14:creationId xmlns:p14="http://schemas.microsoft.com/office/powerpoint/2010/main" val="2879673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28</a:t>
            </a:r>
            <a:r>
              <a:rPr lang="ja-JP" altLang="en-US" sz="2000" dirty="0">
                <a:solidFill>
                  <a:schemeClr val="bg1"/>
                </a:solidFill>
              </a:rPr>
              <a:t>　</a:t>
            </a:r>
            <a:r>
              <a:rPr lang="zh-CN" altLang="en-US" sz="2000" dirty="0">
                <a:solidFill>
                  <a:schemeClr val="bg1"/>
                </a:solidFill>
              </a:rPr>
              <a:t>产品生命周期</a:t>
            </a:r>
            <a:r>
              <a:rPr lang="ja-JP" altLang="en-US" sz="10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116</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确认本公司的产品处于哪个阶段，是否采取了适合该阶段的营销措施。</a:t>
            </a:r>
            <a:endParaRPr lang="en-US" altLang="ja-JP" sz="1138" dirty="0"/>
          </a:p>
        </p:txBody>
      </p:sp>
      <p:sp>
        <p:nvSpPr>
          <p:cNvPr id="7" name="下矢印 6">
            <a:extLst>
              <a:ext uri="{FF2B5EF4-FFF2-40B4-BE49-F238E27FC236}">
                <a16:creationId xmlns:a16="http://schemas.microsoft.com/office/drawing/2014/main" id="{2B7C7BD0-D2B7-C047-81FF-1FD2C4EE9A77}"/>
              </a:ext>
            </a:extLst>
          </p:cNvPr>
          <p:cNvSpPr/>
          <p:nvPr/>
        </p:nvSpPr>
        <p:spPr>
          <a:xfrm rot="10800000">
            <a:off x="640080" y="1417320"/>
            <a:ext cx="213360" cy="489204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B6CE5F5-1E0C-1241-906D-CDB9609EB0DB}"/>
              </a:ext>
            </a:extLst>
          </p:cNvPr>
          <p:cNvSpPr txBox="1"/>
          <p:nvPr/>
        </p:nvSpPr>
        <p:spPr>
          <a:xfrm>
            <a:off x="564659" y="1109543"/>
            <a:ext cx="364202" cy="307777"/>
          </a:xfrm>
          <a:prstGeom prst="rect">
            <a:avLst/>
          </a:prstGeom>
          <a:noFill/>
        </p:spPr>
        <p:txBody>
          <a:bodyPr wrap="none" rtlCol="0">
            <a:spAutoFit/>
          </a:bodyPr>
          <a:lstStyle/>
          <a:p>
            <a:r>
              <a:rPr kumimoji="1" lang="zh-CN" altLang="en-US" sz="1400" dirty="0"/>
              <a:t>高</a:t>
            </a:r>
            <a:endParaRPr kumimoji="1" lang="ja-JP" altLang="en-US" sz="1400" dirty="0"/>
          </a:p>
        </p:txBody>
      </p:sp>
      <p:sp>
        <p:nvSpPr>
          <p:cNvPr id="9" name="テキスト ボックス 8">
            <a:extLst>
              <a:ext uri="{FF2B5EF4-FFF2-40B4-BE49-F238E27FC236}">
                <a16:creationId xmlns:a16="http://schemas.microsoft.com/office/drawing/2014/main" id="{EF8EB00D-7BF8-0B46-BDA3-BE8B16DF29F3}"/>
              </a:ext>
            </a:extLst>
          </p:cNvPr>
          <p:cNvSpPr txBox="1"/>
          <p:nvPr/>
        </p:nvSpPr>
        <p:spPr>
          <a:xfrm>
            <a:off x="281467" y="2993730"/>
            <a:ext cx="461665" cy="1648688"/>
          </a:xfrm>
          <a:prstGeom prst="rect">
            <a:avLst/>
          </a:prstGeom>
          <a:noFill/>
        </p:spPr>
        <p:txBody>
          <a:bodyPr vert="eaVert" wrap="square" rtlCol="0">
            <a:spAutoFit/>
          </a:bodyPr>
          <a:lstStyle/>
          <a:p>
            <a:r>
              <a:rPr kumimoji="1" lang="zh-CN" altLang="en-US" dirty="0"/>
              <a:t>销售额</a:t>
            </a:r>
            <a:r>
              <a:rPr kumimoji="1" lang="en-US" altLang="zh-CN" dirty="0"/>
              <a:t>/</a:t>
            </a:r>
            <a:r>
              <a:rPr kumimoji="1" lang="zh-CN" altLang="en-US" dirty="0"/>
              <a:t>利润</a:t>
            </a:r>
            <a:endParaRPr kumimoji="1" lang="ja-JP" altLang="en-US" dirty="0"/>
          </a:p>
        </p:txBody>
      </p:sp>
      <p:sp>
        <p:nvSpPr>
          <p:cNvPr id="10" name="テキスト ボックス 9">
            <a:extLst>
              <a:ext uri="{FF2B5EF4-FFF2-40B4-BE49-F238E27FC236}">
                <a16:creationId xmlns:a16="http://schemas.microsoft.com/office/drawing/2014/main" id="{4E57829C-2852-704C-A067-0B9E190D6070}"/>
              </a:ext>
            </a:extLst>
          </p:cNvPr>
          <p:cNvSpPr txBox="1"/>
          <p:nvPr/>
        </p:nvSpPr>
        <p:spPr>
          <a:xfrm>
            <a:off x="575587" y="6287333"/>
            <a:ext cx="364202" cy="307777"/>
          </a:xfrm>
          <a:prstGeom prst="rect">
            <a:avLst/>
          </a:prstGeom>
          <a:noFill/>
        </p:spPr>
        <p:txBody>
          <a:bodyPr wrap="none" rtlCol="0">
            <a:spAutoFit/>
          </a:bodyPr>
          <a:lstStyle/>
          <a:p>
            <a:r>
              <a:rPr kumimoji="1" lang="zh-CN" altLang="en-US" sz="1400" dirty="0"/>
              <a:t>低</a:t>
            </a:r>
            <a:endParaRPr kumimoji="1" lang="ja-JP" altLang="en-US" sz="1400" dirty="0"/>
          </a:p>
        </p:txBody>
      </p:sp>
      <p:sp>
        <p:nvSpPr>
          <p:cNvPr id="11" name="下矢印 10">
            <a:extLst>
              <a:ext uri="{FF2B5EF4-FFF2-40B4-BE49-F238E27FC236}">
                <a16:creationId xmlns:a16="http://schemas.microsoft.com/office/drawing/2014/main" id="{D67F46EC-C38B-814F-A1E8-8D1C223F1189}"/>
              </a:ext>
            </a:extLst>
          </p:cNvPr>
          <p:cNvSpPr/>
          <p:nvPr/>
        </p:nvSpPr>
        <p:spPr>
          <a:xfrm rot="16200000">
            <a:off x="4976010" y="1395861"/>
            <a:ext cx="213360" cy="867911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8745DACB-6906-A24F-A133-06A75D22AA23}"/>
              </a:ext>
            </a:extLst>
          </p:cNvPr>
          <p:cNvSpPr txBox="1"/>
          <p:nvPr/>
        </p:nvSpPr>
        <p:spPr>
          <a:xfrm>
            <a:off x="4952999" y="5842099"/>
            <a:ext cx="646331" cy="369332"/>
          </a:xfrm>
          <a:prstGeom prst="rect">
            <a:avLst/>
          </a:prstGeom>
          <a:noFill/>
        </p:spPr>
        <p:txBody>
          <a:bodyPr wrap="none" rtlCol="0">
            <a:spAutoFit/>
          </a:bodyPr>
          <a:lstStyle/>
          <a:p>
            <a:r>
              <a:rPr kumimoji="1" lang="zh-CN" altLang="en-US" dirty="0"/>
              <a:t>时间</a:t>
            </a:r>
            <a:endParaRPr kumimoji="1" lang="ja-JP" altLang="en-US" dirty="0"/>
          </a:p>
        </p:txBody>
      </p:sp>
      <p:sp>
        <p:nvSpPr>
          <p:cNvPr id="13" name="テキスト ボックス 12">
            <a:extLst>
              <a:ext uri="{FF2B5EF4-FFF2-40B4-BE49-F238E27FC236}">
                <a16:creationId xmlns:a16="http://schemas.microsoft.com/office/drawing/2014/main" id="{B1D6A767-B58F-1A4D-8669-7B5FFC65DE45}"/>
              </a:ext>
            </a:extLst>
          </p:cNvPr>
          <p:cNvSpPr txBox="1"/>
          <p:nvPr/>
        </p:nvSpPr>
        <p:spPr>
          <a:xfrm>
            <a:off x="415568" y="5603051"/>
            <a:ext cx="276038" cy="307777"/>
          </a:xfrm>
          <a:prstGeom prst="rect">
            <a:avLst/>
          </a:prstGeom>
          <a:noFill/>
        </p:spPr>
        <p:txBody>
          <a:bodyPr wrap="none" rtlCol="0">
            <a:spAutoFit/>
          </a:bodyPr>
          <a:lstStyle/>
          <a:p>
            <a:r>
              <a:rPr kumimoji="1" lang="en-US" altLang="ja-JP" sz="1400" dirty="0"/>
              <a:t>0</a:t>
            </a:r>
            <a:endParaRPr kumimoji="1" lang="ja-JP" altLang="en-US" sz="1400"/>
          </a:p>
        </p:txBody>
      </p:sp>
      <p:sp>
        <p:nvSpPr>
          <p:cNvPr id="14" name="角丸四角形 13">
            <a:extLst>
              <a:ext uri="{FF2B5EF4-FFF2-40B4-BE49-F238E27FC236}">
                <a16:creationId xmlns:a16="http://schemas.microsoft.com/office/drawing/2014/main" id="{9464F9D5-9EB9-E942-81E9-EFA64F32CF38}"/>
              </a:ext>
            </a:extLst>
          </p:cNvPr>
          <p:cNvSpPr/>
          <p:nvPr/>
        </p:nvSpPr>
        <p:spPr>
          <a:xfrm>
            <a:off x="853441" y="1506868"/>
            <a:ext cx="2088233" cy="442434"/>
          </a:xfrm>
          <a:prstGeom prst="round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１</a:t>
            </a:r>
            <a:r>
              <a:rPr kumimoji="1" lang="zh-CN" altLang="en-US" dirty="0"/>
              <a:t>导入</a:t>
            </a:r>
            <a:r>
              <a:rPr kumimoji="1" lang="ja-JP" altLang="en-US" dirty="0"/>
              <a:t>期</a:t>
            </a:r>
          </a:p>
        </p:txBody>
      </p:sp>
      <p:sp>
        <p:nvSpPr>
          <p:cNvPr id="15" name="角丸四角形 14">
            <a:extLst>
              <a:ext uri="{FF2B5EF4-FFF2-40B4-BE49-F238E27FC236}">
                <a16:creationId xmlns:a16="http://schemas.microsoft.com/office/drawing/2014/main" id="{20D5DC14-BF33-764B-A9D5-98058BD7F098}"/>
              </a:ext>
            </a:extLst>
          </p:cNvPr>
          <p:cNvSpPr/>
          <p:nvPr/>
        </p:nvSpPr>
        <p:spPr>
          <a:xfrm>
            <a:off x="3009858" y="1513555"/>
            <a:ext cx="2088233" cy="442434"/>
          </a:xfrm>
          <a:prstGeom prst="round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２</a:t>
            </a:r>
            <a:r>
              <a:rPr kumimoji="1" lang="zh-CN" altLang="en-US" dirty="0"/>
              <a:t>成长</a:t>
            </a:r>
            <a:r>
              <a:rPr kumimoji="1" lang="ja-JP" altLang="en-US" dirty="0"/>
              <a:t>期</a:t>
            </a:r>
          </a:p>
        </p:txBody>
      </p:sp>
      <p:sp>
        <p:nvSpPr>
          <p:cNvPr id="16" name="角丸四角形 15">
            <a:extLst>
              <a:ext uri="{FF2B5EF4-FFF2-40B4-BE49-F238E27FC236}">
                <a16:creationId xmlns:a16="http://schemas.microsoft.com/office/drawing/2014/main" id="{1ADD86AE-E873-F141-B4D6-97D0A654E5DA}"/>
              </a:ext>
            </a:extLst>
          </p:cNvPr>
          <p:cNvSpPr/>
          <p:nvPr/>
        </p:nvSpPr>
        <p:spPr>
          <a:xfrm>
            <a:off x="5166275" y="1513555"/>
            <a:ext cx="2088233" cy="442434"/>
          </a:xfrm>
          <a:prstGeom prst="round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３成熟期</a:t>
            </a:r>
          </a:p>
        </p:txBody>
      </p:sp>
      <p:sp>
        <p:nvSpPr>
          <p:cNvPr id="17" name="角丸四角形 16">
            <a:extLst>
              <a:ext uri="{FF2B5EF4-FFF2-40B4-BE49-F238E27FC236}">
                <a16:creationId xmlns:a16="http://schemas.microsoft.com/office/drawing/2014/main" id="{799AC420-E54E-F04B-A6E8-0406B3686D67}"/>
              </a:ext>
            </a:extLst>
          </p:cNvPr>
          <p:cNvSpPr/>
          <p:nvPr/>
        </p:nvSpPr>
        <p:spPr>
          <a:xfrm>
            <a:off x="7334015" y="1513555"/>
            <a:ext cx="2088233" cy="442434"/>
          </a:xfrm>
          <a:prstGeom prst="round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４衰退期</a:t>
            </a:r>
          </a:p>
        </p:txBody>
      </p:sp>
      <p:cxnSp>
        <p:nvCxnSpPr>
          <p:cNvPr id="19" name="直線コネクタ 18">
            <a:extLst>
              <a:ext uri="{FF2B5EF4-FFF2-40B4-BE49-F238E27FC236}">
                <a16:creationId xmlns:a16="http://schemas.microsoft.com/office/drawing/2014/main" id="{1B49D60D-C7DC-D34F-90FA-FCAE17338DD7}"/>
              </a:ext>
            </a:extLst>
          </p:cNvPr>
          <p:cNvCxnSpPr/>
          <p:nvPr/>
        </p:nvCxnSpPr>
        <p:spPr>
          <a:xfrm flipV="1">
            <a:off x="2970026" y="1955989"/>
            <a:ext cx="0" cy="3647062"/>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20" name="直線コネクタ 19">
            <a:extLst>
              <a:ext uri="{FF2B5EF4-FFF2-40B4-BE49-F238E27FC236}">
                <a16:creationId xmlns:a16="http://schemas.microsoft.com/office/drawing/2014/main" id="{8240D922-D1AD-8240-AB19-C8907E91826E}"/>
              </a:ext>
            </a:extLst>
          </p:cNvPr>
          <p:cNvCxnSpPr/>
          <p:nvPr/>
        </p:nvCxnSpPr>
        <p:spPr>
          <a:xfrm flipV="1">
            <a:off x="5145011" y="1981676"/>
            <a:ext cx="0" cy="3647062"/>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21" name="直線コネクタ 20">
            <a:extLst>
              <a:ext uri="{FF2B5EF4-FFF2-40B4-BE49-F238E27FC236}">
                <a16:creationId xmlns:a16="http://schemas.microsoft.com/office/drawing/2014/main" id="{D1BF0137-34C2-3E4B-AA09-D2D77BB949BD}"/>
              </a:ext>
            </a:extLst>
          </p:cNvPr>
          <p:cNvCxnSpPr/>
          <p:nvPr/>
        </p:nvCxnSpPr>
        <p:spPr>
          <a:xfrm flipV="1">
            <a:off x="7312751" y="1998918"/>
            <a:ext cx="0" cy="3647062"/>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23" name="フリーフォーム 22">
            <a:extLst>
              <a:ext uri="{FF2B5EF4-FFF2-40B4-BE49-F238E27FC236}">
                <a16:creationId xmlns:a16="http://schemas.microsoft.com/office/drawing/2014/main" id="{448BAD75-FFE1-194B-9D6E-C9349E775D2D}"/>
              </a:ext>
            </a:extLst>
          </p:cNvPr>
          <p:cNvSpPr/>
          <p:nvPr/>
        </p:nvSpPr>
        <p:spPr>
          <a:xfrm>
            <a:off x="815163" y="2403640"/>
            <a:ext cx="8640725" cy="3252881"/>
          </a:xfrm>
          <a:custGeom>
            <a:avLst/>
            <a:gdLst>
              <a:gd name="connsiteX0" fmla="*/ 0 w 8640725"/>
              <a:gd name="connsiteY0" fmla="*/ 3252881 h 3252881"/>
              <a:gd name="connsiteX1" fmla="*/ 822251 w 8640725"/>
              <a:gd name="connsiteY1" fmla="*/ 3111113 h 3252881"/>
              <a:gd name="connsiteX2" fmla="*/ 1311349 w 8640725"/>
              <a:gd name="connsiteY2" fmla="*/ 2940993 h 3252881"/>
              <a:gd name="connsiteX3" fmla="*/ 1935125 w 8640725"/>
              <a:gd name="connsiteY3" fmla="*/ 2678723 h 3252881"/>
              <a:gd name="connsiteX4" fmla="*/ 2410046 w 8640725"/>
              <a:gd name="connsiteY4" fmla="*/ 2381011 h 3252881"/>
              <a:gd name="connsiteX5" fmla="*/ 2828260 w 8640725"/>
              <a:gd name="connsiteY5" fmla="*/ 1948620 h 3252881"/>
              <a:gd name="connsiteX6" fmla="*/ 3218121 w 8640725"/>
              <a:gd name="connsiteY6" fmla="*/ 1487876 h 3252881"/>
              <a:gd name="connsiteX7" fmla="*/ 3742660 w 8640725"/>
              <a:gd name="connsiteY7" fmla="*/ 906630 h 3252881"/>
              <a:gd name="connsiteX8" fmla="*/ 4203404 w 8640725"/>
              <a:gd name="connsiteY8" fmla="*/ 552211 h 3252881"/>
              <a:gd name="connsiteX9" fmla="*/ 4827181 w 8640725"/>
              <a:gd name="connsiteY9" fmla="*/ 211969 h 3252881"/>
              <a:gd name="connsiteX10" fmla="*/ 5663609 w 8640725"/>
              <a:gd name="connsiteY10" fmla="*/ 20583 h 3252881"/>
              <a:gd name="connsiteX11" fmla="*/ 6315739 w 8640725"/>
              <a:gd name="connsiteY11" fmla="*/ 27672 h 3252881"/>
              <a:gd name="connsiteX12" fmla="*/ 6896986 w 8640725"/>
              <a:gd name="connsiteY12" fmla="*/ 219058 h 3252881"/>
              <a:gd name="connsiteX13" fmla="*/ 7471144 w 8640725"/>
              <a:gd name="connsiteY13" fmla="*/ 616007 h 3252881"/>
              <a:gd name="connsiteX14" fmla="*/ 8016949 w 8640725"/>
              <a:gd name="connsiteY14" fmla="*/ 1119281 h 3252881"/>
              <a:gd name="connsiteX15" fmla="*/ 8272130 w 8640725"/>
              <a:gd name="connsiteY15" fmla="*/ 1381551 h 3252881"/>
              <a:gd name="connsiteX16" fmla="*/ 8640725 w 8640725"/>
              <a:gd name="connsiteY16" fmla="*/ 1785588 h 325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40725" h="3252881">
                <a:moveTo>
                  <a:pt x="0" y="3252881"/>
                </a:moveTo>
                <a:cubicBezTo>
                  <a:pt x="301846" y="3207987"/>
                  <a:pt x="603693" y="3163094"/>
                  <a:pt x="822251" y="3111113"/>
                </a:cubicBezTo>
                <a:cubicBezTo>
                  <a:pt x="1040809" y="3059132"/>
                  <a:pt x="1125870" y="3013058"/>
                  <a:pt x="1311349" y="2940993"/>
                </a:cubicBezTo>
                <a:cubicBezTo>
                  <a:pt x="1496828" y="2868928"/>
                  <a:pt x="1752009" y="2772053"/>
                  <a:pt x="1935125" y="2678723"/>
                </a:cubicBezTo>
                <a:cubicBezTo>
                  <a:pt x="2118241" y="2585393"/>
                  <a:pt x="2261190" y="2502695"/>
                  <a:pt x="2410046" y="2381011"/>
                </a:cubicBezTo>
                <a:cubicBezTo>
                  <a:pt x="2558902" y="2259327"/>
                  <a:pt x="2693581" y="2097476"/>
                  <a:pt x="2828260" y="1948620"/>
                </a:cubicBezTo>
                <a:cubicBezTo>
                  <a:pt x="2962939" y="1799764"/>
                  <a:pt x="3065721" y="1661541"/>
                  <a:pt x="3218121" y="1487876"/>
                </a:cubicBezTo>
                <a:cubicBezTo>
                  <a:pt x="3370521" y="1314211"/>
                  <a:pt x="3578446" y="1062574"/>
                  <a:pt x="3742660" y="906630"/>
                </a:cubicBezTo>
                <a:cubicBezTo>
                  <a:pt x="3906874" y="750686"/>
                  <a:pt x="4022651" y="667988"/>
                  <a:pt x="4203404" y="552211"/>
                </a:cubicBezTo>
                <a:cubicBezTo>
                  <a:pt x="4384157" y="436434"/>
                  <a:pt x="4583814" y="300574"/>
                  <a:pt x="4827181" y="211969"/>
                </a:cubicBezTo>
                <a:cubicBezTo>
                  <a:pt x="5070548" y="123364"/>
                  <a:pt x="5415516" y="51299"/>
                  <a:pt x="5663609" y="20583"/>
                </a:cubicBezTo>
                <a:cubicBezTo>
                  <a:pt x="5911702" y="-10133"/>
                  <a:pt x="6110176" y="-5407"/>
                  <a:pt x="6315739" y="27672"/>
                </a:cubicBezTo>
                <a:cubicBezTo>
                  <a:pt x="6521302" y="60751"/>
                  <a:pt x="6704419" y="121002"/>
                  <a:pt x="6896986" y="219058"/>
                </a:cubicBezTo>
                <a:cubicBezTo>
                  <a:pt x="7089554" y="317114"/>
                  <a:pt x="7284484" y="465970"/>
                  <a:pt x="7471144" y="616007"/>
                </a:cubicBezTo>
                <a:cubicBezTo>
                  <a:pt x="7657804" y="766044"/>
                  <a:pt x="7883451" y="991690"/>
                  <a:pt x="8016949" y="1119281"/>
                </a:cubicBezTo>
                <a:cubicBezTo>
                  <a:pt x="8150447" y="1246872"/>
                  <a:pt x="8168167" y="1270500"/>
                  <a:pt x="8272130" y="1381551"/>
                </a:cubicBezTo>
                <a:cubicBezTo>
                  <a:pt x="8376093" y="1492602"/>
                  <a:pt x="8508409" y="1639095"/>
                  <a:pt x="8640725" y="1785588"/>
                </a:cubicBezTo>
              </a:path>
            </a:pathLst>
          </a:custGeom>
          <a:ln w="57150">
            <a:solidFill>
              <a:schemeClr val="accent3"/>
            </a:solidFill>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24" name="フリーフォーム 23">
            <a:extLst>
              <a:ext uri="{FF2B5EF4-FFF2-40B4-BE49-F238E27FC236}">
                <a16:creationId xmlns:a16="http://schemas.microsoft.com/office/drawing/2014/main" id="{1039F837-8BB6-D149-B1C9-E9DA1F0EC459}"/>
              </a:ext>
            </a:extLst>
          </p:cNvPr>
          <p:cNvSpPr/>
          <p:nvPr/>
        </p:nvSpPr>
        <p:spPr>
          <a:xfrm>
            <a:off x="815163" y="4437317"/>
            <a:ext cx="8654902" cy="1765009"/>
          </a:xfrm>
          <a:custGeom>
            <a:avLst/>
            <a:gdLst>
              <a:gd name="connsiteX0" fmla="*/ 0 w 8654902"/>
              <a:gd name="connsiteY0" fmla="*/ 1765009 h 1765009"/>
              <a:gd name="connsiteX1" fmla="*/ 1431851 w 8654902"/>
              <a:gd name="connsiteY1" fmla="*/ 1481474 h 1765009"/>
              <a:gd name="connsiteX2" fmla="*/ 2232837 w 8654902"/>
              <a:gd name="connsiteY2" fmla="*/ 1176674 h 1765009"/>
              <a:gd name="connsiteX3" fmla="*/ 3289004 w 8654902"/>
              <a:gd name="connsiteY3" fmla="*/ 737195 h 1765009"/>
              <a:gd name="connsiteX4" fmla="*/ 4387702 w 8654902"/>
              <a:gd name="connsiteY4" fmla="*/ 354423 h 1765009"/>
              <a:gd name="connsiteX5" fmla="*/ 5465135 w 8654902"/>
              <a:gd name="connsiteY5" fmla="*/ 49623 h 1765009"/>
              <a:gd name="connsiteX6" fmla="*/ 6337004 w 8654902"/>
              <a:gd name="connsiteY6" fmla="*/ 7092 h 1765009"/>
              <a:gd name="connsiteX7" fmla="*/ 6840279 w 8654902"/>
              <a:gd name="connsiteY7" fmla="*/ 120506 h 1765009"/>
              <a:gd name="connsiteX8" fmla="*/ 7605823 w 8654902"/>
              <a:gd name="connsiteY8" fmla="*/ 396953 h 1765009"/>
              <a:gd name="connsiteX9" fmla="*/ 8038214 w 8654902"/>
              <a:gd name="connsiteY9" fmla="*/ 616692 h 1765009"/>
              <a:gd name="connsiteX10" fmla="*/ 8654902 w 8654902"/>
              <a:gd name="connsiteY10" fmla="*/ 1020730 h 1765009"/>
              <a:gd name="connsiteX11" fmla="*/ 8654902 w 8654902"/>
              <a:gd name="connsiteY11" fmla="*/ 1020730 h 1765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54902" h="1765009">
                <a:moveTo>
                  <a:pt x="0" y="1765009"/>
                </a:moveTo>
                <a:cubicBezTo>
                  <a:pt x="529856" y="1672269"/>
                  <a:pt x="1059712" y="1579530"/>
                  <a:pt x="1431851" y="1481474"/>
                </a:cubicBezTo>
                <a:cubicBezTo>
                  <a:pt x="1803990" y="1383418"/>
                  <a:pt x="1923312" y="1300720"/>
                  <a:pt x="2232837" y="1176674"/>
                </a:cubicBezTo>
                <a:cubicBezTo>
                  <a:pt x="2542362" y="1052628"/>
                  <a:pt x="2929860" y="874237"/>
                  <a:pt x="3289004" y="737195"/>
                </a:cubicBezTo>
                <a:cubicBezTo>
                  <a:pt x="3648148" y="600153"/>
                  <a:pt x="4025014" y="469018"/>
                  <a:pt x="4387702" y="354423"/>
                </a:cubicBezTo>
                <a:cubicBezTo>
                  <a:pt x="4750390" y="239828"/>
                  <a:pt x="5140251" y="107511"/>
                  <a:pt x="5465135" y="49623"/>
                </a:cubicBezTo>
                <a:cubicBezTo>
                  <a:pt x="5790019" y="-8266"/>
                  <a:pt x="6107814" y="-4722"/>
                  <a:pt x="6337004" y="7092"/>
                </a:cubicBezTo>
                <a:cubicBezTo>
                  <a:pt x="6566194" y="18906"/>
                  <a:pt x="6628809" y="55529"/>
                  <a:pt x="6840279" y="120506"/>
                </a:cubicBezTo>
                <a:cubicBezTo>
                  <a:pt x="7051749" y="185483"/>
                  <a:pt x="7406167" y="314255"/>
                  <a:pt x="7605823" y="396953"/>
                </a:cubicBezTo>
                <a:cubicBezTo>
                  <a:pt x="7805479" y="479651"/>
                  <a:pt x="7863368" y="512729"/>
                  <a:pt x="8038214" y="616692"/>
                </a:cubicBezTo>
                <a:cubicBezTo>
                  <a:pt x="8213060" y="720655"/>
                  <a:pt x="8654902" y="1020730"/>
                  <a:pt x="8654902" y="1020730"/>
                </a:cubicBezTo>
                <a:lnTo>
                  <a:pt x="8654902" y="1020730"/>
                </a:lnTo>
              </a:path>
            </a:pathLst>
          </a:custGeom>
          <a:ln w="38100">
            <a:solidFill>
              <a:schemeClr val="accent3"/>
            </a:solidFill>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A856A31-EE62-A24A-BE1B-ED4670BF2765}"/>
              </a:ext>
            </a:extLst>
          </p:cNvPr>
          <p:cNvSpPr txBox="1"/>
          <p:nvPr/>
        </p:nvSpPr>
        <p:spPr>
          <a:xfrm>
            <a:off x="8295167" y="2775022"/>
            <a:ext cx="877163" cy="369332"/>
          </a:xfrm>
          <a:prstGeom prst="rect">
            <a:avLst/>
          </a:prstGeom>
          <a:noFill/>
        </p:spPr>
        <p:txBody>
          <a:bodyPr wrap="none" rtlCol="0">
            <a:spAutoFit/>
          </a:bodyPr>
          <a:lstStyle/>
          <a:p>
            <a:r>
              <a:rPr kumimoji="1" lang="zh-CN" altLang="en-US" dirty="0"/>
              <a:t>销售额</a:t>
            </a:r>
            <a:endParaRPr kumimoji="1" lang="ja-JP" altLang="en-US" dirty="0"/>
          </a:p>
        </p:txBody>
      </p:sp>
      <p:sp>
        <p:nvSpPr>
          <p:cNvPr id="26" name="テキスト ボックス 25">
            <a:extLst>
              <a:ext uri="{FF2B5EF4-FFF2-40B4-BE49-F238E27FC236}">
                <a16:creationId xmlns:a16="http://schemas.microsoft.com/office/drawing/2014/main" id="{7FF743B2-7AE2-264C-86BF-80851165566E}"/>
              </a:ext>
            </a:extLst>
          </p:cNvPr>
          <p:cNvSpPr txBox="1"/>
          <p:nvPr/>
        </p:nvSpPr>
        <p:spPr>
          <a:xfrm>
            <a:off x="7786018" y="4863758"/>
            <a:ext cx="646331" cy="369332"/>
          </a:xfrm>
          <a:prstGeom prst="rect">
            <a:avLst/>
          </a:prstGeom>
          <a:noFill/>
        </p:spPr>
        <p:txBody>
          <a:bodyPr wrap="none" rtlCol="0">
            <a:spAutoFit/>
          </a:bodyPr>
          <a:lstStyle/>
          <a:p>
            <a:r>
              <a:rPr kumimoji="1" lang="zh-CN" altLang="en-US" dirty="0"/>
              <a:t>利润</a:t>
            </a:r>
            <a:endParaRPr kumimoji="1" lang="ja-JP" altLang="en-US" dirty="0"/>
          </a:p>
        </p:txBody>
      </p:sp>
      <p:sp>
        <p:nvSpPr>
          <p:cNvPr id="28" name="正方形/長方形 27">
            <a:extLst>
              <a:ext uri="{FF2B5EF4-FFF2-40B4-BE49-F238E27FC236}">
                <a16:creationId xmlns:a16="http://schemas.microsoft.com/office/drawing/2014/main" id="{55E91C23-0AEF-EF49-B896-1539ADAEAD67}"/>
              </a:ext>
            </a:extLst>
          </p:cNvPr>
          <p:cNvSpPr/>
          <p:nvPr/>
        </p:nvSpPr>
        <p:spPr>
          <a:xfrm>
            <a:off x="1111103" y="2278631"/>
            <a:ext cx="1572908" cy="41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000" dirty="0">
                <a:solidFill>
                  <a:sysClr val="windowText" lastClr="000000"/>
                </a:solidFill>
              </a:rPr>
              <a:t>市场规模→高增长</a:t>
            </a:r>
          </a:p>
          <a:p>
            <a:r>
              <a:rPr kumimoji="1" lang="zh-CN" altLang="en-US" sz="1000" dirty="0">
                <a:solidFill>
                  <a:sysClr val="windowText" lastClr="000000"/>
                </a:solidFill>
              </a:rPr>
              <a:t>竞争对手→几乎没有</a:t>
            </a:r>
            <a:endParaRPr kumimoji="1" lang="ja-JP" altLang="en-US" sz="1000" dirty="0">
              <a:solidFill>
                <a:sysClr val="windowText" lastClr="000000"/>
              </a:solidFill>
            </a:endParaRPr>
          </a:p>
        </p:txBody>
      </p:sp>
      <p:sp>
        <p:nvSpPr>
          <p:cNvPr id="29" name="正方形/長方形 28">
            <a:extLst>
              <a:ext uri="{FF2B5EF4-FFF2-40B4-BE49-F238E27FC236}">
                <a16:creationId xmlns:a16="http://schemas.microsoft.com/office/drawing/2014/main" id="{42419F62-2270-DD40-8F59-264120FE3E48}"/>
              </a:ext>
            </a:extLst>
          </p:cNvPr>
          <p:cNvSpPr/>
          <p:nvPr/>
        </p:nvSpPr>
        <p:spPr>
          <a:xfrm>
            <a:off x="3267442" y="2278632"/>
            <a:ext cx="1572908" cy="41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000" dirty="0">
                <a:solidFill>
                  <a:sysClr val="windowText" lastClr="000000"/>
                </a:solidFill>
              </a:rPr>
              <a:t>市场规模→高增长</a:t>
            </a:r>
          </a:p>
          <a:p>
            <a:r>
              <a:rPr kumimoji="1" lang="zh-CN" altLang="en-US" sz="1000" dirty="0">
                <a:solidFill>
                  <a:sysClr val="windowText" lastClr="000000"/>
                </a:solidFill>
              </a:rPr>
              <a:t>竞争对手→增加</a:t>
            </a:r>
            <a:endParaRPr kumimoji="1" lang="ja-JP" altLang="en-US" sz="1000" dirty="0">
              <a:solidFill>
                <a:sysClr val="windowText" lastClr="000000"/>
              </a:solidFill>
            </a:endParaRPr>
          </a:p>
        </p:txBody>
      </p:sp>
      <p:sp>
        <p:nvSpPr>
          <p:cNvPr id="30" name="正方形/長方形 29">
            <a:extLst>
              <a:ext uri="{FF2B5EF4-FFF2-40B4-BE49-F238E27FC236}">
                <a16:creationId xmlns:a16="http://schemas.microsoft.com/office/drawing/2014/main" id="{8DEFACDA-F867-AF44-AD42-A721CA5068A7}"/>
              </a:ext>
            </a:extLst>
          </p:cNvPr>
          <p:cNvSpPr/>
          <p:nvPr/>
        </p:nvSpPr>
        <p:spPr>
          <a:xfrm>
            <a:off x="5430126" y="3140568"/>
            <a:ext cx="1572908" cy="41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000" dirty="0">
                <a:solidFill>
                  <a:sysClr val="windowText" lastClr="000000"/>
                </a:solidFill>
              </a:rPr>
              <a:t>市场规模→低增长</a:t>
            </a:r>
          </a:p>
          <a:p>
            <a:r>
              <a:rPr kumimoji="1" lang="zh-CN" altLang="en-US" sz="1000" dirty="0">
                <a:solidFill>
                  <a:sysClr val="windowText" lastClr="000000"/>
                </a:solidFill>
              </a:rPr>
              <a:t>竞争对手→多</a:t>
            </a:r>
            <a:endParaRPr kumimoji="1" lang="ja-JP" altLang="en-US" sz="1000" dirty="0">
              <a:solidFill>
                <a:sysClr val="windowText" lastClr="000000"/>
              </a:solidFill>
            </a:endParaRPr>
          </a:p>
        </p:txBody>
      </p:sp>
      <p:sp>
        <p:nvSpPr>
          <p:cNvPr id="31" name="正方形/長方形 30">
            <a:extLst>
              <a:ext uri="{FF2B5EF4-FFF2-40B4-BE49-F238E27FC236}">
                <a16:creationId xmlns:a16="http://schemas.microsoft.com/office/drawing/2014/main" id="{39201610-2133-384E-A3CE-946CDA29F820}"/>
              </a:ext>
            </a:extLst>
          </p:cNvPr>
          <p:cNvSpPr/>
          <p:nvPr/>
        </p:nvSpPr>
        <p:spPr>
          <a:xfrm>
            <a:off x="7587734" y="3934855"/>
            <a:ext cx="1572908" cy="41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000" dirty="0">
                <a:solidFill>
                  <a:sysClr val="windowText" lastClr="000000"/>
                </a:solidFill>
              </a:rPr>
              <a:t>市场规模→低增长</a:t>
            </a:r>
          </a:p>
          <a:p>
            <a:r>
              <a:rPr kumimoji="1" lang="zh-CN" altLang="en-US" sz="1000" dirty="0">
                <a:solidFill>
                  <a:sysClr val="windowText" lastClr="000000"/>
                </a:solidFill>
              </a:rPr>
              <a:t>竞争对手→减少</a:t>
            </a:r>
            <a:endParaRPr kumimoji="1" lang="ja-JP" altLang="en-US" sz="1000" dirty="0">
              <a:solidFill>
                <a:sysClr val="windowText" lastClr="000000"/>
              </a:solidFill>
            </a:endParaRPr>
          </a:p>
        </p:txBody>
      </p:sp>
    </p:spTree>
    <p:extLst>
      <p:ext uri="{BB962C8B-B14F-4D97-AF65-F5344CB8AC3E}">
        <p14:creationId xmlns:p14="http://schemas.microsoft.com/office/powerpoint/2010/main" val="919345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fontScale="90000"/>
          </a:bodyPr>
          <a:lstStyle/>
          <a:p>
            <a:pPr algn="l"/>
            <a:r>
              <a:rPr lang="en-US" altLang="ja-JP" sz="2600" dirty="0">
                <a:solidFill>
                  <a:schemeClr val="bg1"/>
                </a:solidFill>
              </a:rPr>
              <a:t>29</a:t>
            </a:r>
            <a:r>
              <a:rPr lang="ja-JP" altLang="en-US" sz="2600" dirty="0">
                <a:solidFill>
                  <a:schemeClr val="bg1"/>
                </a:solidFill>
              </a:rPr>
              <a:t>　ＡＩＤＭＡ</a:t>
            </a:r>
            <a:r>
              <a:rPr lang="zh-CN" altLang="en-US" sz="2600" dirty="0">
                <a:solidFill>
                  <a:schemeClr val="bg1"/>
                </a:solidFill>
              </a:rPr>
              <a:t>模型</a:t>
            </a:r>
            <a:r>
              <a:rPr lang="ja-JP" altLang="en-US" sz="10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120</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企业根据顾客从发现新商品到购买的流程，思考促销的方法</a:t>
            </a:r>
            <a:endParaRPr lang="en-US" altLang="ja-JP" sz="1138" dirty="0"/>
          </a:p>
        </p:txBody>
      </p:sp>
      <p:graphicFrame>
        <p:nvGraphicFramePr>
          <p:cNvPr id="6" name="表 6">
            <a:extLst>
              <a:ext uri="{FF2B5EF4-FFF2-40B4-BE49-F238E27FC236}">
                <a16:creationId xmlns:a16="http://schemas.microsoft.com/office/drawing/2014/main" id="{180CAF99-9B8E-EA44-9E64-A7F5888C3340}"/>
              </a:ext>
            </a:extLst>
          </p:cNvPr>
          <p:cNvGraphicFramePr>
            <a:graphicFrameLocks noGrp="1"/>
          </p:cNvGraphicFramePr>
          <p:nvPr>
            <p:extLst>
              <p:ext uri="{D42A27DB-BD31-4B8C-83A1-F6EECF244321}">
                <p14:modId xmlns:p14="http://schemas.microsoft.com/office/powerpoint/2010/main" val="365180031"/>
              </p:ext>
            </p:extLst>
          </p:nvPr>
        </p:nvGraphicFramePr>
        <p:xfrm>
          <a:off x="354053" y="1066800"/>
          <a:ext cx="9197895" cy="5433059"/>
        </p:xfrm>
        <a:graphic>
          <a:graphicData uri="http://schemas.openxmlformats.org/drawingml/2006/table">
            <a:tbl>
              <a:tblPr>
                <a:tableStyleId>{1FECB4D8-DB02-4DC6-A0A2-4F2EBAE1DC90}</a:tableStyleId>
              </a:tblPr>
              <a:tblGrid>
                <a:gridCol w="2290088">
                  <a:extLst>
                    <a:ext uri="{9D8B030D-6E8A-4147-A177-3AD203B41FA5}">
                      <a16:colId xmlns:a16="http://schemas.microsoft.com/office/drawing/2014/main" val="2351902906"/>
                    </a:ext>
                  </a:extLst>
                </a:gridCol>
                <a:gridCol w="2148840">
                  <a:extLst>
                    <a:ext uri="{9D8B030D-6E8A-4147-A177-3AD203B41FA5}">
                      <a16:colId xmlns:a16="http://schemas.microsoft.com/office/drawing/2014/main" val="1229475910"/>
                    </a:ext>
                  </a:extLst>
                </a:gridCol>
                <a:gridCol w="4758967">
                  <a:extLst>
                    <a:ext uri="{9D8B030D-6E8A-4147-A177-3AD203B41FA5}">
                      <a16:colId xmlns:a16="http://schemas.microsoft.com/office/drawing/2014/main" val="2180546754"/>
                    </a:ext>
                  </a:extLst>
                </a:gridCol>
              </a:tblGrid>
              <a:tr h="474922">
                <a:tc>
                  <a:txBody>
                    <a:bodyPr/>
                    <a:lstStyle/>
                    <a:p>
                      <a:pPr algn="ctr"/>
                      <a:r>
                        <a:rPr kumimoji="1" lang="zh-CN" altLang="en-US" dirty="0"/>
                        <a:t>购买流程</a:t>
                      </a:r>
                      <a:endParaRPr kumimoji="1" lang="ja-JP"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r>
                        <a:rPr kumimoji="1" lang="zh-CN" altLang="en-US" dirty="0"/>
                        <a:t>购买行为</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r>
                        <a:rPr kumimoji="1" lang="zh-CN" altLang="en-US" dirty="0"/>
                        <a:t>对应策略</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2908858506"/>
                  </a:ext>
                </a:extLst>
              </a:tr>
              <a:tr h="1097771">
                <a:tc>
                  <a:txBody>
                    <a:bodyPr/>
                    <a:lstStyle/>
                    <a:p>
                      <a:pPr algn="ctr"/>
                      <a:r>
                        <a:rPr kumimoji="1" lang="en-US" altLang="ja-JP" dirty="0"/>
                        <a:t>Attention</a:t>
                      </a:r>
                    </a:p>
                    <a:p>
                      <a:pPr algn="ctr"/>
                      <a:r>
                        <a:rPr kumimoji="1" lang="zh-CN" altLang="en-US" dirty="0"/>
                        <a:t>引起注意</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dirty="0"/>
                        <a:t>认知</a:t>
                      </a:r>
                      <a:endParaRPr kumimoji="1" lang="ja-JP" altLang="en-US" dirty="0"/>
                    </a:p>
                  </a:txBody>
                  <a:tcPr anchor="ctr">
                    <a:lnL w="12700" cap="flat" cmpd="sng" algn="ctr">
                      <a:solidFill>
                        <a:schemeClr val="bg1"/>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nchor="ctr"/>
                </a:tc>
                <a:extLst>
                  <a:ext uri="{0D108BD9-81ED-4DB2-BD59-A6C34878D82A}">
                    <a16:rowId xmlns:a16="http://schemas.microsoft.com/office/drawing/2014/main" val="1679950324"/>
                  </a:ext>
                </a:extLst>
              </a:tr>
              <a:tr h="949845">
                <a:tc>
                  <a:txBody>
                    <a:bodyPr/>
                    <a:lstStyle/>
                    <a:p>
                      <a:pPr algn="ctr"/>
                      <a:r>
                        <a:rPr kumimoji="1" lang="en-US" altLang="ja-JP" dirty="0"/>
                        <a:t>Interest</a:t>
                      </a:r>
                    </a:p>
                    <a:p>
                      <a:pPr algn="ctr"/>
                      <a:r>
                        <a:rPr kumimoji="1" lang="zh-CN" altLang="en-US" dirty="0"/>
                        <a:t>产生兴趣</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kumimoji="1" lang="ja-JP" altLang="en-US"/>
                        <a:t>理解</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nchor="ctr"/>
                </a:tc>
                <a:extLst>
                  <a:ext uri="{0D108BD9-81ED-4DB2-BD59-A6C34878D82A}">
                    <a16:rowId xmlns:a16="http://schemas.microsoft.com/office/drawing/2014/main" val="711531114"/>
                  </a:ext>
                </a:extLst>
              </a:tr>
              <a:tr h="1004344">
                <a:tc>
                  <a:txBody>
                    <a:bodyPr/>
                    <a:lstStyle/>
                    <a:p>
                      <a:pPr algn="ctr"/>
                      <a:r>
                        <a:rPr kumimoji="1" lang="en-US" altLang="ja-JP" dirty="0"/>
                        <a:t>Desire</a:t>
                      </a:r>
                    </a:p>
                    <a:p>
                      <a:pPr algn="ctr"/>
                      <a:r>
                        <a:rPr kumimoji="1" lang="zh-CN" altLang="en-US" dirty="0"/>
                        <a:t>激发欲望</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dirty="0"/>
                        <a:t>吸引</a:t>
                      </a:r>
                      <a:r>
                        <a:rPr kumimoji="1" lang="ja-JP" altLang="en-US" dirty="0"/>
                        <a:t>／</a:t>
                      </a:r>
                      <a:endParaRPr kumimoji="1" lang="en-US" altLang="ja-JP" dirty="0"/>
                    </a:p>
                    <a:p>
                      <a:pPr algn="ctr"/>
                      <a:r>
                        <a:rPr kumimoji="1" lang="zh-CN" altLang="en-US" dirty="0"/>
                        <a:t>购买</a:t>
                      </a:r>
                      <a:r>
                        <a:rPr kumimoji="1" lang="ja-JP" altLang="en-US" dirty="0"/>
                        <a:t>意向</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nchor="ctr"/>
                </a:tc>
                <a:extLst>
                  <a:ext uri="{0D108BD9-81ED-4DB2-BD59-A6C34878D82A}">
                    <a16:rowId xmlns:a16="http://schemas.microsoft.com/office/drawing/2014/main" val="1588414742"/>
                  </a:ext>
                </a:extLst>
              </a:tr>
              <a:tr h="980987">
                <a:tc>
                  <a:txBody>
                    <a:bodyPr/>
                    <a:lstStyle/>
                    <a:p>
                      <a:pPr algn="ctr"/>
                      <a:r>
                        <a:rPr kumimoji="1" lang="en-US" altLang="ja-JP" dirty="0"/>
                        <a:t>Memory</a:t>
                      </a:r>
                    </a:p>
                    <a:p>
                      <a:pPr algn="ctr"/>
                      <a:r>
                        <a:rPr kumimoji="1" lang="zh-CN" altLang="en-US" dirty="0"/>
                        <a:t>留下记忆</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dirty="0"/>
                        <a:t>评价</a:t>
                      </a:r>
                      <a:endParaRPr kumimoji="1" lang="ja-JP"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nchor="ctr"/>
                </a:tc>
                <a:extLst>
                  <a:ext uri="{0D108BD9-81ED-4DB2-BD59-A6C34878D82A}">
                    <a16:rowId xmlns:a16="http://schemas.microsoft.com/office/drawing/2014/main" val="2537496513"/>
                  </a:ext>
                </a:extLst>
              </a:tr>
              <a:tr h="925190">
                <a:tc>
                  <a:txBody>
                    <a:bodyPr/>
                    <a:lstStyle/>
                    <a:p>
                      <a:pPr algn="ctr"/>
                      <a:r>
                        <a:rPr kumimoji="1" lang="en-US" altLang="ja-JP" dirty="0"/>
                        <a:t>Action</a:t>
                      </a:r>
                    </a:p>
                    <a:p>
                      <a:pPr algn="ctr"/>
                      <a:r>
                        <a:rPr kumimoji="1" lang="zh-CN" altLang="en-US" dirty="0"/>
                        <a:t>购买行动</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dirty="0"/>
                        <a:t>决策</a:t>
                      </a:r>
                      <a:endParaRPr kumimoji="1" lang="ja-JP"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endParaRPr kumimoji="1" lang="ja-JP" altLang="en-US" dirty="0"/>
                    </a:p>
                  </a:txBody>
                  <a:tcPr anchor="ctr"/>
                </a:tc>
                <a:extLst>
                  <a:ext uri="{0D108BD9-81ED-4DB2-BD59-A6C34878D82A}">
                    <a16:rowId xmlns:a16="http://schemas.microsoft.com/office/drawing/2014/main" val="1561906473"/>
                  </a:ext>
                </a:extLst>
              </a:tr>
            </a:tbl>
          </a:graphicData>
        </a:graphic>
      </p:graphicFrame>
      <p:sp>
        <p:nvSpPr>
          <p:cNvPr id="7" name="三角形 6">
            <a:extLst>
              <a:ext uri="{FF2B5EF4-FFF2-40B4-BE49-F238E27FC236}">
                <a16:creationId xmlns:a16="http://schemas.microsoft.com/office/drawing/2014/main" id="{4C942613-EB89-3244-BEA1-8F483D06B37A}"/>
              </a:ext>
            </a:extLst>
          </p:cNvPr>
          <p:cNvSpPr/>
          <p:nvPr/>
        </p:nvSpPr>
        <p:spPr>
          <a:xfrm rot="10800000">
            <a:off x="1293355" y="256885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三角形 7">
            <a:extLst>
              <a:ext uri="{FF2B5EF4-FFF2-40B4-BE49-F238E27FC236}">
                <a16:creationId xmlns:a16="http://schemas.microsoft.com/office/drawing/2014/main" id="{346A2E33-D4E1-EC41-9D78-6645F177B35E}"/>
              </a:ext>
            </a:extLst>
          </p:cNvPr>
          <p:cNvSpPr/>
          <p:nvPr/>
        </p:nvSpPr>
        <p:spPr>
          <a:xfrm rot="10800000">
            <a:off x="3503155" y="256885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三角形 8">
            <a:extLst>
              <a:ext uri="{FF2B5EF4-FFF2-40B4-BE49-F238E27FC236}">
                <a16:creationId xmlns:a16="http://schemas.microsoft.com/office/drawing/2014/main" id="{42B047E8-1B6B-F843-B010-89A672A0C275}"/>
              </a:ext>
            </a:extLst>
          </p:cNvPr>
          <p:cNvSpPr/>
          <p:nvPr/>
        </p:nvSpPr>
        <p:spPr>
          <a:xfrm rot="10800000">
            <a:off x="1291309" y="350611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三角形 9">
            <a:extLst>
              <a:ext uri="{FF2B5EF4-FFF2-40B4-BE49-F238E27FC236}">
                <a16:creationId xmlns:a16="http://schemas.microsoft.com/office/drawing/2014/main" id="{CA1479A0-CF60-1344-A671-323BFC5EDE17}"/>
              </a:ext>
            </a:extLst>
          </p:cNvPr>
          <p:cNvSpPr/>
          <p:nvPr/>
        </p:nvSpPr>
        <p:spPr>
          <a:xfrm rot="10800000">
            <a:off x="3501109" y="350611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三角形 10">
            <a:extLst>
              <a:ext uri="{FF2B5EF4-FFF2-40B4-BE49-F238E27FC236}">
                <a16:creationId xmlns:a16="http://schemas.microsoft.com/office/drawing/2014/main" id="{A3B6E015-6994-0149-8C97-FB16DB8E1453}"/>
              </a:ext>
            </a:extLst>
          </p:cNvPr>
          <p:cNvSpPr/>
          <p:nvPr/>
        </p:nvSpPr>
        <p:spPr>
          <a:xfrm rot="10800000">
            <a:off x="1291308" y="4534354"/>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三角形 11">
            <a:extLst>
              <a:ext uri="{FF2B5EF4-FFF2-40B4-BE49-F238E27FC236}">
                <a16:creationId xmlns:a16="http://schemas.microsoft.com/office/drawing/2014/main" id="{FCB36CAE-74F6-4D4D-B114-C4021BCB338A}"/>
              </a:ext>
            </a:extLst>
          </p:cNvPr>
          <p:cNvSpPr/>
          <p:nvPr/>
        </p:nvSpPr>
        <p:spPr>
          <a:xfrm rot="10800000">
            <a:off x="3501108" y="4534354"/>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三角形 12">
            <a:extLst>
              <a:ext uri="{FF2B5EF4-FFF2-40B4-BE49-F238E27FC236}">
                <a16:creationId xmlns:a16="http://schemas.microsoft.com/office/drawing/2014/main" id="{2149BA9E-3E87-484C-BC02-DBE038132AB3}"/>
              </a:ext>
            </a:extLst>
          </p:cNvPr>
          <p:cNvSpPr/>
          <p:nvPr/>
        </p:nvSpPr>
        <p:spPr>
          <a:xfrm rot="10800000">
            <a:off x="1291307" y="5501294"/>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三角形 13">
            <a:extLst>
              <a:ext uri="{FF2B5EF4-FFF2-40B4-BE49-F238E27FC236}">
                <a16:creationId xmlns:a16="http://schemas.microsoft.com/office/drawing/2014/main" id="{FECCA6EB-6EC2-FC4F-81A4-1754744FD90A}"/>
              </a:ext>
            </a:extLst>
          </p:cNvPr>
          <p:cNvSpPr/>
          <p:nvPr/>
        </p:nvSpPr>
        <p:spPr>
          <a:xfrm rot="10800000">
            <a:off x="3501107" y="5501294"/>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39137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30</a:t>
            </a:r>
            <a:r>
              <a:rPr lang="ja-JP" altLang="en-US" sz="2000" dirty="0">
                <a:solidFill>
                  <a:schemeClr val="bg1"/>
                </a:solidFill>
              </a:rPr>
              <a:t>　</a:t>
            </a:r>
            <a:r>
              <a:rPr lang="zh-CN" altLang="en-US" sz="2000" dirty="0">
                <a:solidFill>
                  <a:schemeClr val="bg1"/>
                </a:solidFill>
              </a:rPr>
              <a:t>消费者旅程</a:t>
            </a:r>
            <a:r>
              <a:rPr lang="ja-JP" altLang="en-US" sz="8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124</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40" dirty="0"/>
              <a:t>思考顾客如何认知并购买企业的产品和服务，对“在各个阶段应该提供哪些信息”“存在什么课题”等进行整理和分析。</a:t>
            </a:r>
            <a:endParaRPr lang="en-US" altLang="ja-JP" sz="1140" dirty="0"/>
          </a:p>
        </p:txBody>
      </p:sp>
      <p:graphicFrame>
        <p:nvGraphicFramePr>
          <p:cNvPr id="5" name="表 5">
            <a:extLst>
              <a:ext uri="{FF2B5EF4-FFF2-40B4-BE49-F238E27FC236}">
                <a16:creationId xmlns:a16="http://schemas.microsoft.com/office/drawing/2014/main" id="{FE59F055-CB2C-4146-A881-F022FB689D04}"/>
              </a:ext>
            </a:extLst>
          </p:cNvPr>
          <p:cNvGraphicFramePr>
            <a:graphicFrameLocks noGrp="1"/>
          </p:cNvGraphicFramePr>
          <p:nvPr>
            <p:extLst>
              <p:ext uri="{D42A27DB-BD31-4B8C-83A1-F6EECF244321}">
                <p14:modId xmlns:p14="http://schemas.microsoft.com/office/powerpoint/2010/main" val="2742921254"/>
              </p:ext>
            </p:extLst>
          </p:nvPr>
        </p:nvGraphicFramePr>
        <p:xfrm>
          <a:off x="354051" y="1066800"/>
          <a:ext cx="9197898" cy="5672598"/>
        </p:xfrm>
        <a:graphic>
          <a:graphicData uri="http://schemas.openxmlformats.org/drawingml/2006/table">
            <a:tbl>
              <a:tblPr>
                <a:tableStyleId>{1FECB4D8-DB02-4DC6-A0A2-4F2EBAE1DC90}</a:tableStyleId>
              </a:tblPr>
              <a:tblGrid>
                <a:gridCol w="1532983">
                  <a:extLst>
                    <a:ext uri="{9D8B030D-6E8A-4147-A177-3AD203B41FA5}">
                      <a16:colId xmlns:a16="http://schemas.microsoft.com/office/drawing/2014/main" val="665283536"/>
                    </a:ext>
                  </a:extLst>
                </a:gridCol>
                <a:gridCol w="1532983">
                  <a:extLst>
                    <a:ext uri="{9D8B030D-6E8A-4147-A177-3AD203B41FA5}">
                      <a16:colId xmlns:a16="http://schemas.microsoft.com/office/drawing/2014/main" val="1046439499"/>
                    </a:ext>
                  </a:extLst>
                </a:gridCol>
                <a:gridCol w="1532983">
                  <a:extLst>
                    <a:ext uri="{9D8B030D-6E8A-4147-A177-3AD203B41FA5}">
                      <a16:colId xmlns:a16="http://schemas.microsoft.com/office/drawing/2014/main" val="820897643"/>
                    </a:ext>
                  </a:extLst>
                </a:gridCol>
                <a:gridCol w="1532983">
                  <a:extLst>
                    <a:ext uri="{9D8B030D-6E8A-4147-A177-3AD203B41FA5}">
                      <a16:colId xmlns:a16="http://schemas.microsoft.com/office/drawing/2014/main" val="4280235533"/>
                    </a:ext>
                  </a:extLst>
                </a:gridCol>
                <a:gridCol w="1532983">
                  <a:extLst>
                    <a:ext uri="{9D8B030D-6E8A-4147-A177-3AD203B41FA5}">
                      <a16:colId xmlns:a16="http://schemas.microsoft.com/office/drawing/2014/main" val="661618579"/>
                    </a:ext>
                  </a:extLst>
                </a:gridCol>
                <a:gridCol w="1532983">
                  <a:extLst>
                    <a:ext uri="{9D8B030D-6E8A-4147-A177-3AD203B41FA5}">
                      <a16:colId xmlns:a16="http://schemas.microsoft.com/office/drawing/2014/main" val="2031177594"/>
                    </a:ext>
                  </a:extLst>
                </a:gridCol>
              </a:tblGrid>
              <a:tr h="385302">
                <a:tc>
                  <a:txBody>
                    <a:bodyPr/>
                    <a:lstStyle/>
                    <a:p>
                      <a:pPr algn="ctr"/>
                      <a:r>
                        <a:rPr kumimoji="1" lang="zh-CN" altLang="en-US" dirty="0">
                          <a:solidFill>
                            <a:schemeClr val="bg1"/>
                          </a:solidFill>
                        </a:rPr>
                        <a:t>阶段</a:t>
                      </a:r>
                      <a:endParaRPr kumimoji="1" lang="ja-JP" altLang="en-US"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kumimoji="1" lang="zh-CN" altLang="en-US" dirty="0">
                          <a:solidFill>
                            <a:schemeClr val="bg1"/>
                          </a:solidFill>
                        </a:rPr>
                        <a:t>认知</a:t>
                      </a:r>
                      <a:endParaRPr kumimoji="1" lang="ja-JP"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kumimoji="1" lang="zh-CN" altLang="en-US" dirty="0">
                          <a:solidFill>
                            <a:schemeClr val="bg1"/>
                          </a:solidFill>
                        </a:rPr>
                        <a:t>收集信息</a:t>
                      </a:r>
                      <a:endParaRPr kumimoji="1" lang="ja-JP"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kumimoji="1" lang="zh-CN" altLang="en-US" dirty="0">
                          <a:solidFill>
                            <a:schemeClr val="bg1"/>
                          </a:solidFill>
                        </a:rPr>
                        <a:t>比较和分析</a:t>
                      </a:r>
                      <a:endParaRPr kumimoji="1" lang="ja-JP"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kumimoji="1" lang="zh-CN" altLang="en-US" dirty="0">
                          <a:solidFill>
                            <a:schemeClr val="bg1"/>
                          </a:solidFill>
                        </a:rPr>
                        <a:t>购买</a:t>
                      </a:r>
                      <a:endParaRPr kumimoji="1" lang="ja-JP"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kumimoji="1" lang="zh-CN" altLang="en-US" sz="1800" dirty="0">
                          <a:solidFill>
                            <a:schemeClr val="bg1"/>
                          </a:solidFill>
                        </a:rPr>
                        <a:t>分享、持续交易</a:t>
                      </a:r>
                      <a:endParaRPr kumimoji="1" lang="ja-JP" altLang="en-US" sz="1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4065904670"/>
                  </a:ext>
                </a:extLst>
              </a:tr>
              <a:tr h="430786">
                <a:tc>
                  <a:txBody>
                    <a:bodyPr/>
                    <a:lstStyle/>
                    <a:p>
                      <a:pPr algn="ctr"/>
                      <a:r>
                        <a:rPr kumimoji="1" lang="zh-CN" altLang="en-US" dirty="0"/>
                        <a:t>渠道</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42695493"/>
                  </a:ext>
                </a:extLst>
              </a:tr>
              <a:tr h="1492772">
                <a:tc>
                  <a:txBody>
                    <a:bodyPr/>
                    <a:lstStyle/>
                    <a:p>
                      <a:pPr algn="ctr"/>
                      <a:r>
                        <a:rPr kumimoji="1" lang="zh-CN" altLang="en-US" dirty="0"/>
                        <a:t>行动</a:t>
                      </a:r>
                      <a:endParaRPr kumimoji="1" lang="ja-JP" altLang="en-US" dirty="0"/>
                    </a:p>
                  </a:txBody>
                  <a:tcPr anchor="ctr">
                    <a:lnL w="12700" cap="flat" cmpd="sng" algn="ctr">
                      <a:solidFill>
                        <a:schemeClr val="accent3">
                          <a:lumMod val="20000"/>
                          <a:lumOff val="8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endParaRPr kumimoji="1" lang="ja-JP" altLang="en-US"/>
                    </a:p>
                  </a:txBody>
                  <a:tcPr>
                    <a:lnL w="12700" cap="flat" cmpd="sng" algn="ctr">
                      <a:solidFill>
                        <a:schemeClr val="accent3"/>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367521098"/>
                  </a:ext>
                </a:extLst>
              </a:tr>
              <a:tr h="1569720">
                <a:tc>
                  <a:txBody>
                    <a:bodyPr/>
                    <a:lstStyle/>
                    <a:p>
                      <a:pPr algn="ctr"/>
                      <a:r>
                        <a:rPr kumimoji="1" lang="ja-JP" altLang="en-US" dirty="0"/>
                        <a:t>思考</a:t>
                      </a:r>
                    </a:p>
                  </a:txBody>
                  <a:tcPr anchor="ctr">
                    <a:lnL w="12700" cap="flat" cmpd="sng" algn="ctr">
                      <a:solidFill>
                        <a:schemeClr val="accent3">
                          <a:lumMod val="20000"/>
                          <a:lumOff val="8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28246437"/>
                  </a:ext>
                </a:extLst>
              </a:tr>
              <a:tr h="1539240">
                <a:tc>
                  <a:txBody>
                    <a:bodyPr/>
                    <a:lstStyle/>
                    <a:p>
                      <a:pPr algn="ctr"/>
                      <a:r>
                        <a:rPr kumimoji="1" lang="zh-CN" altLang="en-US" dirty="0"/>
                        <a:t>措施</a:t>
                      </a:r>
                      <a:endParaRPr kumimoji="1" lang="ja-JP" altLang="en-US" dirty="0"/>
                    </a:p>
                  </a:txBody>
                  <a:tcPr anchor="ctr">
                    <a:lnL w="12700" cap="flat" cmpd="sng" algn="ctr">
                      <a:solidFill>
                        <a:schemeClr val="accent3">
                          <a:lumMod val="20000"/>
                          <a:lumOff val="8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700080674"/>
                  </a:ext>
                </a:extLst>
              </a:tr>
            </a:tbl>
          </a:graphicData>
        </a:graphic>
      </p:graphicFrame>
      <p:sp>
        <p:nvSpPr>
          <p:cNvPr id="6" name="三角形 5">
            <a:extLst>
              <a:ext uri="{FF2B5EF4-FFF2-40B4-BE49-F238E27FC236}">
                <a16:creationId xmlns:a16="http://schemas.microsoft.com/office/drawing/2014/main" id="{146EB4A4-AE1A-734F-B526-3A8EDD1EC946}"/>
              </a:ext>
            </a:extLst>
          </p:cNvPr>
          <p:cNvSpPr/>
          <p:nvPr/>
        </p:nvSpPr>
        <p:spPr>
          <a:xfrm rot="5400000">
            <a:off x="1795559" y="1153379"/>
            <a:ext cx="247650" cy="19641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C323C8E7-05A9-DF49-90D8-9B864052EC62}"/>
              </a:ext>
            </a:extLst>
          </p:cNvPr>
          <p:cNvSpPr/>
          <p:nvPr/>
        </p:nvSpPr>
        <p:spPr>
          <a:xfrm rot="5400000">
            <a:off x="3338033" y="1153379"/>
            <a:ext cx="247650" cy="19641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三角形 7">
            <a:extLst>
              <a:ext uri="{FF2B5EF4-FFF2-40B4-BE49-F238E27FC236}">
                <a16:creationId xmlns:a16="http://schemas.microsoft.com/office/drawing/2014/main" id="{68F1EBBF-D458-2549-A1E8-6A17D3B26792}"/>
              </a:ext>
            </a:extLst>
          </p:cNvPr>
          <p:cNvSpPr/>
          <p:nvPr/>
        </p:nvSpPr>
        <p:spPr>
          <a:xfrm rot="5400000">
            <a:off x="4829174" y="1153379"/>
            <a:ext cx="247650" cy="19641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三角形 8">
            <a:extLst>
              <a:ext uri="{FF2B5EF4-FFF2-40B4-BE49-F238E27FC236}">
                <a16:creationId xmlns:a16="http://schemas.microsoft.com/office/drawing/2014/main" id="{1E8B9216-A541-564D-9EA0-D441DCC9E958}"/>
              </a:ext>
            </a:extLst>
          </p:cNvPr>
          <p:cNvSpPr/>
          <p:nvPr/>
        </p:nvSpPr>
        <p:spPr>
          <a:xfrm rot="5400000">
            <a:off x="6382799" y="1153379"/>
            <a:ext cx="247650" cy="19641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三角形 9">
            <a:extLst>
              <a:ext uri="{FF2B5EF4-FFF2-40B4-BE49-F238E27FC236}">
                <a16:creationId xmlns:a16="http://schemas.microsoft.com/office/drawing/2014/main" id="{C55508A6-6E5A-5040-9F85-ED3AD2C2404B}"/>
              </a:ext>
            </a:extLst>
          </p:cNvPr>
          <p:cNvSpPr/>
          <p:nvPr/>
        </p:nvSpPr>
        <p:spPr>
          <a:xfrm rot="5400000">
            <a:off x="7932707" y="1153379"/>
            <a:ext cx="247650" cy="19641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526050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31</a:t>
            </a:r>
            <a:r>
              <a:rPr lang="zh-CN" altLang="en-US" sz="2000" dirty="0">
                <a:solidFill>
                  <a:schemeClr val="bg1"/>
                </a:solidFill>
              </a:rPr>
              <a:t>核心竞争力</a:t>
            </a:r>
            <a:r>
              <a:rPr lang="ja-JP" altLang="en-US" sz="2000" dirty="0">
                <a:solidFill>
                  <a:schemeClr val="bg1"/>
                </a:solidFill>
              </a:rPr>
              <a:t>分析</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128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将本公司的优势数值化，与其他公司进行比较。同样的图也可以用</a:t>
            </a:r>
            <a:r>
              <a:rPr lang="en-US" altLang="zh-CN" sz="1138" dirty="0"/>
              <a:t>Excel</a:t>
            </a:r>
            <a:r>
              <a:rPr lang="zh-CN" altLang="en-US" sz="1138" dirty="0"/>
              <a:t>等表格计算软件制作。</a:t>
            </a:r>
            <a:endParaRPr lang="en-US" altLang="ja-JP" sz="1138" dirty="0"/>
          </a:p>
        </p:txBody>
      </p:sp>
      <p:graphicFrame>
        <p:nvGraphicFramePr>
          <p:cNvPr id="7" name="表 7">
            <a:extLst>
              <a:ext uri="{FF2B5EF4-FFF2-40B4-BE49-F238E27FC236}">
                <a16:creationId xmlns:a16="http://schemas.microsoft.com/office/drawing/2014/main" id="{760E144A-F14E-1048-9937-597BF8C22BB6}"/>
              </a:ext>
            </a:extLst>
          </p:cNvPr>
          <p:cNvGraphicFramePr>
            <a:graphicFrameLocks noGrp="1"/>
          </p:cNvGraphicFramePr>
          <p:nvPr>
            <p:extLst>
              <p:ext uri="{D42A27DB-BD31-4B8C-83A1-F6EECF244321}">
                <p14:modId xmlns:p14="http://schemas.microsoft.com/office/powerpoint/2010/main" val="3869448810"/>
              </p:ext>
            </p:extLst>
          </p:nvPr>
        </p:nvGraphicFramePr>
        <p:xfrm>
          <a:off x="354052" y="1066800"/>
          <a:ext cx="9197892" cy="5433060"/>
        </p:xfrm>
        <a:graphic>
          <a:graphicData uri="http://schemas.openxmlformats.org/drawingml/2006/table">
            <a:tbl>
              <a:tblPr>
                <a:tableStyleId>{5C22544A-7EE6-4342-B048-85BDC9FD1C3A}</a:tableStyleId>
              </a:tblPr>
              <a:tblGrid>
                <a:gridCol w="544980">
                  <a:extLst>
                    <a:ext uri="{9D8B030D-6E8A-4147-A177-3AD203B41FA5}">
                      <a16:colId xmlns:a16="http://schemas.microsoft.com/office/drawing/2014/main" val="2182944708"/>
                    </a:ext>
                  </a:extLst>
                </a:gridCol>
                <a:gridCol w="1644383">
                  <a:extLst>
                    <a:ext uri="{9D8B030D-6E8A-4147-A177-3AD203B41FA5}">
                      <a16:colId xmlns:a16="http://schemas.microsoft.com/office/drawing/2014/main" val="245291216"/>
                    </a:ext>
                  </a:extLst>
                </a:gridCol>
                <a:gridCol w="876601">
                  <a:extLst>
                    <a:ext uri="{9D8B030D-6E8A-4147-A177-3AD203B41FA5}">
                      <a16:colId xmlns:a16="http://schemas.microsoft.com/office/drawing/2014/main" val="2101440699"/>
                    </a:ext>
                  </a:extLst>
                </a:gridCol>
                <a:gridCol w="766491">
                  <a:extLst>
                    <a:ext uri="{9D8B030D-6E8A-4147-A177-3AD203B41FA5}">
                      <a16:colId xmlns:a16="http://schemas.microsoft.com/office/drawing/2014/main" val="2850520572"/>
                    </a:ext>
                  </a:extLst>
                </a:gridCol>
                <a:gridCol w="766491">
                  <a:extLst>
                    <a:ext uri="{9D8B030D-6E8A-4147-A177-3AD203B41FA5}">
                      <a16:colId xmlns:a16="http://schemas.microsoft.com/office/drawing/2014/main" val="854357600"/>
                    </a:ext>
                  </a:extLst>
                </a:gridCol>
                <a:gridCol w="766491">
                  <a:extLst>
                    <a:ext uri="{9D8B030D-6E8A-4147-A177-3AD203B41FA5}">
                      <a16:colId xmlns:a16="http://schemas.microsoft.com/office/drawing/2014/main" val="3027372188"/>
                    </a:ext>
                  </a:extLst>
                </a:gridCol>
                <a:gridCol w="766491">
                  <a:extLst>
                    <a:ext uri="{9D8B030D-6E8A-4147-A177-3AD203B41FA5}">
                      <a16:colId xmlns:a16="http://schemas.microsoft.com/office/drawing/2014/main" val="1882141028"/>
                    </a:ext>
                  </a:extLst>
                </a:gridCol>
                <a:gridCol w="766491">
                  <a:extLst>
                    <a:ext uri="{9D8B030D-6E8A-4147-A177-3AD203B41FA5}">
                      <a16:colId xmlns:a16="http://schemas.microsoft.com/office/drawing/2014/main" val="4238220393"/>
                    </a:ext>
                  </a:extLst>
                </a:gridCol>
                <a:gridCol w="766491">
                  <a:extLst>
                    <a:ext uri="{9D8B030D-6E8A-4147-A177-3AD203B41FA5}">
                      <a16:colId xmlns:a16="http://schemas.microsoft.com/office/drawing/2014/main" val="2911424297"/>
                    </a:ext>
                  </a:extLst>
                </a:gridCol>
                <a:gridCol w="766491">
                  <a:extLst>
                    <a:ext uri="{9D8B030D-6E8A-4147-A177-3AD203B41FA5}">
                      <a16:colId xmlns:a16="http://schemas.microsoft.com/office/drawing/2014/main" val="37517940"/>
                    </a:ext>
                  </a:extLst>
                </a:gridCol>
                <a:gridCol w="766491">
                  <a:extLst>
                    <a:ext uri="{9D8B030D-6E8A-4147-A177-3AD203B41FA5}">
                      <a16:colId xmlns:a16="http://schemas.microsoft.com/office/drawing/2014/main" val="1030926995"/>
                    </a:ext>
                  </a:extLst>
                </a:gridCol>
              </a:tblGrid>
              <a:tr h="362204">
                <a:tc rowSpan="2">
                  <a:txBody>
                    <a:bodyPr/>
                    <a:lstStyle/>
                    <a:p>
                      <a:pPr algn="ctr"/>
                      <a:r>
                        <a:rPr kumimoji="1" lang="zh-CN" altLang="en-US" sz="1200" dirty="0"/>
                        <a:t>优势</a:t>
                      </a:r>
                      <a:endParaRPr kumimoji="1" lang="ja-JP" altLang="en-US" sz="1200" dirty="0"/>
                    </a:p>
                  </a:txBody>
                  <a:tcPr anchor="ctr">
                    <a:solidFill>
                      <a:schemeClr val="accent3">
                        <a:lumMod val="60000"/>
                        <a:lumOff val="40000"/>
                      </a:schemeClr>
                    </a:solidFill>
                  </a:tcPr>
                </a:tc>
                <a:tc rowSpan="2">
                  <a:txBody>
                    <a:bodyPr/>
                    <a:lstStyle/>
                    <a:p>
                      <a:pPr algn="ctr"/>
                      <a:r>
                        <a:rPr kumimoji="1" lang="zh-CN" altLang="en-US" sz="1200" dirty="0"/>
                        <a:t>核心竞争力</a:t>
                      </a:r>
                      <a:endParaRPr kumimoji="1" lang="ja-JP" altLang="en-US" sz="1200" dirty="0"/>
                    </a:p>
                  </a:txBody>
                  <a:tcPr anchor="ctr">
                    <a:solidFill>
                      <a:schemeClr val="accent3">
                        <a:lumMod val="60000"/>
                        <a:lumOff val="40000"/>
                      </a:schemeClr>
                    </a:solidFill>
                  </a:tcPr>
                </a:tc>
                <a:tc rowSpan="2">
                  <a:txBody>
                    <a:bodyPr/>
                    <a:lstStyle/>
                    <a:p>
                      <a:pPr algn="ctr"/>
                      <a:r>
                        <a:rPr kumimoji="1" lang="zh-CN" altLang="en-US" sz="1200" dirty="0"/>
                        <a:t>权重</a:t>
                      </a:r>
                      <a:endParaRPr kumimoji="1" lang="ja-JP" altLang="en-US" sz="1200" dirty="0"/>
                    </a:p>
                  </a:txBody>
                  <a:tcPr anchor="ctr">
                    <a:solidFill>
                      <a:schemeClr val="accent3">
                        <a:lumMod val="60000"/>
                        <a:lumOff val="40000"/>
                      </a:schemeClr>
                    </a:solidFill>
                  </a:tcPr>
                </a:tc>
                <a:tc gridSpan="2">
                  <a:txBody>
                    <a:bodyPr/>
                    <a:lstStyle/>
                    <a:p>
                      <a:pPr algn="ctr"/>
                      <a:r>
                        <a:rPr kumimoji="1" lang="zh-CN" altLang="en-US" sz="1400" dirty="0"/>
                        <a:t>本企业</a:t>
                      </a:r>
                      <a:endParaRPr kumimoji="1" lang="ja-JP" altLang="en-US" sz="1400" dirty="0"/>
                    </a:p>
                  </a:txBody>
                  <a:tcPr anchor="ctr">
                    <a:solidFill>
                      <a:schemeClr val="accent3">
                        <a:lumMod val="60000"/>
                        <a:lumOff val="40000"/>
                      </a:schemeClr>
                    </a:solidFill>
                  </a:tcPr>
                </a:tc>
                <a:tc hMerge="1">
                  <a:txBody>
                    <a:bodyPr/>
                    <a:lstStyle/>
                    <a:p>
                      <a:endParaRPr kumimoji="1" lang="ja-JP" altLang="en-US"/>
                    </a:p>
                  </a:txBody>
                  <a:tcPr/>
                </a:tc>
                <a:tc gridSpan="2">
                  <a:txBody>
                    <a:bodyPr/>
                    <a:lstStyle/>
                    <a:p>
                      <a:pPr algn="ctr"/>
                      <a:r>
                        <a:rPr kumimoji="1" lang="en-US" altLang="ja-JP" sz="1400" dirty="0"/>
                        <a:t>A</a:t>
                      </a:r>
                      <a:r>
                        <a:rPr kumimoji="1" lang="zh-CN" altLang="en-US" sz="1400" dirty="0"/>
                        <a:t>公司</a:t>
                      </a:r>
                      <a:endParaRPr kumimoji="1" lang="ja-JP" altLang="en-US" sz="1400" dirty="0"/>
                    </a:p>
                  </a:txBody>
                  <a:tcPr anchor="ctr">
                    <a:solidFill>
                      <a:schemeClr val="accent3">
                        <a:lumMod val="60000"/>
                        <a:lumOff val="40000"/>
                      </a:schemeClr>
                    </a:solidFill>
                  </a:tcPr>
                </a:tc>
                <a:tc hMerge="1">
                  <a:txBody>
                    <a:bodyPr/>
                    <a:lstStyle/>
                    <a:p>
                      <a:endParaRPr kumimoji="1" lang="ja-JP" altLang="en-US"/>
                    </a:p>
                  </a:txBody>
                  <a:tcPr/>
                </a:tc>
                <a:tc gridSpan="2">
                  <a:txBody>
                    <a:bodyPr/>
                    <a:lstStyle/>
                    <a:p>
                      <a:pPr algn="ctr"/>
                      <a:r>
                        <a:rPr kumimoji="1" lang="en-US" altLang="ja-JP" sz="1400" dirty="0"/>
                        <a:t>B</a:t>
                      </a:r>
                      <a:r>
                        <a:rPr kumimoji="1" lang="zh-CN" altLang="en-US" sz="1400" dirty="0"/>
                        <a:t>公司</a:t>
                      </a:r>
                      <a:endParaRPr kumimoji="1" lang="ja-JP" altLang="en-US" sz="1400" dirty="0"/>
                    </a:p>
                  </a:txBody>
                  <a:tcPr anchor="ctr">
                    <a:solidFill>
                      <a:schemeClr val="accent3">
                        <a:lumMod val="60000"/>
                        <a:lumOff val="40000"/>
                      </a:schemeClr>
                    </a:solidFill>
                  </a:tcPr>
                </a:tc>
                <a:tc hMerge="1">
                  <a:txBody>
                    <a:bodyPr/>
                    <a:lstStyle/>
                    <a:p>
                      <a:endParaRPr kumimoji="1" lang="ja-JP" altLang="en-US"/>
                    </a:p>
                  </a:txBody>
                  <a:tcPr/>
                </a:tc>
                <a:tc gridSpan="2">
                  <a:txBody>
                    <a:bodyPr/>
                    <a:lstStyle/>
                    <a:p>
                      <a:pPr algn="ctr"/>
                      <a:r>
                        <a:rPr kumimoji="1" lang="en-US" altLang="ja-JP" sz="1400" dirty="0"/>
                        <a:t>C</a:t>
                      </a:r>
                      <a:r>
                        <a:rPr kumimoji="1" lang="zh-CN" altLang="en-US" sz="1400" dirty="0"/>
                        <a:t>公司</a:t>
                      </a:r>
                      <a:endParaRPr kumimoji="1" lang="ja-JP" altLang="en-US" sz="1400" dirty="0"/>
                    </a:p>
                  </a:txBody>
                  <a:tcPr anchor="ctr">
                    <a:solidFill>
                      <a:schemeClr val="accent3">
                        <a:lumMod val="60000"/>
                        <a:lumOff val="40000"/>
                      </a:schemeClr>
                    </a:solidFill>
                  </a:tcPr>
                </a:tc>
                <a:tc hMerge="1">
                  <a:txBody>
                    <a:bodyPr/>
                    <a:lstStyle/>
                    <a:p>
                      <a:endParaRPr kumimoji="1" lang="ja-JP" altLang="en-US"/>
                    </a:p>
                  </a:txBody>
                  <a:tcPr/>
                </a:tc>
                <a:extLst>
                  <a:ext uri="{0D108BD9-81ED-4DB2-BD59-A6C34878D82A}">
                    <a16:rowId xmlns:a16="http://schemas.microsoft.com/office/drawing/2014/main" val="2895912819"/>
                  </a:ext>
                </a:extLst>
              </a:tr>
              <a:tr h="362204">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a:r>
                        <a:rPr kumimoji="1" lang="zh-CN" altLang="en-US" sz="1200" dirty="0"/>
                        <a:t>评价</a:t>
                      </a:r>
                      <a:endParaRPr kumimoji="1" lang="ja-JP" altLang="en-US" sz="1200" dirty="0"/>
                    </a:p>
                  </a:txBody>
                  <a:tcPr anchor="ctr">
                    <a:solidFill>
                      <a:schemeClr val="accent3">
                        <a:lumMod val="60000"/>
                        <a:lumOff val="40000"/>
                      </a:schemeClr>
                    </a:solidFill>
                  </a:tcPr>
                </a:tc>
                <a:tc>
                  <a:txBody>
                    <a:bodyPr/>
                    <a:lstStyle/>
                    <a:p>
                      <a:pPr algn="ctr"/>
                      <a:r>
                        <a:rPr kumimoji="1" lang="zh-CN" altLang="en-US" sz="1200" dirty="0"/>
                        <a:t>得分</a:t>
                      </a:r>
                      <a:endParaRPr kumimoji="1" lang="ja-JP" altLang="en-US" sz="1200" dirty="0"/>
                    </a:p>
                  </a:txBody>
                  <a:tcPr anchor="ctr">
                    <a:solidFill>
                      <a:schemeClr val="accent3">
                        <a:lumMod val="60000"/>
                        <a:lumOff val="40000"/>
                      </a:schemeClr>
                    </a:solidFill>
                  </a:tcPr>
                </a:tc>
                <a:tc>
                  <a:txBody>
                    <a:bodyPr/>
                    <a:lstStyle/>
                    <a:p>
                      <a:pPr algn="ctr"/>
                      <a:r>
                        <a:rPr kumimoji="1" lang="zh-CN" altLang="en-US" sz="1200" dirty="0"/>
                        <a:t>评价</a:t>
                      </a:r>
                      <a:endParaRPr kumimoji="1" lang="ja-JP" altLang="en-US" sz="1200" dirty="0"/>
                    </a:p>
                  </a:txBody>
                  <a:tcPr anchor="ctr">
                    <a:solidFill>
                      <a:schemeClr val="accent3">
                        <a:lumMod val="60000"/>
                        <a:lumOff val="40000"/>
                      </a:schemeClr>
                    </a:solidFill>
                  </a:tcPr>
                </a:tc>
                <a:tc>
                  <a:txBody>
                    <a:bodyPr/>
                    <a:lstStyle/>
                    <a:p>
                      <a:pPr algn="ctr"/>
                      <a:r>
                        <a:rPr kumimoji="1" lang="zh-CN" altLang="en-US" sz="1200" dirty="0"/>
                        <a:t>得分</a:t>
                      </a:r>
                      <a:endParaRPr kumimoji="1" lang="ja-JP" altLang="en-US" sz="1200" dirty="0"/>
                    </a:p>
                  </a:txBody>
                  <a:tcPr anchor="ctr">
                    <a:solidFill>
                      <a:schemeClr val="accent3">
                        <a:lumMod val="60000"/>
                        <a:lumOff val="40000"/>
                      </a:schemeClr>
                    </a:solidFill>
                  </a:tcPr>
                </a:tc>
                <a:tc>
                  <a:txBody>
                    <a:bodyPr/>
                    <a:lstStyle/>
                    <a:p>
                      <a:pPr algn="ctr"/>
                      <a:r>
                        <a:rPr kumimoji="1" lang="zh-CN" altLang="en-US" sz="1200" dirty="0"/>
                        <a:t>评价</a:t>
                      </a:r>
                      <a:endParaRPr kumimoji="1" lang="ja-JP" altLang="en-US" sz="1200" dirty="0"/>
                    </a:p>
                  </a:txBody>
                  <a:tcPr anchor="ctr">
                    <a:solidFill>
                      <a:schemeClr val="accent3">
                        <a:lumMod val="60000"/>
                        <a:lumOff val="40000"/>
                      </a:schemeClr>
                    </a:solidFill>
                  </a:tcPr>
                </a:tc>
                <a:tc>
                  <a:txBody>
                    <a:bodyPr/>
                    <a:lstStyle/>
                    <a:p>
                      <a:pPr algn="ctr"/>
                      <a:r>
                        <a:rPr kumimoji="1" lang="zh-CN" altLang="en-US" sz="1200" dirty="0"/>
                        <a:t>得分</a:t>
                      </a:r>
                      <a:endParaRPr kumimoji="1" lang="ja-JP" altLang="en-US" sz="1200" dirty="0"/>
                    </a:p>
                  </a:txBody>
                  <a:tcPr anchor="ctr">
                    <a:solidFill>
                      <a:schemeClr val="accent3">
                        <a:lumMod val="60000"/>
                        <a:lumOff val="40000"/>
                      </a:schemeClr>
                    </a:solidFill>
                  </a:tcPr>
                </a:tc>
                <a:tc>
                  <a:txBody>
                    <a:bodyPr/>
                    <a:lstStyle/>
                    <a:p>
                      <a:pPr algn="ctr"/>
                      <a:r>
                        <a:rPr kumimoji="1" lang="zh-CN" altLang="en-US" sz="1200" dirty="0"/>
                        <a:t>评价</a:t>
                      </a:r>
                      <a:endParaRPr kumimoji="1" lang="ja-JP" altLang="en-US" sz="1200" dirty="0"/>
                    </a:p>
                  </a:txBody>
                  <a:tcPr anchor="ctr">
                    <a:solidFill>
                      <a:schemeClr val="accent3">
                        <a:lumMod val="60000"/>
                        <a:lumOff val="40000"/>
                      </a:schemeClr>
                    </a:solidFill>
                  </a:tcPr>
                </a:tc>
                <a:tc>
                  <a:txBody>
                    <a:bodyPr/>
                    <a:lstStyle/>
                    <a:p>
                      <a:pPr algn="ctr"/>
                      <a:r>
                        <a:rPr kumimoji="1" lang="zh-CN" altLang="en-US" sz="1200" dirty="0"/>
                        <a:t>得分</a:t>
                      </a:r>
                      <a:endParaRPr kumimoji="1" lang="ja-JP" altLang="en-US" sz="1200" dirty="0"/>
                    </a:p>
                  </a:txBody>
                  <a:tcPr anchor="ctr">
                    <a:solidFill>
                      <a:schemeClr val="accent3">
                        <a:lumMod val="60000"/>
                        <a:lumOff val="40000"/>
                      </a:schemeClr>
                    </a:solidFill>
                  </a:tcPr>
                </a:tc>
                <a:extLst>
                  <a:ext uri="{0D108BD9-81ED-4DB2-BD59-A6C34878D82A}">
                    <a16:rowId xmlns:a16="http://schemas.microsoft.com/office/drawing/2014/main" val="4048717226"/>
                  </a:ext>
                </a:extLst>
              </a:tr>
              <a:tr h="362204">
                <a:tc rowSpan="3">
                  <a:txBody>
                    <a:bodyPr/>
                    <a:lstStyle/>
                    <a:p>
                      <a:pPr algn="ctr"/>
                      <a:endParaRPr kumimoji="1" lang="ja-JP" altLang="en-US" sz="1200"/>
                    </a:p>
                  </a:txBody>
                  <a:tcPr vert="eaVert" anchor="ctr">
                    <a:solidFill>
                      <a:schemeClr val="accent3">
                        <a:lumMod val="20000"/>
                        <a:lumOff val="80000"/>
                      </a:schemeClr>
                    </a:solidFill>
                  </a:tcPr>
                </a:tc>
                <a:tc>
                  <a:txBody>
                    <a:bodyPr/>
                    <a:lstStyle/>
                    <a:p>
                      <a:pPr algn="ctr"/>
                      <a:endParaRPr kumimoji="1" lang="ja-JP" altLang="en-US" sz="1200"/>
                    </a:p>
                  </a:txBody>
                  <a:tcPr anchor="ctr">
                    <a:solidFill>
                      <a:schemeClr val="accent3">
                        <a:lumMod val="20000"/>
                        <a:lumOff val="80000"/>
                      </a:schemeClr>
                    </a:solidFill>
                  </a:tcPr>
                </a:tc>
                <a:tc>
                  <a:txBody>
                    <a:bodyPr/>
                    <a:lstStyle/>
                    <a:p>
                      <a:pPr algn="ct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dirty="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dirty="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124555892"/>
                  </a:ext>
                </a:extLst>
              </a:tr>
              <a:tr h="362204">
                <a:tc vMerge="1">
                  <a:txBody>
                    <a:bodyPr/>
                    <a:lstStyle/>
                    <a:p>
                      <a:endParaRPr kumimoji="1" lang="ja-JP" altLang="en-US"/>
                    </a:p>
                  </a:txBody>
                  <a:tcPr/>
                </a:tc>
                <a:tc>
                  <a:txBody>
                    <a:bodyPr/>
                    <a:lstStyle/>
                    <a:p>
                      <a:pPr algn="ctr"/>
                      <a:endParaRPr kumimoji="1" lang="ja-JP" altLang="en-US" sz="1200"/>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432255436"/>
                  </a:ext>
                </a:extLst>
              </a:tr>
              <a:tr h="362204">
                <a:tc vMerge="1">
                  <a:txBody>
                    <a:bodyPr/>
                    <a:lstStyle/>
                    <a:p>
                      <a:endParaRPr kumimoji="1" lang="ja-JP" altLang="en-US"/>
                    </a:p>
                  </a:txBody>
                  <a:tcPr/>
                </a:tc>
                <a:tc>
                  <a:txBody>
                    <a:bodyPr/>
                    <a:lstStyle/>
                    <a:p>
                      <a:pPr algn="ctr"/>
                      <a:endParaRPr kumimoji="1" lang="ja-JP" altLang="en-US" sz="1200"/>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962640359"/>
                  </a:ext>
                </a:extLst>
              </a:tr>
              <a:tr h="362204">
                <a:tc rowSpan="3">
                  <a:txBody>
                    <a:bodyPr/>
                    <a:lstStyle/>
                    <a:p>
                      <a:pPr algn="ctr"/>
                      <a:endParaRPr kumimoji="1" lang="ja-JP" altLang="en-US" sz="1200"/>
                    </a:p>
                  </a:txBody>
                  <a:tcPr vert="eaVert" anchor="ctr">
                    <a:solidFill>
                      <a:schemeClr val="accent3">
                        <a:lumMod val="20000"/>
                        <a:lumOff val="80000"/>
                      </a:schemeClr>
                    </a:solidFill>
                  </a:tcPr>
                </a:tc>
                <a:tc>
                  <a:txBody>
                    <a:bodyPr/>
                    <a:lstStyle/>
                    <a:p>
                      <a:pPr algn="ctr"/>
                      <a:endParaRPr kumimoji="1" lang="ja-JP" altLang="en-US" sz="1200"/>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619287218"/>
                  </a:ext>
                </a:extLst>
              </a:tr>
              <a:tr h="362204">
                <a:tc vMerge="1">
                  <a:txBody>
                    <a:bodyPr/>
                    <a:lstStyle/>
                    <a:p>
                      <a:endParaRPr kumimoji="1" lang="ja-JP" altLang="en-US"/>
                    </a:p>
                  </a:txBody>
                  <a:tcPr/>
                </a:tc>
                <a:tc>
                  <a:txBody>
                    <a:bodyPr/>
                    <a:lstStyle/>
                    <a:p>
                      <a:pPr algn="ctr"/>
                      <a:endParaRPr kumimoji="1" lang="ja-JP" altLang="en-US" sz="1200"/>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381589588"/>
                  </a:ext>
                </a:extLst>
              </a:tr>
              <a:tr h="362204">
                <a:tc vMerge="1">
                  <a:txBody>
                    <a:bodyPr/>
                    <a:lstStyle/>
                    <a:p>
                      <a:endParaRPr kumimoji="1" lang="ja-JP" altLang="en-US"/>
                    </a:p>
                  </a:txBody>
                  <a:tcPr/>
                </a:tc>
                <a:tc>
                  <a:txBody>
                    <a:bodyPr/>
                    <a:lstStyle/>
                    <a:p>
                      <a:pPr algn="ctr"/>
                      <a:endParaRPr kumimoji="1" lang="ja-JP" altLang="en-US" sz="1200"/>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132346149"/>
                  </a:ext>
                </a:extLst>
              </a:tr>
              <a:tr h="362204">
                <a:tc rowSpan="3">
                  <a:txBody>
                    <a:bodyPr/>
                    <a:lstStyle/>
                    <a:p>
                      <a:pPr algn="ctr"/>
                      <a:endParaRPr kumimoji="1" lang="ja-JP" altLang="en-US" sz="1200"/>
                    </a:p>
                  </a:txBody>
                  <a:tcPr vert="eaVert" anchor="ctr">
                    <a:solidFill>
                      <a:schemeClr val="accent3">
                        <a:lumMod val="20000"/>
                        <a:lumOff val="80000"/>
                      </a:schemeClr>
                    </a:solidFill>
                  </a:tcPr>
                </a:tc>
                <a:tc>
                  <a:txBody>
                    <a:bodyPr/>
                    <a:lstStyle/>
                    <a:p>
                      <a:pPr algn="ctr"/>
                      <a:endParaRPr kumimoji="1" lang="ja-JP" altLang="en-US" sz="1200"/>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006046582"/>
                  </a:ext>
                </a:extLst>
              </a:tr>
              <a:tr h="362204">
                <a:tc vMerge="1">
                  <a:txBody>
                    <a:bodyPr/>
                    <a:lstStyle/>
                    <a:p>
                      <a:endParaRPr kumimoji="1" lang="ja-JP" altLang="en-US"/>
                    </a:p>
                  </a:txBody>
                  <a:tcPr/>
                </a:tc>
                <a:tc>
                  <a:txBody>
                    <a:bodyPr/>
                    <a:lstStyle/>
                    <a:p>
                      <a:pPr algn="ctr"/>
                      <a:endParaRPr kumimoji="1" lang="ja-JP" altLang="en-US" sz="1200"/>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4014706831"/>
                  </a:ext>
                </a:extLst>
              </a:tr>
              <a:tr h="362204">
                <a:tc vMerge="1">
                  <a:txBody>
                    <a:bodyPr/>
                    <a:lstStyle/>
                    <a:p>
                      <a:endParaRPr kumimoji="1" lang="ja-JP" altLang="en-US"/>
                    </a:p>
                  </a:txBody>
                  <a:tcPr/>
                </a:tc>
                <a:tc>
                  <a:txBody>
                    <a:bodyPr/>
                    <a:lstStyle/>
                    <a:p>
                      <a:pPr algn="ctr"/>
                      <a:endParaRPr kumimoji="1" lang="ja-JP" altLang="en-US" sz="1200"/>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311829089"/>
                  </a:ext>
                </a:extLst>
              </a:tr>
              <a:tr h="362204">
                <a:tc rowSpan="3">
                  <a:txBody>
                    <a:bodyPr/>
                    <a:lstStyle/>
                    <a:p>
                      <a:pPr algn="ctr"/>
                      <a:endParaRPr kumimoji="1" lang="ja-JP" altLang="en-US" sz="1200"/>
                    </a:p>
                  </a:txBody>
                  <a:tcPr vert="eaVert" anchor="ctr">
                    <a:lnB w="12700" cap="flat" cmpd="sng" algn="ctr">
                      <a:solidFill>
                        <a:schemeClr val="accent3"/>
                      </a:solidFill>
                      <a:prstDash val="solid"/>
                      <a:round/>
                      <a:headEnd type="none" w="med" len="med"/>
                      <a:tailEnd type="none" w="med" len="med"/>
                    </a:lnB>
                    <a:solidFill>
                      <a:schemeClr val="accent3">
                        <a:lumMod val="20000"/>
                        <a:lumOff val="80000"/>
                      </a:schemeClr>
                    </a:solidFill>
                  </a:tcPr>
                </a:tc>
                <a:tc>
                  <a:txBody>
                    <a:bodyPr/>
                    <a:lstStyle/>
                    <a:p>
                      <a:pPr algn="ctr"/>
                      <a:endParaRPr kumimoji="1" lang="ja-JP" altLang="en-US" sz="1200"/>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4149471170"/>
                  </a:ext>
                </a:extLst>
              </a:tr>
              <a:tr h="362204">
                <a:tc vMerge="1">
                  <a:txBody>
                    <a:bodyPr/>
                    <a:lstStyle/>
                    <a:p>
                      <a:endParaRPr kumimoji="1" lang="ja-JP" altLang="en-US"/>
                    </a:p>
                  </a:txBody>
                  <a:tcPr/>
                </a:tc>
                <a:tc>
                  <a:txBody>
                    <a:bodyPr/>
                    <a:lstStyle/>
                    <a:p>
                      <a:pPr algn="ctr"/>
                      <a:endParaRPr kumimoji="1" lang="ja-JP" altLang="en-US" sz="1200"/>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839535573"/>
                  </a:ext>
                </a:extLst>
              </a:tr>
              <a:tr h="362204">
                <a:tc vMerge="1">
                  <a:txBody>
                    <a:bodyPr/>
                    <a:lstStyle/>
                    <a:p>
                      <a:endParaRPr kumimoji="1" lang="ja-JP" altLang="en-US"/>
                    </a:p>
                  </a:txBody>
                  <a:tcPr/>
                </a:tc>
                <a:tc>
                  <a:txBody>
                    <a:bodyPr/>
                    <a:lstStyle/>
                    <a:p>
                      <a:pPr algn="ctr"/>
                      <a:endParaRPr kumimoji="1" lang="ja-JP" altLang="en-US" sz="1200"/>
                    </a:p>
                  </a:txBody>
                  <a:tcPr anchor="ctr">
                    <a:lnB w="12700" cap="flat" cmpd="sng" algn="ctr">
                      <a:solidFill>
                        <a:schemeClr val="accent3"/>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a:p>
                  </a:txBody>
                  <a:tcPr anchor="ctr">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385429630"/>
                  </a:ext>
                </a:extLst>
              </a:tr>
              <a:tr h="362204">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200" dirty="0"/>
                        <a:t>综合</a:t>
                      </a:r>
                      <a:r>
                        <a:rPr kumimoji="1" lang="ja-JP" altLang="en-US" sz="1200" dirty="0"/>
                        <a:t>得点</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dirty="0"/>
                    </a:p>
                  </a:txBody>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endParaRPr kumimoji="1" lang="ja-JP" altLang="en-US" sz="1200" dirty="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635387392"/>
                  </a:ext>
                </a:extLst>
              </a:tr>
            </a:tbl>
          </a:graphicData>
        </a:graphic>
      </p:graphicFrame>
    </p:spTree>
    <p:extLst>
      <p:ext uri="{BB962C8B-B14F-4D97-AF65-F5344CB8AC3E}">
        <p14:creationId xmlns:p14="http://schemas.microsoft.com/office/powerpoint/2010/main" val="1378995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200" dirty="0">
                <a:solidFill>
                  <a:schemeClr val="bg1"/>
                </a:solidFill>
              </a:rPr>
              <a:t>32</a:t>
            </a:r>
            <a:r>
              <a:rPr lang="ja-JP" altLang="en-US" sz="2200" dirty="0">
                <a:solidFill>
                  <a:schemeClr val="bg1"/>
                </a:solidFill>
              </a:rPr>
              <a:t>　</a:t>
            </a:r>
            <a:r>
              <a:rPr lang="zh-CN" altLang="en-US" sz="2200" dirty="0">
                <a:solidFill>
                  <a:schemeClr val="bg1"/>
                </a:solidFill>
              </a:rPr>
              <a:t>品牌资产</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132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企业可以根据品牌资产金字塔的四个阶段来思考自己公司的品牌战略。</a:t>
            </a:r>
            <a:endParaRPr lang="en-US" altLang="ja-JP" sz="1138" dirty="0"/>
          </a:p>
        </p:txBody>
      </p:sp>
      <p:graphicFrame>
        <p:nvGraphicFramePr>
          <p:cNvPr id="7" name="表 7">
            <a:extLst>
              <a:ext uri="{FF2B5EF4-FFF2-40B4-BE49-F238E27FC236}">
                <a16:creationId xmlns:a16="http://schemas.microsoft.com/office/drawing/2014/main" id="{A8E82962-3787-F14C-BF7C-E01BB08FD40A}"/>
              </a:ext>
            </a:extLst>
          </p:cNvPr>
          <p:cNvGraphicFramePr>
            <a:graphicFrameLocks noGrp="1"/>
          </p:cNvGraphicFramePr>
          <p:nvPr>
            <p:extLst>
              <p:ext uri="{D42A27DB-BD31-4B8C-83A1-F6EECF244321}">
                <p14:modId xmlns:p14="http://schemas.microsoft.com/office/powerpoint/2010/main" val="4128419526"/>
              </p:ext>
            </p:extLst>
          </p:nvPr>
        </p:nvGraphicFramePr>
        <p:xfrm>
          <a:off x="354052" y="1066800"/>
          <a:ext cx="9197895" cy="5416257"/>
        </p:xfrm>
        <a:graphic>
          <a:graphicData uri="http://schemas.openxmlformats.org/drawingml/2006/table">
            <a:tbl>
              <a:tblPr>
                <a:tableStyleId>{1FECB4D8-DB02-4DC6-A0A2-4F2EBAE1DC90}</a:tableStyleId>
              </a:tblPr>
              <a:tblGrid>
                <a:gridCol w="498877">
                  <a:extLst>
                    <a:ext uri="{9D8B030D-6E8A-4147-A177-3AD203B41FA5}">
                      <a16:colId xmlns:a16="http://schemas.microsoft.com/office/drawing/2014/main" val="2303764612"/>
                    </a:ext>
                  </a:extLst>
                </a:gridCol>
                <a:gridCol w="2051637">
                  <a:extLst>
                    <a:ext uri="{9D8B030D-6E8A-4147-A177-3AD203B41FA5}">
                      <a16:colId xmlns:a16="http://schemas.microsoft.com/office/drawing/2014/main" val="504338230"/>
                    </a:ext>
                  </a:extLst>
                </a:gridCol>
                <a:gridCol w="2274474">
                  <a:extLst>
                    <a:ext uri="{9D8B030D-6E8A-4147-A177-3AD203B41FA5}">
                      <a16:colId xmlns:a16="http://schemas.microsoft.com/office/drawing/2014/main" val="4064524239"/>
                    </a:ext>
                  </a:extLst>
                </a:gridCol>
                <a:gridCol w="2197633">
                  <a:extLst>
                    <a:ext uri="{9D8B030D-6E8A-4147-A177-3AD203B41FA5}">
                      <a16:colId xmlns:a16="http://schemas.microsoft.com/office/drawing/2014/main" val="3981943305"/>
                    </a:ext>
                  </a:extLst>
                </a:gridCol>
                <a:gridCol w="2175274">
                  <a:extLst>
                    <a:ext uri="{9D8B030D-6E8A-4147-A177-3AD203B41FA5}">
                      <a16:colId xmlns:a16="http://schemas.microsoft.com/office/drawing/2014/main" val="3636722273"/>
                    </a:ext>
                  </a:extLst>
                </a:gridCol>
              </a:tblGrid>
              <a:tr h="657090">
                <a:tc>
                  <a:txBody>
                    <a:bodyPr/>
                    <a:lstStyle/>
                    <a:p>
                      <a:pPr algn="ctr"/>
                      <a:endParaRPr kumimoji="1" lang="ja-JP" altLang="en-US"/>
                    </a:p>
                  </a:txBody>
                  <a:tcPr anchor="ctr">
                    <a:lnL w="12700" cap="flat" cmpd="sng" algn="ctr">
                      <a:solidFill>
                        <a:schemeClr val="bg1"/>
                      </a:solidFill>
                      <a:prstDash val="sysDash"/>
                      <a:round/>
                      <a:headEnd type="none" w="med" len="med"/>
                      <a:tailEnd type="none" w="med" len="med"/>
                    </a:lnL>
                    <a:lnT w="12700" cap="flat" cmpd="sng" algn="ctr">
                      <a:solidFill>
                        <a:schemeClr val="bg1"/>
                      </a:solidFill>
                      <a:prstDash val="sysDash"/>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lgn="ctr"/>
                      <a:r>
                        <a:rPr kumimoji="1" lang="ja-JP" altLang="en-US"/>
                        <a:t>第１段階</a:t>
                      </a:r>
                    </a:p>
                  </a:txBody>
                  <a:tcPr anchor="ctr">
                    <a:lnT w="12700" cap="flat" cmpd="sng" algn="ctr">
                      <a:solidFill>
                        <a:schemeClr val="bg1"/>
                      </a:solidFill>
                      <a:prstDash val="sysDash"/>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algn="ctr"/>
                      <a:r>
                        <a:rPr kumimoji="1" lang="ja-JP" altLang="en-US"/>
                        <a:t>第２段階</a:t>
                      </a:r>
                    </a:p>
                  </a:txBody>
                  <a:tcPr anchor="ctr">
                    <a:lnT w="12700" cap="flat" cmpd="sng" algn="ctr">
                      <a:solidFill>
                        <a:schemeClr val="bg1"/>
                      </a:solidFill>
                      <a:prstDash val="sysDash"/>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algn="ctr"/>
                      <a:r>
                        <a:rPr kumimoji="1" lang="ja-JP" altLang="en-US"/>
                        <a:t>第３段階</a:t>
                      </a:r>
                    </a:p>
                  </a:txBody>
                  <a:tcPr anchor="ctr">
                    <a:lnT w="12700" cap="flat" cmpd="sng" algn="ctr">
                      <a:solidFill>
                        <a:schemeClr val="bg1"/>
                      </a:solidFill>
                      <a:prstDash val="sysDash"/>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algn="ctr"/>
                      <a:r>
                        <a:rPr kumimoji="1" lang="ja-JP" altLang="en-US"/>
                        <a:t>第４段階</a:t>
                      </a:r>
                    </a:p>
                  </a:txBody>
                  <a:tcPr anchor="ctr">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extLst>
                  <a:ext uri="{0D108BD9-81ED-4DB2-BD59-A6C34878D82A}">
                    <a16:rowId xmlns:a16="http://schemas.microsoft.com/office/drawing/2014/main" val="1291727658"/>
                  </a:ext>
                </a:extLst>
              </a:tr>
              <a:tr h="1196267">
                <a:tc>
                  <a:txBody>
                    <a:bodyPr/>
                    <a:lstStyle/>
                    <a:p>
                      <a:pPr algn="ctr"/>
                      <a:r>
                        <a:rPr kumimoji="1" lang="zh-CN" altLang="en-US" dirty="0"/>
                        <a:t>理性路线</a:t>
                      </a:r>
                      <a:endParaRPr kumimoji="1" lang="ja-JP" altLang="en-US" dirty="0"/>
                    </a:p>
                  </a:txBody>
                  <a:tcPr vert="eaVert"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rowSpan="2">
                  <a:txBody>
                    <a:bodyPr/>
                    <a:lstStyle/>
                    <a:p>
                      <a:pPr algn="ctr"/>
                      <a:r>
                        <a:rPr kumimoji="1" lang="zh-CN" altLang="en-US" sz="1800" dirty="0"/>
                        <a:t>品牌特征</a:t>
                      </a:r>
                      <a:endParaRPr kumimoji="1" lang="en-US" altLang="zh-CN" sz="1800" dirty="0"/>
                    </a:p>
                    <a:p>
                      <a:pPr algn="ctr"/>
                      <a:endParaRPr kumimoji="1" lang="en-US" altLang="ja-JP" sz="1050" dirty="0"/>
                    </a:p>
                    <a:p>
                      <a:pPr algn="ctr"/>
                      <a:r>
                        <a:rPr kumimoji="1" lang="zh-CN" altLang="en-US" sz="1050" dirty="0"/>
                        <a:t>顾客对品牌的认知</a:t>
                      </a:r>
                      <a:endParaRPr kumimoji="1" lang="ja-JP" altLang="en-US" sz="105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600" dirty="0"/>
                        <a:t>表现</a:t>
                      </a:r>
                      <a:endParaRPr kumimoji="1" lang="en-US" altLang="ja-JP" sz="1400" dirty="0"/>
                    </a:p>
                    <a:p>
                      <a:pPr algn="ctr"/>
                      <a:endParaRPr kumimoji="1" lang="en-US" altLang="ja-JP" sz="1050" dirty="0"/>
                    </a:p>
                    <a:p>
                      <a:pPr algn="ctr"/>
                      <a:r>
                        <a:rPr kumimoji="1" lang="zh-CN" altLang="en-US" sz="1050" dirty="0"/>
                        <a:t>满足顾客功能</a:t>
                      </a:r>
                    </a:p>
                    <a:p>
                      <a:pPr algn="ctr"/>
                      <a:r>
                        <a:rPr kumimoji="1" lang="zh-CN" altLang="en-US" sz="1050" dirty="0"/>
                        <a:t>需求的产品特征</a:t>
                      </a:r>
                      <a:endParaRPr kumimoji="1" lang="ja-JP" altLang="en-US" sz="105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600" dirty="0"/>
                        <a:t>判断</a:t>
                      </a:r>
                      <a:endParaRPr kumimoji="1" lang="en-US" altLang="zh-CN" sz="1600" dirty="0"/>
                    </a:p>
                    <a:p>
                      <a:pPr algn="ctr"/>
                      <a:endParaRPr kumimoji="1" lang="en-US" altLang="ja-JP" sz="1050" dirty="0"/>
                    </a:p>
                    <a:p>
                      <a:pPr algn="ctr"/>
                      <a:r>
                        <a:rPr kumimoji="1" lang="zh-CN" altLang="en-US" sz="1050" dirty="0"/>
                        <a:t>顾客对</a:t>
                      </a:r>
                    </a:p>
                    <a:p>
                      <a:pPr algn="ctr"/>
                      <a:r>
                        <a:rPr kumimoji="1" lang="zh-CN" altLang="en-US" sz="1050" dirty="0"/>
                        <a:t>产品的评价</a:t>
                      </a:r>
                      <a:endParaRPr kumimoji="1" lang="ja-JP" altLang="en-US" sz="105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rowSpan="2">
                  <a:txBody>
                    <a:bodyPr/>
                    <a:lstStyle/>
                    <a:p>
                      <a:pPr algn="ctr"/>
                      <a:r>
                        <a:rPr kumimoji="1" lang="zh-CN" altLang="en-US" sz="1600" dirty="0"/>
                        <a:t>共鸣</a:t>
                      </a:r>
                      <a:endParaRPr kumimoji="1" lang="en-US" altLang="zh-CN" sz="1600" dirty="0"/>
                    </a:p>
                    <a:p>
                      <a:pPr algn="ctr"/>
                      <a:endParaRPr kumimoji="1" lang="en-US" altLang="ja-JP" sz="1050" dirty="0"/>
                    </a:p>
                    <a:p>
                      <a:pPr algn="ctr"/>
                      <a:r>
                        <a:rPr kumimoji="1" lang="zh-CN" altLang="en-US" sz="1050" dirty="0"/>
                        <a:t>顾客与品牌</a:t>
                      </a:r>
                    </a:p>
                    <a:p>
                      <a:pPr algn="ctr"/>
                      <a:r>
                        <a:rPr kumimoji="1" lang="zh-CN" altLang="en-US" sz="1050" dirty="0"/>
                        <a:t>之间的信赖度</a:t>
                      </a:r>
                      <a:endParaRPr kumimoji="1" lang="ja-JP" altLang="en-US" sz="1050"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20000"/>
                          <a:lumOff val="80000"/>
                        </a:schemeClr>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174498991"/>
                  </a:ext>
                </a:extLst>
              </a:tr>
              <a:tr h="1181515">
                <a:tc>
                  <a:txBody>
                    <a:bodyPr/>
                    <a:lstStyle/>
                    <a:p>
                      <a:pPr algn="ctr"/>
                      <a:r>
                        <a:rPr kumimoji="1" lang="zh-CN" altLang="en-US" dirty="0"/>
                        <a:t>感性路线</a:t>
                      </a:r>
                      <a:endParaRPr kumimoji="1" lang="ja-JP" altLang="en-US" dirty="0"/>
                    </a:p>
                  </a:txBody>
                  <a:tcPr vert="eaVert"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vMerge="1">
                  <a:txBody>
                    <a:bodyPr/>
                    <a:lstStyle/>
                    <a:p>
                      <a:endParaRPr kumimoji="1" lang="ja-JP" altLang="en-US" sz="1600"/>
                    </a:p>
                  </a:txBody>
                  <a:tcPr anchor="ctr"/>
                </a:tc>
                <a:tc>
                  <a:txBody>
                    <a:bodyPr/>
                    <a:lstStyle/>
                    <a:p>
                      <a:pPr algn="ctr"/>
                      <a:r>
                        <a:rPr kumimoji="1" lang="zh-CN" altLang="en-US" sz="1600" dirty="0"/>
                        <a:t>形象</a:t>
                      </a:r>
                      <a:endParaRPr kumimoji="1" lang="en-US" altLang="ja-JP" sz="1400" dirty="0"/>
                    </a:p>
                    <a:p>
                      <a:pPr algn="ctr"/>
                      <a:endParaRPr kumimoji="1" lang="en-US" altLang="ja-JP" sz="1050" dirty="0"/>
                    </a:p>
                    <a:p>
                      <a:pPr algn="ctr"/>
                      <a:r>
                        <a:rPr kumimoji="1" lang="zh-CN" altLang="en-US" sz="1050" dirty="0"/>
                        <a:t>满足顾客心理</a:t>
                      </a:r>
                    </a:p>
                    <a:p>
                      <a:pPr algn="ctr"/>
                      <a:r>
                        <a:rPr kumimoji="1" lang="zh-CN" altLang="en-US" sz="1050" dirty="0"/>
                        <a:t>需求的产品特征</a:t>
                      </a:r>
                      <a:endParaRPr kumimoji="1" lang="ja-JP" altLang="en-US" sz="105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600" dirty="0"/>
                        <a:t>感觉</a:t>
                      </a:r>
                      <a:endParaRPr kumimoji="1" lang="en-US" altLang="ja-JP" sz="1400" dirty="0"/>
                    </a:p>
                    <a:p>
                      <a:pPr algn="ctr"/>
                      <a:endParaRPr kumimoji="1" lang="en-US" altLang="ja-JP" sz="1050" dirty="0"/>
                    </a:p>
                    <a:p>
                      <a:pPr algn="ctr"/>
                      <a:r>
                        <a:rPr kumimoji="1" lang="zh-CN" altLang="en-US" sz="1050" dirty="0"/>
                        <a:t>顾客在</a:t>
                      </a:r>
                    </a:p>
                    <a:p>
                      <a:pPr algn="ctr"/>
                      <a:r>
                        <a:rPr kumimoji="1" lang="zh-CN" altLang="en-US" sz="1050" dirty="0"/>
                        <a:t>情感上的反应</a:t>
                      </a:r>
                      <a:endParaRPr kumimoji="1" lang="ja-JP" altLang="en-US" sz="105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vMerge="1">
                  <a:txBody>
                    <a:bodyPr/>
                    <a:lstStyle/>
                    <a:p>
                      <a:endParaRPr kumimoji="1" lang="ja-JP" altLang="en-US"/>
                    </a:p>
                  </a:txBody>
                  <a:tcPr anchor="ctr"/>
                </a:tc>
                <a:extLst>
                  <a:ext uri="{0D108BD9-81ED-4DB2-BD59-A6C34878D82A}">
                    <a16:rowId xmlns:a16="http://schemas.microsoft.com/office/drawing/2014/main" val="1980027386"/>
                  </a:ext>
                </a:extLst>
              </a:tr>
              <a:tr h="2381385">
                <a:tc>
                  <a:txBody>
                    <a:bodyPr/>
                    <a:lstStyle/>
                    <a:p>
                      <a:pPr algn="ctr"/>
                      <a:r>
                        <a:rPr kumimoji="1" lang="zh-CN" altLang="en-US" dirty="0"/>
                        <a:t>本企业品牌战略</a:t>
                      </a:r>
                      <a:endParaRPr kumimoji="1" lang="ja-JP" altLang="en-US" dirty="0"/>
                    </a:p>
                  </a:txBody>
                  <a:tcPr vert="eaVert"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endParaRPr kumimoji="1" lang="ja-JP" altLang="en-US"/>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endParaRPr kumimoji="1" lang="ja-JP" altLang="en-US"/>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endParaRPr kumimoji="1" lang="ja-JP" altLang="en-US" dirty="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1247822168"/>
                  </a:ext>
                </a:extLst>
              </a:tr>
            </a:tbl>
          </a:graphicData>
        </a:graphic>
      </p:graphicFrame>
      <p:sp>
        <p:nvSpPr>
          <p:cNvPr id="8" name="三角形 7">
            <a:extLst>
              <a:ext uri="{FF2B5EF4-FFF2-40B4-BE49-F238E27FC236}">
                <a16:creationId xmlns:a16="http://schemas.microsoft.com/office/drawing/2014/main" id="{6EE8F025-8368-CA4A-A9B3-1A0A5C8B81E2}"/>
              </a:ext>
            </a:extLst>
          </p:cNvPr>
          <p:cNvSpPr/>
          <p:nvPr/>
        </p:nvSpPr>
        <p:spPr>
          <a:xfrm rot="5400000">
            <a:off x="2712719" y="1312639"/>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三角形 8">
            <a:extLst>
              <a:ext uri="{FF2B5EF4-FFF2-40B4-BE49-F238E27FC236}">
                <a16:creationId xmlns:a16="http://schemas.microsoft.com/office/drawing/2014/main" id="{5415CDD5-5388-EC45-8DFA-347D7878FE82}"/>
              </a:ext>
            </a:extLst>
          </p:cNvPr>
          <p:cNvSpPr/>
          <p:nvPr/>
        </p:nvSpPr>
        <p:spPr>
          <a:xfrm rot="5400000">
            <a:off x="5017929" y="1312639"/>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三角形 9">
            <a:extLst>
              <a:ext uri="{FF2B5EF4-FFF2-40B4-BE49-F238E27FC236}">
                <a16:creationId xmlns:a16="http://schemas.microsoft.com/office/drawing/2014/main" id="{5C6A726D-F111-DC43-AB5D-89712CF56954}"/>
              </a:ext>
            </a:extLst>
          </p:cNvPr>
          <p:cNvSpPr/>
          <p:nvPr/>
        </p:nvSpPr>
        <p:spPr>
          <a:xfrm rot="5400000">
            <a:off x="7209565" y="1312639"/>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983983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200" dirty="0">
                <a:solidFill>
                  <a:schemeClr val="bg1"/>
                </a:solidFill>
              </a:rPr>
              <a:t>33</a:t>
            </a:r>
            <a:r>
              <a:rPr lang="ja-JP" altLang="en-US" sz="2200" dirty="0">
                <a:solidFill>
                  <a:schemeClr val="bg1"/>
                </a:solidFill>
              </a:rPr>
              <a:t>　７Ｓ分析</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138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对构成</a:t>
            </a:r>
            <a:r>
              <a:rPr lang="en-US" altLang="zh-CN" sz="1138" dirty="0"/>
              <a:t>7s</a:t>
            </a:r>
            <a:r>
              <a:rPr lang="zh-CN" altLang="en-US" sz="1138" dirty="0"/>
              <a:t>的要素一个一个进行分析，明确问题。考虑改善、克服这些问题的改善对策和改革方案。</a:t>
            </a:r>
            <a:endParaRPr lang="en-US" altLang="ja-JP" sz="1138" dirty="0"/>
          </a:p>
        </p:txBody>
      </p:sp>
      <p:graphicFrame>
        <p:nvGraphicFramePr>
          <p:cNvPr id="5" name="表 5">
            <a:extLst>
              <a:ext uri="{FF2B5EF4-FFF2-40B4-BE49-F238E27FC236}">
                <a16:creationId xmlns:a16="http://schemas.microsoft.com/office/drawing/2014/main" id="{4364483D-54D1-4245-834F-0C9D00AE354A}"/>
              </a:ext>
            </a:extLst>
          </p:cNvPr>
          <p:cNvGraphicFramePr>
            <a:graphicFrameLocks noGrp="1"/>
          </p:cNvGraphicFramePr>
          <p:nvPr>
            <p:extLst>
              <p:ext uri="{D42A27DB-BD31-4B8C-83A1-F6EECF244321}">
                <p14:modId xmlns:p14="http://schemas.microsoft.com/office/powerpoint/2010/main" val="476051211"/>
              </p:ext>
            </p:extLst>
          </p:nvPr>
        </p:nvGraphicFramePr>
        <p:xfrm>
          <a:off x="354053" y="1066800"/>
          <a:ext cx="9197894" cy="5433059"/>
        </p:xfrm>
        <a:graphic>
          <a:graphicData uri="http://schemas.openxmlformats.org/drawingml/2006/table">
            <a:tbl>
              <a:tblPr>
                <a:tableStyleId>{1FECB4D8-DB02-4DC6-A0A2-4F2EBAE1DC90}</a:tableStyleId>
              </a:tblPr>
              <a:tblGrid>
                <a:gridCol w="505975">
                  <a:extLst>
                    <a:ext uri="{9D8B030D-6E8A-4147-A177-3AD203B41FA5}">
                      <a16:colId xmlns:a16="http://schemas.microsoft.com/office/drawing/2014/main" val="1819507361"/>
                    </a:ext>
                  </a:extLst>
                </a:gridCol>
                <a:gridCol w="2059864">
                  <a:extLst>
                    <a:ext uri="{9D8B030D-6E8A-4147-A177-3AD203B41FA5}">
                      <a16:colId xmlns:a16="http://schemas.microsoft.com/office/drawing/2014/main" val="3498933913"/>
                    </a:ext>
                  </a:extLst>
                </a:gridCol>
                <a:gridCol w="3362129">
                  <a:extLst>
                    <a:ext uri="{9D8B030D-6E8A-4147-A177-3AD203B41FA5}">
                      <a16:colId xmlns:a16="http://schemas.microsoft.com/office/drawing/2014/main" val="1045455518"/>
                    </a:ext>
                  </a:extLst>
                </a:gridCol>
                <a:gridCol w="3269926">
                  <a:extLst>
                    <a:ext uri="{9D8B030D-6E8A-4147-A177-3AD203B41FA5}">
                      <a16:colId xmlns:a16="http://schemas.microsoft.com/office/drawing/2014/main" val="1320205665"/>
                    </a:ext>
                  </a:extLst>
                </a:gridCol>
              </a:tblGrid>
              <a:tr h="483792">
                <a:tc>
                  <a:txBody>
                    <a:bodyPr/>
                    <a:lstStyle/>
                    <a:p>
                      <a:endParaRPr kumimoji="1" lang="ja-JP" altLang="en-US"/>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lgn="ctr"/>
                      <a:r>
                        <a:rPr kumimoji="1" lang="en-US" altLang="ja-JP" dirty="0"/>
                        <a:t>7S</a:t>
                      </a:r>
                      <a:endParaRPr kumimoji="1" lang="ja-JP" altLang="en-US"/>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noFill/>
                  </a:tcPr>
                </a:tc>
                <a:tc>
                  <a:txBody>
                    <a:bodyPr/>
                    <a:lstStyle/>
                    <a:p>
                      <a:pPr algn="ctr"/>
                      <a:r>
                        <a:rPr kumimoji="1" lang="zh-CN" altLang="en-US" dirty="0"/>
                        <a:t>现状</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r>
                        <a:rPr kumimoji="1" lang="zh-CN" altLang="en-US" dirty="0"/>
                        <a:t>改善方案</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859125567"/>
                  </a:ext>
                </a:extLst>
              </a:tr>
              <a:tr h="790961">
                <a:tc rowSpan="3">
                  <a:txBody>
                    <a:bodyPr/>
                    <a:lstStyle/>
                    <a:p>
                      <a:pPr algn="ctr"/>
                      <a:r>
                        <a:rPr kumimoji="1" lang="zh-CN" altLang="en-US" dirty="0"/>
                        <a:t>硬件</a:t>
                      </a:r>
                      <a:endParaRPr kumimoji="1" lang="ja-JP" altLang="en-US" dirty="0"/>
                    </a:p>
                  </a:txBody>
                  <a:tcPr vert="eaVert" anchor="ctr">
                    <a:lnL w="12700" cap="flat" cmpd="sng" algn="ctr">
                      <a:solidFill>
                        <a:schemeClr val="bg1"/>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kumimoji="1" lang="en-US" altLang="ja-JP" dirty="0"/>
                        <a:t>Structure</a:t>
                      </a:r>
                    </a:p>
                    <a:p>
                      <a:pPr algn="ctr"/>
                      <a:r>
                        <a:rPr kumimoji="1" lang="zh-CN" altLang="en-US" dirty="0"/>
                        <a:t>组织结构</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tcPr>
                </a:tc>
                <a:tc>
                  <a:txBody>
                    <a:bodyPr/>
                    <a:lstStyle/>
                    <a:p>
                      <a:endParaRPr kumimoji="1" lang="ja-JP" altLang="en-US"/>
                    </a:p>
                  </a:txBody>
                  <a:tcPr>
                    <a:lnL w="12700" cap="flat" cmpd="sng" algn="ctr">
                      <a:solidFill>
                        <a:schemeClr val="accent3"/>
                      </a:solidFill>
                      <a:prstDash val="solid"/>
                      <a:round/>
                      <a:headEnd type="none" w="med" len="med"/>
                      <a:tailEnd type="none" w="med" len="med"/>
                    </a:lnL>
                    <a:lnT w="12700" cap="flat" cmpd="sng" algn="ctr">
                      <a:solidFill>
                        <a:schemeClr val="accent3"/>
                      </a:solidFill>
                      <a:prstDash val="solid"/>
                      <a:round/>
                      <a:headEnd type="none" w="med" len="med"/>
                      <a:tailEnd type="none" w="med" len="med"/>
                    </a:lnT>
                  </a:tcPr>
                </a:tc>
                <a:extLst>
                  <a:ext uri="{0D108BD9-81ED-4DB2-BD59-A6C34878D82A}">
                    <a16:rowId xmlns:a16="http://schemas.microsoft.com/office/drawing/2014/main" val="1819102506"/>
                  </a:ext>
                </a:extLst>
              </a:tr>
              <a:tr h="684412">
                <a:tc vMerge="1">
                  <a:txBody>
                    <a:bodyPr/>
                    <a:lstStyle/>
                    <a:p>
                      <a:endParaRPr kumimoji="1" lang="ja-JP" altLang="en-US"/>
                    </a:p>
                  </a:txBody>
                  <a:tcPr>
                    <a:solidFill>
                      <a:schemeClr val="accent3">
                        <a:lumMod val="40000"/>
                        <a:lumOff val="60000"/>
                      </a:schemeClr>
                    </a:solidFill>
                  </a:tcPr>
                </a:tc>
                <a:tc>
                  <a:txBody>
                    <a:bodyPr/>
                    <a:lstStyle/>
                    <a:p>
                      <a:pPr algn="ctr"/>
                      <a:r>
                        <a:rPr kumimoji="1" lang="en-US" altLang="ja-JP" dirty="0"/>
                        <a:t>Strategy</a:t>
                      </a:r>
                    </a:p>
                    <a:p>
                      <a:pPr algn="ctr"/>
                      <a:r>
                        <a:rPr kumimoji="1" lang="zh-CN" altLang="en-US" dirty="0"/>
                        <a:t>战略</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410802294"/>
                  </a:ext>
                </a:extLst>
              </a:tr>
              <a:tr h="736246">
                <a:tc vMerge="1">
                  <a:txBody>
                    <a:bodyPr/>
                    <a:lstStyle/>
                    <a:p>
                      <a:endParaRPr kumimoji="1" lang="ja-JP" altLang="en-US"/>
                    </a:p>
                  </a:txBody>
                  <a:tcPr>
                    <a:solidFill>
                      <a:schemeClr val="accent3">
                        <a:lumMod val="40000"/>
                        <a:lumOff val="60000"/>
                      </a:schemeClr>
                    </a:solidFill>
                  </a:tcPr>
                </a:tc>
                <a:tc>
                  <a:txBody>
                    <a:bodyPr/>
                    <a:lstStyle/>
                    <a:p>
                      <a:pPr algn="ctr"/>
                      <a:r>
                        <a:rPr kumimoji="1" lang="en-US" altLang="ja-JP" dirty="0"/>
                        <a:t>System</a:t>
                      </a:r>
                    </a:p>
                    <a:p>
                      <a:pPr algn="ctr"/>
                      <a:r>
                        <a:rPr kumimoji="1" lang="zh-CN" altLang="en-US" dirty="0"/>
                        <a:t>内部系统</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903931603"/>
                  </a:ext>
                </a:extLst>
              </a:tr>
              <a:tr h="684412">
                <a:tc rowSpan="4">
                  <a:txBody>
                    <a:bodyPr/>
                    <a:lstStyle/>
                    <a:p>
                      <a:pPr algn="ctr"/>
                      <a:r>
                        <a:rPr kumimoji="1" lang="zh-CN" altLang="en-US" dirty="0"/>
                        <a:t>软件</a:t>
                      </a:r>
                      <a:endParaRPr kumimoji="1" lang="ja-JP" altLang="en-US" dirty="0"/>
                    </a:p>
                  </a:txBody>
                  <a:tcPr vert="eaVert"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pPr algn="ctr"/>
                      <a:r>
                        <a:rPr kumimoji="1" lang="en-US" altLang="ja-JP" dirty="0"/>
                        <a:t>Staff</a:t>
                      </a:r>
                    </a:p>
                    <a:p>
                      <a:pPr algn="ctr"/>
                      <a:r>
                        <a:rPr kumimoji="1" lang="zh-CN" altLang="en-US" dirty="0"/>
                        <a:t>人才</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309617234"/>
                  </a:ext>
                </a:extLst>
              </a:tr>
              <a:tr h="684412">
                <a:tc vMerge="1">
                  <a:txBody>
                    <a:bodyPr/>
                    <a:lstStyle/>
                    <a:p>
                      <a:endParaRPr kumimoji="1" lang="ja-JP" altLang="en-US"/>
                    </a:p>
                  </a:txBody>
                  <a:tcPr>
                    <a:solidFill>
                      <a:schemeClr val="accent3">
                        <a:lumMod val="40000"/>
                        <a:lumOff val="60000"/>
                      </a:schemeClr>
                    </a:solidFill>
                  </a:tcPr>
                </a:tc>
                <a:tc>
                  <a:txBody>
                    <a:bodyPr/>
                    <a:lstStyle/>
                    <a:p>
                      <a:pPr algn="ctr"/>
                      <a:r>
                        <a:rPr kumimoji="1" lang="en-US" altLang="ja-JP" dirty="0"/>
                        <a:t>Skill</a:t>
                      </a:r>
                    </a:p>
                    <a:p>
                      <a:pPr algn="ctr"/>
                      <a:r>
                        <a:rPr kumimoji="1" lang="zh-CN" altLang="en-US" dirty="0"/>
                        <a:t>组织技能</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966595633"/>
                  </a:ext>
                </a:extLst>
              </a:tr>
              <a:tr h="684412">
                <a:tc vMerge="1">
                  <a:txBody>
                    <a:bodyPr/>
                    <a:lstStyle/>
                    <a:p>
                      <a:endParaRPr kumimoji="1" lang="ja-JP" altLang="en-US"/>
                    </a:p>
                  </a:txBody>
                  <a:tcPr>
                    <a:solidFill>
                      <a:schemeClr val="accent3">
                        <a:lumMod val="40000"/>
                        <a:lumOff val="60000"/>
                      </a:schemeClr>
                    </a:solidFill>
                  </a:tcPr>
                </a:tc>
                <a:tc>
                  <a:txBody>
                    <a:bodyPr/>
                    <a:lstStyle/>
                    <a:p>
                      <a:pPr algn="ctr"/>
                      <a:r>
                        <a:rPr kumimoji="1" lang="en-US" altLang="ja-JP" dirty="0"/>
                        <a:t>Style</a:t>
                      </a:r>
                    </a:p>
                    <a:p>
                      <a:pPr algn="ctr"/>
                      <a:r>
                        <a:rPr kumimoji="1" lang="zh-CN" altLang="en-US" dirty="0"/>
                        <a:t>组织文化</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3886466461"/>
                  </a:ext>
                </a:extLst>
              </a:tr>
              <a:tr h="684412">
                <a:tc vMerge="1">
                  <a:txBody>
                    <a:bodyPr/>
                    <a:lstStyle/>
                    <a:p>
                      <a:endParaRPr kumimoji="1" lang="ja-JP" altLang="en-US"/>
                    </a:p>
                  </a:txBody>
                  <a:tcPr>
                    <a:solidFill>
                      <a:schemeClr val="accent3">
                        <a:lumMod val="40000"/>
                        <a:lumOff val="60000"/>
                      </a:schemeClr>
                    </a:solidFill>
                  </a:tcPr>
                </a:tc>
                <a:tc>
                  <a:txBody>
                    <a:bodyPr/>
                    <a:lstStyle/>
                    <a:p>
                      <a:pPr algn="ctr"/>
                      <a:r>
                        <a:rPr kumimoji="1" lang="en-US" altLang="ja-JP" dirty="0"/>
                        <a:t>Shared value</a:t>
                      </a:r>
                    </a:p>
                    <a:p>
                      <a:pPr algn="ctr"/>
                      <a:r>
                        <a:rPr kumimoji="1" lang="zh-CN" altLang="en-US" dirty="0"/>
                        <a:t>共享价值观</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200361885"/>
                  </a:ext>
                </a:extLst>
              </a:tr>
            </a:tbl>
          </a:graphicData>
        </a:graphic>
      </p:graphicFrame>
    </p:spTree>
    <p:extLst>
      <p:ext uri="{BB962C8B-B14F-4D97-AF65-F5344CB8AC3E}">
        <p14:creationId xmlns:p14="http://schemas.microsoft.com/office/powerpoint/2010/main" val="2389346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34</a:t>
            </a:r>
            <a:r>
              <a:rPr lang="ja-JP" altLang="en-US" sz="2000" dirty="0">
                <a:solidFill>
                  <a:schemeClr val="bg1"/>
                </a:solidFill>
              </a:rPr>
              <a:t>　</a:t>
            </a:r>
            <a:r>
              <a:rPr lang="zh-CN" altLang="en-US" sz="2000" dirty="0">
                <a:solidFill>
                  <a:schemeClr val="bg1"/>
                </a:solidFill>
              </a:rPr>
              <a:t>马斯洛需求理论</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142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“马斯洛需求层次理论”认为人的需求分为五个层次，企业可以按照这个理论考虑不同阶段的对策。</a:t>
            </a:r>
            <a:endParaRPr lang="en-US" altLang="ja-JP" sz="1138" dirty="0"/>
          </a:p>
        </p:txBody>
      </p:sp>
      <p:graphicFrame>
        <p:nvGraphicFramePr>
          <p:cNvPr id="5" name="表 5">
            <a:extLst>
              <a:ext uri="{FF2B5EF4-FFF2-40B4-BE49-F238E27FC236}">
                <a16:creationId xmlns:a16="http://schemas.microsoft.com/office/drawing/2014/main" id="{BC6341EF-FF4D-0B45-8E3F-E979350B2AFD}"/>
              </a:ext>
            </a:extLst>
          </p:cNvPr>
          <p:cNvGraphicFramePr>
            <a:graphicFrameLocks noGrp="1"/>
          </p:cNvGraphicFramePr>
          <p:nvPr>
            <p:extLst>
              <p:ext uri="{D42A27DB-BD31-4B8C-83A1-F6EECF244321}">
                <p14:modId xmlns:p14="http://schemas.microsoft.com/office/powerpoint/2010/main" val="3132717181"/>
              </p:ext>
            </p:extLst>
          </p:nvPr>
        </p:nvGraphicFramePr>
        <p:xfrm>
          <a:off x="354051" y="1066800"/>
          <a:ext cx="9197897" cy="5433892"/>
        </p:xfrm>
        <a:graphic>
          <a:graphicData uri="http://schemas.openxmlformats.org/drawingml/2006/table">
            <a:tbl>
              <a:tblPr>
                <a:tableStyleId>{1FECB4D8-DB02-4DC6-A0A2-4F2EBAE1DC90}</a:tableStyleId>
              </a:tblPr>
              <a:tblGrid>
                <a:gridCol w="637188">
                  <a:extLst>
                    <a:ext uri="{9D8B030D-6E8A-4147-A177-3AD203B41FA5}">
                      <a16:colId xmlns:a16="http://schemas.microsoft.com/office/drawing/2014/main" val="3709943561"/>
                    </a:ext>
                  </a:extLst>
                </a:gridCol>
                <a:gridCol w="1736593">
                  <a:extLst>
                    <a:ext uri="{9D8B030D-6E8A-4147-A177-3AD203B41FA5}">
                      <a16:colId xmlns:a16="http://schemas.microsoft.com/office/drawing/2014/main" val="2029103453"/>
                    </a:ext>
                  </a:extLst>
                </a:gridCol>
                <a:gridCol w="1767328">
                  <a:extLst>
                    <a:ext uri="{9D8B030D-6E8A-4147-A177-3AD203B41FA5}">
                      <a16:colId xmlns:a16="http://schemas.microsoft.com/office/drawing/2014/main" val="1510112128"/>
                    </a:ext>
                  </a:extLst>
                </a:gridCol>
                <a:gridCol w="1644383">
                  <a:extLst>
                    <a:ext uri="{9D8B030D-6E8A-4147-A177-3AD203B41FA5}">
                      <a16:colId xmlns:a16="http://schemas.microsoft.com/office/drawing/2014/main" val="834191047"/>
                    </a:ext>
                  </a:extLst>
                </a:gridCol>
                <a:gridCol w="1713539">
                  <a:extLst>
                    <a:ext uri="{9D8B030D-6E8A-4147-A177-3AD203B41FA5}">
                      <a16:colId xmlns:a16="http://schemas.microsoft.com/office/drawing/2014/main" val="715787509"/>
                    </a:ext>
                  </a:extLst>
                </a:gridCol>
                <a:gridCol w="1698866">
                  <a:extLst>
                    <a:ext uri="{9D8B030D-6E8A-4147-A177-3AD203B41FA5}">
                      <a16:colId xmlns:a16="http://schemas.microsoft.com/office/drawing/2014/main" val="3184372096"/>
                    </a:ext>
                  </a:extLst>
                </a:gridCol>
              </a:tblGrid>
              <a:tr h="515207">
                <a:tc>
                  <a:txBody>
                    <a:bodyPr/>
                    <a:lstStyle/>
                    <a:p>
                      <a:pPr algn="ctr"/>
                      <a:endParaRPr kumimoji="1" lang="ja-JP" alt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lgn="ctr"/>
                      <a:r>
                        <a:rPr kumimoji="1" lang="ja-JP" altLang="en-US"/>
                        <a:t>第１段階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algn="ctr"/>
                      <a:r>
                        <a:rPr kumimoji="1" lang="ja-JP" altLang="en-US"/>
                        <a:t>第２段階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algn="ctr"/>
                      <a:r>
                        <a:rPr kumimoji="1" lang="ja-JP" altLang="en-US"/>
                        <a:t>第３段階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algn="ctr"/>
                      <a:r>
                        <a:rPr kumimoji="1" lang="ja-JP" altLang="en-US"/>
                        <a:t>第４段階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tc>
                  <a:txBody>
                    <a:bodyPr/>
                    <a:lstStyle/>
                    <a:p>
                      <a:pPr algn="ctr"/>
                      <a:r>
                        <a:rPr kumimoji="1" lang="ja-JP" altLang="en-US"/>
                        <a:t>第５段階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tcPr>
                </a:tc>
                <a:extLst>
                  <a:ext uri="{0D108BD9-81ED-4DB2-BD59-A6C34878D82A}">
                    <a16:rowId xmlns:a16="http://schemas.microsoft.com/office/drawing/2014/main" val="3294193511"/>
                  </a:ext>
                </a:extLst>
              </a:tr>
              <a:tr h="1053617">
                <a:tc>
                  <a:txBody>
                    <a:bodyPr/>
                    <a:lstStyle/>
                    <a:p>
                      <a:pPr algn="ctr"/>
                      <a:r>
                        <a:rPr kumimoji="1" lang="zh-CN" altLang="en-US" sz="1400" dirty="0"/>
                        <a:t>需求阶段</a:t>
                      </a:r>
                      <a:endParaRPr kumimoji="1" lang="ja-JP" altLang="en-US" sz="1400" dirty="0"/>
                    </a:p>
                  </a:txBody>
                  <a:tcPr vert="eaVert"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kumimoji="1" lang="ja-JP" altLang="en-US" sz="1600" dirty="0"/>
                        <a:t>生理需求</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600" dirty="0"/>
                        <a:t>安全需求</a:t>
                      </a:r>
                      <a:endParaRPr kumimoji="1" lang="ja-JP" alt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600" dirty="0"/>
                        <a:t>社会需求</a:t>
                      </a:r>
                      <a:endParaRPr kumimoji="1" lang="ja-JP" alt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600" dirty="0"/>
                        <a:t>认可需求</a:t>
                      </a:r>
                      <a:endParaRPr kumimoji="1" lang="ja-JP" alt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600" dirty="0"/>
                        <a:t>自我实现需求</a:t>
                      </a:r>
                      <a:endParaRPr kumimoji="1" lang="ja-JP" altLang="en-US" sz="1600"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20000"/>
                          <a:lumOff val="80000"/>
                        </a:schemeClr>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742429064"/>
                  </a:ext>
                </a:extLst>
              </a:tr>
              <a:tr h="1214077">
                <a:tc>
                  <a:txBody>
                    <a:bodyPr/>
                    <a:lstStyle/>
                    <a:p>
                      <a:pPr algn="ctr"/>
                      <a:r>
                        <a:rPr kumimoji="1" lang="zh-CN" altLang="en-US" sz="1400" dirty="0"/>
                        <a:t>满足需求示例</a:t>
                      </a:r>
                      <a:endParaRPr kumimoji="1" lang="ja-JP" altLang="en-US" sz="1400" dirty="0"/>
                    </a:p>
                  </a:txBody>
                  <a:tcPr vert="eaVert"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kumimoji="1" lang="zh-CN" altLang="en-US" sz="1200" dirty="0"/>
                        <a:t>维持生活的金钱和</a:t>
                      </a:r>
                    </a:p>
                    <a:p>
                      <a:pPr algn="ctr"/>
                      <a:r>
                        <a:rPr kumimoji="1" lang="zh-CN" altLang="en-US" sz="1200" dirty="0"/>
                        <a:t>时间</a:t>
                      </a:r>
                      <a:endParaRPr kumimoji="1" lang="ja-JP" altLang="en-US"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200" dirty="0"/>
                        <a:t>安全的职场、完善</a:t>
                      </a:r>
                    </a:p>
                    <a:p>
                      <a:pPr algn="ctr"/>
                      <a:r>
                        <a:rPr kumimoji="1" lang="zh-CN" altLang="en-US" sz="1200" dirty="0"/>
                        <a:t>的保障</a:t>
                      </a:r>
                      <a:endParaRPr kumimoji="1" lang="ja-JP" altLang="en-US"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200" dirty="0"/>
                        <a:t>值得信赖的上司和</a:t>
                      </a:r>
                    </a:p>
                    <a:p>
                      <a:pPr algn="ctr"/>
                      <a:r>
                        <a:rPr kumimoji="1" lang="zh-CN" altLang="en-US" sz="1200" dirty="0"/>
                        <a:t>同事</a:t>
                      </a:r>
                      <a:endParaRPr kumimoji="1" lang="ja-JP" altLang="en-US"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200" dirty="0"/>
                        <a:t>职位、同事的称赞、</a:t>
                      </a:r>
                    </a:p>
                    <a:p>
                      <a:pPr algn="ctr"/>
                      <a:r>
                        <a:rPr kumimoji="1" lang="zh-CN" altLang="en-US" sz="1200" dirty="0"/>
                        <a:t>根据业绩升职</a:t>
                      </a:r>
                      <a:endParaRPr kumimoji="1" lang="ja-JP" altLang="en-US"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zh-CN" altLang="en-US" sz="1200" dirty="0"/>
                        <a:t>有挑战的、创造性</a:t>
                      </a:r>
                    </a:p>
                    <a:p>
                      <a:pPr algn="ctr"/>
                      <a:r>
                        <a:rPr kumimoji="1" lang="zh-CN" altLang="en-US" sz="1200" dirty="0"/>
                        <a:t>的工作</a:t>
                      </a:r>
                      <a:endParaRPr kumimoji="1" lang="ja-JP" altLang="en-US" sz="1200"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20000"/>
                          <a:lumOff val="8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362059426"/>
                  </a:ext>
                </a:extLst>
              </a:tr>
              <a:tr h="2650991">
                <a:tc>
                  <a:txBody>
                    <a:bodyPr/>
                    <a:lstStyle/>
                    <a:p>
                      <a:pPr algn="ctr"/>
                      <a:r>
                        <a:rPr kumimoji="1" lang="zh-CN" altLang="en-US" sz="1400" dirty="0"/>
                        <a:t>对策</a:t>
                      </a:r>
                      <a:endParaRPr kumimoji="1" lang="ja-JP" altLang="en-US" sz="1400" dirty="0"/>
                    </a:p>
                  </a:txBody>
                  <a:tcPr vert="eaVert"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tcPr>
                </a:tc>
                <a:tc>
                  <a:txBody>
                    <a:bodyPr/>
                    <a:lstStyle/>
                    <a:p>
                      <a:endParaRPr kumimoji="1" lang="ja-JP" altLang="en-US"/>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tcPr>
                </a:tc>
                <a:tc>
                  <a:txBody>
                    <a:bodyPr/>
                    <a:lstStyle/>
                    <a:p>
                      <a:endParaRPr kumimoji="1" lang="ja-JP" altLang="en-US" dirty="0"/>
                    </a:p>
                  </a:txBody>
                  <a:tcPr>
                    <a:lnL w="12700" cap="flat" cmpd="sng" algn="ctr">
                      <a:solidFill>
                        <a:schemeClr val="accent3"/>
                      </a:solidFill>
                      <a:prstDash val="solid"/>
                      <a:round/>
                      <a:headEnd type="none" w="med" len="med"/>
                      <a:tailEnd type="none" w="med" len="med"/>
                    </a:lnL>
                    <a:lnT w="12700" cap="flat" cmpd="sng" algn="ctr">
                      <a:solidFill>
                        <a:schemeClr val="accent3">
                          <a:lumMod val="20000"/>
                          <a:lumOff val="80000"/>
                        </a:schemeClr>
                      </a:solidFill>
                      <a:prstDash val="solid"/>
                      <a:round/>
                      <a:headEnd type="none" w="med" len="med"/>
                      <a:tailEnd type="none" w="med" len="med"/>
                    </a:lnT>
                  </a:tcPr>
                </a:tc>
                <a:extLst>
                  <a:ext uri="{0D108BD9-81ED-4DB2-BD59-A6C34878D82A}">
                    <a16:rowId xmlns:a16="http://schemas.microsoft.com/office/drawing/2014/main" val="1388968075"/>
                  </a:ext>
                </a:extLst>
              </a:tr>
            </a:tbl>
          </a:graphicData>
        </a:graphic>
      </p:graphicFrame>
      <p:sp>
        <p:nvSpPr>
          <p:cNvPr id="6" name="三角形 5">
            <a:extLst>
              <a:ext uri="{FF2B5EF4-FFF2-40B4-BE49-F238E27FC236}">
                <a16:creationId xmlns:a16="http://schemas.microsoft.com/office/drawing/2014/main" id="{2D222321-5A0A-6D42-A7A9-1DAD0C9C01F7}"/>
              </a:ext>
            </a:extLst>
          </p:cNvPr>
          <p:cNvSpPr/>
          <p:nvPr/>
        </p:nvSpPr>
        <p:spPr>
          <a:xfrm rot="5400000">
            <a:off x="2606170" y="1215328"/>
            <a:ext cx="291122"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44087770-D24C-354D-9848-C30679592B65}"/>
              </a:ext>
            </a:extLst>
          </p:cNvPr>
          <p:cNvSpPr/>
          <p:nvPr/>
        </p:nvSpPr>
        <p:spPr>
          <a:xfrm rot="5400000">
            <a:off x="4379901" y="1215328"/>
            <a:ext cx="291122"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三角形 7">
            <a:extLst>
              <a:ext uri="{FF2B5EF4-FFF2-40B4-BE49-F238E27FC236}">
                <a16:creationId xmlns:a16="http://schemas.microsoft.com/office/drawing/2014/main" id="{1BF9E84B-63B4-5C4E-91A9-B33C2CF8DF46}"/>
              </a:ext>
            </a:extLst>
          </p:cNvPr>
          <p:cNvSpPr/>
          <p:nvPr/>
        </p:nvSpPr>
        <p:spPr>
          <a:xfrm rot="5400000">
            <a:off x="6055426" y="1215328"/>
            <a:ext cx="291122"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三角形 8">
            <a:extLst>
              <a:ext uri="{FF2B5EF4-FFF2-40B4-BE49-F238E27FC236}">
                <a16:creationId xmlns:a16="http://schemas.microsoft.com/office/drawing/2014/main" id="{FB51FB6A-9022-D044-BC8E-61060674D7AA}"/>
              </a:ext>
            </a:extLst>
          </p:cNvPr>
          <p:cNvSpPr/>
          <p:nvPr/>
        </p:nvSpPr>
        <p:spPr>
          <a:xfrm rot="5400000">
            <a:off x="7730951" y="1215328"/>
            <a:ext cx="291122"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4" name="表 3">
            <a:extLst>
              <a:ext uri="{FF2B5EF4-FFF2-40B4-BE49-F238E27FC236}">
                <a16:creationId xmlns:a16="http://schemas.microsoft.com/office/drawing/2014/main" id="{D32AAFF7-58ED-5D4D-BB06-139E879CA3F7}"/>
              </a:ext>
            </a:extLst>
          </p:cNvPr>
          <p:cNvGraphicFramePr>
            <a:graphicFrameLocks noGrp="1"/>
          </p:cNvGraphicFramePr>
          <p:nvPr/>
        </p:nvGraphicFramePr>
        <p:xfrm>
          <a:off x="368834" y="1874904"/>
          <a:ext cx="208280" cy="365760"/>
        </p:xfrm>
        <a:graphic>
          <a:graphicData uri="http://schemas.openxmlformats.org/drawingml/2006/table">
            <a:tbl>
              <a:tblPr/>
              <a:tblGrid>
                <a:gridCol w="208280">
                  <a:extLst>
                    <a:ext uri="{9D8B030D-6E8A-4147-A177-3AD203B41FA5}">
                      <a16:colId xmlns:a16="http://schemas.microsoft.com/office/drawing/2014/main" val="521966490"/>
                    </a:ext>
                  </a:extLst>
                </a:gridCol>
              </a:tblGrid>
              <a:tr h="0">
                <a:tc>
                  <a:txBody>
                    <a:bodyPr/>
                    <a:lstStyle/>
                    <a:p>
                      <a:endParaRPr kumimoji="1" lang="ja-JP" altLang="en-US"/>
                    </a:p>
                  </a:txBody>
                  <a:tcPr>
                    <a:lnL w="12700" cmpd="sng">
                      <a:solidFill>
                        <a:schemeClr val="accent3">
                          <a:lumMod val="60000"/>
                          <a:lumOff val="40000"/>
                        </a:schemeClr>
                      </a:solidFill>
                      <a:prstDash val="solid"/>
                    </a:lnL>
                    <a:lnR w="12700" cmpd="sng">
                      <a:solidFill>
                        <a:schemeClr val="accent3">
                          <a:lumMod val="60000"/>
                          <a:lumOff val="40000"/>
                        </a:schemeClr>
                      </a:solidFill>
                      <a:prstDash val="solid"/>
                    </a:lnR>
                    <a:lnT w="12700" cmpd="sng">
                      <a:solidFill>
                        <a:schemeClr val="accent3">
                          <a:lumMod val="60000"/>
                          <a:lumOff val="40000"/>
                        </a:schemeClr>
                      </a:solidFill>
                      <a:prstDash val="solid"/>
                    </a:lnT>
                    <a:lnB w="12700" cmpd="sng">
                      <a:solidFill>
                        <a:schemeClr val="accent3">
                          <a:lumMod val="60000"/>
                          <a:lumOff val="40000"/>
                        </a:schemeClr>
                      </a:solidFill>
                      <a:prstDash val="solid"/>
                    </a:lnB>
                  </a:tcPr>
                </a:tc>
                <a:extLst>
                  <a:ext uri="{0D108BD9-81ED-4DB2-BD59-A6C34878D82A}">
                    <a16:rowId xmlns:a16="http://schemas.microsoft.com/office/drawing/2014/main" val="1012733993"/>
                  </a:ext>
                </a:extLst>
              </a:tr>
            </a:tbl>
          </a:graphicData>
        </a:graphic>
      </p:graphicFrame>
    </p:spTree>
    <p:extLst>
      <p:ext uri="{BB962C8B-B14F-4D97-AF65-F5344CB8AC3E}">
        <p14:creationId xmlns:p14="http://schemas.microsoft.com/office/powerpoint/2010/main" val="3411295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35</a:t>
            </a:r>
            <a:r>
              <a:rPr lang="ja-JP" altLang="en-US" sz="2000" dirty="0">
                <a:solidFill>
                  <a:schemeClr val="bg1"/>
                </a:solidFill>
              </a:rPr>
              <a:t>　</a:t>
            </a:r>
            <a:r>
              <a:rPr lang="zh-CN" altLang="en-US" sz="2000" dirty="0">
                <a:solidFill>
                  <a:schemeClr val="bg1"/>
                </a:solidFill>
              </a:rPr>
              <a:t>卡茨管理技能模型</a:t>
            </a:r>
            <a:r>
              <a:rPr lang="ja-JP" altLang="en-US" sz="2000" dirty="0">
                <a:solidFill>
                  <a:schemeClr val="bg1"/>
                </a:solidFill>
              </a:rPr>
              <a:t> </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146</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根据不同的管理水平，确认将重点放在哪个技能上进行人才培训。</a:t>
            </a:r>
            <a:endParaRPr lang="en-US" altLang="ja-JP" sz="1138" dirty="0"/>
          </a:p>
        </p:txBody>
      </p:sp>
      <p:sp>
        <p:nvSpPr>
          <p:cNvPr id="6" name="下矢印 5">
            <a:extLst>
              <a:ext uri="{FF2B5EF4-FFF2-40B4-BE49-F238E27FC236}">
                <a16:creationId xmlns:a16="http://schemas.microsoft.com/office/drawing/2014/main" id="{4B40DADF-8B80-3E45-B534-C797F123911A}"/>
              </a:ext>
            </a:extLst>
          </p:cNvPr>
          <p:cNvSpPr/>
          <p:nvPr/>
        </p:nvSpPr>
        <p:spPr>
          <a:xfrm rot="10800000">
            <a:off x="354052" y="1066800"/>
            <a:ext cx="297180" cy="543306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aphicFrame>
        <p:nvGraphicFramePr>
          <p:cNvPr id="7" name="表 7">
            <a:extLst>
              <a:ext uri="{FF2B5EF4-FFF2-40B4-BE49-F238E27FC236}">
                <a16:creationId xmlns:a16="http://schemas.microsoft.com/office/drawing/2014/main" id="{254BAC14-AD69-2D4D-BE58-045BC23F90F8}"/>
              </a:ext>
            </a:extLst>
          </p:cNvPr>
          <p:cNvGraphicFramePr>
            <a:graphicFrameLocks noGrp="1"/>
          </p:cNvGraphicFramePr>
          <p:nvPr>
            <p:extLst>
              <p:ext uri="{D42A27DB-BD31-4B8C-83A1-F6EECF244321}">
                <p14:modId xmlns:p14="http://schemas.microsoft.com/office/powerpoint/2010/main" val="1802577973"/>
              </p:ext>
            </p:extLst>
          </p:nvPr>
        </p:nvGraphicFramePr>
        <p:xfrm>
          <a:off x="708659" y="1066800"/>
          <a:ext cx="8843288" cy="5433060"/>
        </p:xfrm>
        <a:graphic>
          <a:graphicData uri="http://schemas.openxmlformats.org/drawingml/2006/table">
            <a:tbl>
              <a:tblPr>
                <a:tableStyleId>{1FECB4D8-DB02-4DC6-A0A2-4F2EBAE1DC90}</a:tableStyleId>
              </a:tblPr>
              <a:tblGrid>
                <a:gridCol w="2728998">
                  <a:extLst>
                    <a:ext uri="{9D8B030D-6E8A-4147-A177-3AD203B41FA5}">
                      <a16:colId xmlns:a16="http://schemas.microsoft.com/office/drawing/2014/main" val="4065720517"/>
                    </a:ext>
                  </a:extLst>
                </a:gridCol>
                <a:gridCol w="6114290">
                  <a:extLst>
                    <a:ext uri="{9D8B030D-6E8A-4147-A177-3AD203B41FA5}">
                      <a16:colId xmlns:a16="http://schemas.microsoft.com/office/drawing/2014/main" val="3963687884"/>
                    </a:ext>
                  </a:extLst>
                </a:gridCol>
              </a:tblGrid>
              <a:tr h="1811020">
                <a:tc>
                  <a:txBody>
                    <a:bodyPr/>
                    <a:lstStyle/>
                    <a:p>
                      <a:pPr algn="ctr"/>
                      <a:r>
                        <a:rPr kumimoji="1" lang="zh-CN" altLang="en-US" dirty="0"/>
                        <a:t>高层管理者</a:t>
                      </a:r>
                      <a:endParaRPr kumimoji="1" lang="ja-JP" altLang="en-US" dirty="0"/>
                    </a:p>
                  </a:txBody>
                  <a:tcPr anchor="ctr">
                    <a:lnL w="12700" cap="flat" cmpd="sng" algn="ctr">
                      <a:solidFill>
                        <a:schemeClr val="bg1"/>
                      </a:solidFill>
                      <a:prstDash val="solid"/>
                      <a:round/>
                      <a:headEnd type="none" w="med" len="med"/>
                      <a:tailEnd type="none" w="med" len="med"/>
                    </a:lnL>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endParaRPr kumimoji="1" lang="ja-JP" altLang="en-US"/>
                    </a:p>
                  </a:txBody>
                  <a:tcPr>
                    <a:lnB w="3175" cap="flat" cmpd="sng" algn="ctr">
                      <a:solidFill>
                        <a:schemeClr val="accent3"/>
                      </a:solidFill>
                      <a:prstDash val="sysDash"/>
                      <a:round/>
                      <a:headEnd type="none" w="med" len="med"/>
                      <a:tailEnd type="none" w="med" len="med"/>
                    </a:lnB>
                  </a:tcPr>
                </a:tc>
                <a:extLst>
                  <a:ext uri="{0D108BD9-81ED-4DB2-BD59-A6C34878D82A}">
                    <a16:rowId xmlns:a16="http://schemas.microsoft.com/office/drawing/2014/main" val="2625577428"/>
                  </a:ext>
                </a:extLst>
              </a:tr>
              <a:tr h="1811020">
                <a:tc>
                  <a:txBody>
                    <a:bodyPr/>
                    <a:lstStyle/>
                    <a:p>
                      <a:pPr algn="ctr"/>
                      <a:r>
                        <a:rPr kumimoji="1" lang="zh-CN" altLang="en-US" dirty="0"/>
                        <a:t>中层管理者</a:t>
                      </a:r>
                      <a:endParaRPr kumimoji="1" lang="ja-JP"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endParaRPr kumimoji="1" lang="ja-JP" altLang="en-US"/>
                    </a:p>
                  </a:txBody>
                  <a:tcPr>
                    <a:lnT w="3175" cap="flat" cmpd="sng" algn="ctr">
                      <a:solidFill>
                        <a:schemeClr val="accent3"/>
                      </a:solidFill>
                      <a:prstDash val="sysDash"/>
                      <a:round/>
                      <a:headEnd type="none" w="med" len="med"/>
                      <a:tailEnd type="none" w="med" len="med"/>
                    </a:lnT>
                    <a:lnB w="3175" cap="flat" cmpd="sng" algn="ctr">
                      <a:solidFill>
                        <a:schemeClr val="accent3"/>
                      </a:solidFill>
                      <a:prstDash val="sysDash"/>
                      <a:round/>
                      <a:headEnd type="none" w="med" len="med"/>
                      <a:tailEnd type="none" w="med" len="med"/>
                    </a:lnB>
                  </a:tcPr>
                </a:tc>
                <a:extLst>
                  <a:ext uri="{0D108BD9-81ED-4DB2-BD59-A6C34878D82A}">
                    <a16:rowId xmlns:a16="http://schemas.microsoft.com/office/drawing/2014/main" val="430755600"/>
                  </a:ext>
                </a:extLst>
              </a:tr>
              <a:tr h="1811020">
                <a:tc>
                  <a:txBody>
                    <a:bodyPr/>
                    <a:lstStyle/>
                    <a:p>
                      <a:pPr algn="ctr"/>
                      <a:r>
                        <a:rPr kumimoji="1" lang="zh-CN" altLang="en-US" dirty="0"/>
                        <a:t>基层管理者</a:t>
                      </a:r>
                      <a:endParaRPr kumimoji="1" lang="ja-JP"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tc>
                  <a:txBody>
                    <a:bodyPr/>
                    <a:lstStyle/>
                    <a:p>
                      <a:endParaRPr kumimoji="1" lang="ja-JP" altLang="en-US" dirty="0"/>
                    </a:p>
                  </a:txBody>
                  <a:tcPr>
                    <a:lnT w="3175" cap="flat" cmpd="sng" algn="ctr">
                      <a:solidFill>
                        <a:schemeClr val="accent3"/>
                      </a:solidFill>
                      <a:prstDash val="sysDash"/>
                      <a:round/>
                      <a:headEnd type="none" w="med" len="med"/>
                      <a:tailEnd type="none" w="med" len="med"/>
                    </a:lnT>
                  </a:tcPr>
                </a:tc>
                <a:extLst>
                  <a:ext uri="{0D108BD9-81ED-4DB2-BD59-A6C34878D82A}">
                    <a16:rowId xmlns:a16="http://schemas.microsoft.com/office/drawing/2014/main" val="769777363"/>
                  </a:ext>
                </a:extLst>
              </a:tr>
            </a:tbl>
          </a:graphicData>
        </a:graphic>
      </p:graphicFrame>
      <p:cxnSp>
        <p:nvCxnSpPr>
          <p:cNvPr id="9" name="直線コネクタ 8">
            <a:extLst>
              <a:ext uri="{FF2B5EF4-FFF2-40B4-BE49-F238E27FC236}">
                <a16:creationId xmlns:a16="http://schemas.microsoft.com/office/drawing/2014/main" id="{8BF11BC5-5D65-924E-8FD3-3D0D05DDC4F6}"/>
              </a:ext>
            </a:extLst>
          </p:cNvPr>
          <p:cNvCxnSpPr>
            <a:cxnSpLocks/>
          </p:cNvCxnSpPr>
          <p:nvPr/>
        </p:nvCxnSpPr>
        <p:spPr>
          <a:xfrm flipV="1">
            <a:off x="4762500" y="1066800"/>
            <a:ext cx="1219200" cy="543306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E259744E-E976-E14D-9C99-C98A37FBB638}"/>
              </a:ext>
            </a:extLst>
          </p:cNvPr>
          <p:cNvCxnSpPr>
            <a:cxnSpLocks/>
          </p:cNvCxnSpPr>
          <p:nvPr/>
        </p:nvCxnSpPr>
        <p:spPr>
          <a:xfrm flipV="1">
            <a:off x="7157223" y="1066800"/>
            <a:ext cx="1219200" cy="543306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71AD0F36-AF38-EC45-9BDD-1428DF98BE2E}"/>
              </a:ext>
            </a:extLst>
          </p:cNvPr>
          <p:cNvSpPr txBox="1"/>
          <p:nvPr/>
        </p:nvSpPr>
        <p:spPr>
          <a:xfrm>
            <a:off x="3689411" y="1501140"/>
            <a:ext cx="1800493" cy="646331"/>
          </a:xfrm>
          <a:prstGeom prst="rect">
            <a:avLst/>
          </a:prstGeom>
          <a:noFill/>
        </p:spPr>
        <p:txBody>
          <a:bodyPr wrap="none" rtlCol="0">
            <a:spAutoFit/>
          </a:bodyPr>
          <a:lstStyle/>
          <a:p>
            <a:pPr algn="ctr"/>
            <a:r>
              <a:rPr kumimoji="1" lang="ja-JP" altLang="en-US" dirty="0">
                <a:solidFill>
                  <a:schemeClr val="accent3"/>
                </a:solidFill>
              </a:rPr>
              <a:t>概念性技能</a:t>
            </a:r>
          </a:p>
          <a:p>
            <a:r>
              <a:rPr kumimoji="1" lang="ja-JP" altLang="en-US" dirty="0">
                <a:solidFill>
                  <a:schemeClr val="accent3"/>
                </a:solidFill>
              </a:rPr>
              <a:t>（概念化能力）</a:t>
            </a:r>
          </a:p>
        </p:txBody>
      </p:sp>
      <p:sp>
        <p:nvSpPr>
          <p:cNvPr id="13" name="テキスト ボックス 12">
            <a:extLst>
              <a:ext uri="{FF2B5EF4-FFF2-40B4-BE49-F238E27FC236}">
                <a16:creationId xmlns:a16="http://schemas.microsoft.com/office/drawing/2014/main" id="{303AFBC3-0604-AE4D-9B89-5C5D891BE6A9}"/>
              </a:ext>
            </a:extLst>
          </p:cNvPr>
          <p:cNvSpPr txBox="1"/>
          <p:nvPr/>
        </p:nvSpPr>
        <p:spPr>
          <a:xfrm>
            <a:off x="5617271" y="3321665"/>
            <a:ext cx="2031325" cy="646331"/>
          </a:xfrm>
          <a:prstGeom prst="rect">
            <a:avLst/>
          </a:prstGeom>
          <a:noFill/>
        </p:spPr>
        <p:txBody>
          <a:bodyPr wrap="none" rtlCol="0">
            <a:spAutoFit/>
          </a:bodyPr>
          <a:lstStyle/>
          <a:p>
            <a:pPr algn="ctr"/>
            <a:r>
              <a:rPr kumimoji="1" lang="zh-CN" altLang="en-US" dirty="0">
                <a:solidFill>
                  <a:schemeClr val="accent3"/>
                </a:solidFill>
              </a:rPr>
              <a:t>人际交往技能</a:t>
            </a:r>
          </a:p>
          <a:p>
            <a:r>
              <a:rPr kumimoji="1" lang="zh-CN" altLang="en-US" dirty="0">
                <a:solidFill>
                  <a:schemeClr val="accent3"/>
                </a:solidFill>
              </a:rPr>
              <a:t>（人际交往能力）</a:t>
            </a:r>
            <a:endParaRPr kumimoji="1" lang="ja-JP" altLang="en-US" dirty="0">
              <a:solidFill>
                <a:schemeClr val="accent3"/>
              </a:solidFill>
            </a:endParaRPr>
          </a:p>
        </p:txBody>
      </p:sp>
      <p:sp>
        <p:nvSpPr>
          <p:cNvPr id="14" name="テキスト ボックス 13">
            <a:extLst>
              <a:ext uri="{FF2B5EF4-FFF2-40B4-BE49-F238E27FC236}">
                <a16:creationId xmlns:a16="http://schemas.microsoft.com/office/drawing/2014/main" id="{F1651CF1-9614-774A-9460-AB8DAB65D5CA}"/>
              </a:ext>
            </a:extLst>
          </p:cNvPr>
          <p:cNvSpPr txBox="1"/>
          <p:nvPr/>
        </p:nvSpPr>
        <p:spPr>
          <a:xfrm>
            <a:off x="7587711" y="5196185"/>
            <a:ext cx="2031325" cy="646331"/>
          </a:xfrm>
          <a:prstGeom prst="rect">
            <a:avLst/>
          </a:prstGeom>
          <a:noFill/>
        </p:spPr>
        <p:txBody>
          <a:bodyPr wrap="none" rtlCol="0">
            <a:spAutoFit/>
          </a:bodyPr>
          <a:lstStyle/>
          <a:p>
            <a:pPr algn="ctr"/>
            <a:r>
              <a:rPr kumimoji="1" lang="zh-CN" altLang="en-US" dirty="0">
                <a:solidFill>
                  <a:schemeClr val="accent3"/>
                </a:solidFill>
              </a:rPr>
              <a:t>技术性技能</a:t>
            </a:r>
          </a:p>
          <a:p>
            <a:pPr algn="ctr"/>
            <a:r>
              <a:rPr kumimoji="1" lang="zh-CN" altLang="en-US" dirty="0">
                <a:solidFill>
                  <a:schemeClr val="accent3"/>
                </a:solidFill>
              </a:rPr>
              <a:t>（业务执行能力）</a:t>
            </a:r>
            <a:endParaRPr kumimoji="1" lang="ja-JP" altLang="en-US" dirty="0">
              <a:solidFill>
                <a:schemeClr val="accent3"/>
              </a:solidFill>
            </a:endParaRPr>
          </a:p>
        </p:txBody>
      </p:sp>
    </p:spTree>
    <p:extLst>
      <p:ext uri="{BB962C8B-B14F-4D97-AF65-F5344CB8AC3E}">
        <p14:creationId xmlns:p14="http://schemas.microsoft.com/office/powerpoint/2010/main" val="3061845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36</a:t>
            </a:r>
            <a:r>
              <a:rPr lang="ja-JP" altLang="en-US" sz="2000" dirty="0">
                <a:solidFill>
                  <a:schemeClr val="bg1"/>
                </a:solidFill>
              </a:rPr>
              <a:t>　ＰＭ理論</a:t>
            </a:r>
            <a:r>
              <a:rPr lang="en-US" altLang="ja-JP" sz="2000" dirty="0">
                <a:solidFill>
                  <a:schemeClr val="bg1"/>
                </a:solidFill>
              </a:rPr>
              <a:t> </a:t>
            </a:r>
            <a:r>
              <a:rPr lang="ja-JP" altLang="en-US" sz="1625" dirty="0">
                <a:solidFill>
                  <a:schemeClr val="bg1"/>
                </a:solidFill>
              </a:rPr>
              <a:t>→</a:t>
            </a:r>
            <a:r>
              <a:rPr lang="zh-CN" altLang="en-US" sz="1625" dirty="0">
                <a:solidFill>
                  <a:schemeClr val="bg1"/>
                </a:solidFill>
              </a:rPr>
              <a:t>第</a:t>
            </a:r>
            <a:r>
              <a:rPr lang="en-US" altLang="zh-CN" sz="1625" dirty="0">
                <a:solidFill>
                  <a:schemeClr val="bg1"/>
                </a:solidFill>
              </a:rPr>
              <a:t>150</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将领导者和储备干部名字填入到表单，确认他们各自的长处和短处，思考培养人才的方针。</a:t>
            </a:r>
            <a:endParaRPr lang="en-US" altLang="ja-JP" sz="1138" dirty="0"/>
          </a:p>
        </p:txBody>
      </p:sp>
      <p:sp>
        <p:nvSpPr>
          <p:cNvPr id="5" name="上下矢印 4">
            <a:extLst>
              <a:ext uri="{FF2B5EF4-FFF2-40B4-BE49-F238E27FC236}">
                <a16:creationId xmlns:a16="http://schemas.microsoft.com/office/drawing/2014/main" id="{4AF61D93-F124-6945-B9B8-51ADF8E5A093}"/>
              </a:ext>
            </a:extLst>
          </p:cNvPr>
          <p:cNvSpPr/>
          <p:nvPr/>
        </p:nvSpPr>
        <p:spPr>
          <a:xfrm flipH="1" flipV="1">
            <a:off x="1684639" y="1333138"/>
            <a:ext cx="350036" cy="4473302"/>
          </a:xfrm>
          <a:prstGeom prst="up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386FBA98-9AFB-DA4C-A8AD-4370B82C7AF9}"/>
              </a:ext>
            </a:extLst>
          </p:cNvPr>
          <p:cNvSpPr txBox="1"/>
          <p:nvPr/>
        </p:nvSpPr>
        <p:spPr>
          <a:xfrm>
            <a:off x="1317085" y="2689859"/>
            <a:ext cx="461665" cy="2360593"/>
          </a:xfrm>
          <a:prstGeom prst="rect">
            <a:avLst/>
          </a:prstGeom>
          <a:noFill/>
        </p:spPr>
        <p:txBody>
          <a:bodyPr vert="eaVert" wrap="square" rtlCol="0">
            <a:spAutoFit/>
          </a:bodyPr>
          <a:lstStyle/>
          <a:p>
            <a:r>
              <a:rPr kumimoji="1" lang="ja-JP" altLang="en-US" dirty="0"/>
              <a:t>Ｐ　</a:t>
            </a:r>
            <a:r>
              <a:rPr kumimoji="1" lang="zh-CN" altLang="en-US" dirty="0"/>
              <a:t>达成目标的能力</a:t>
            </a:r>
            <a:endParaRPr kumimoji="1" lang="ja-JP" altLang="en-US" dirty="0"/>
          </a:p>
        </p:txBody>
      </p:sp>
      <p:sp>
        <p:nvSpPr>
          <p:cNvPr id="7" name="テキスト ボックス 6">
            <a:extLst>
              <a:ext uri="{FF2B5EF4-FFF2-40B4-BE49-F238E27FC236}">
                <a16:creationId xmlns:a16="http://schemas.microsoft.com/office/drawing/2014/main" id="{A1EA86B1-CA74-034E-908A-3006250F7048}"/>
              </a:ext>
            </a:extLst>
          </p:cNvPr>
          <p:cNvSpPr txBox="1"/>
          <p:nvPr/>
        </p:nvSpPr>
        <p:spPr>
          <a:xfrm>
            <a:off x="1677556" y="1094180"/>
            <a:ext cx="364202" cy="307777"/>
          </a:xfrm>
          <a:prstGeom prst="rect">
            <a:avLst/>
          </a:prstGeom>
          <a:noFill/>
        </p:spPr>
        <p:txBody>
          <a:bodyPr wrap="none" rtlCol="0">
            <a:spAutoFit/>
          </a:bodyPr>
          <a:lstStyle/>
          <a:p>
            <a:r>
              <a:rPr kumimoji="1" lang="zh-CN" altLang="en-US" sz="1400" dirty="0"/>
              <a:t>强</a:t>
            </a:r>
            <a:endParaRPr kumimoji="1" lang="ja-JP" altLang="en-US" sz="1400" dirty="0"/>
          </a:p>
        </p:txBody>
      </p:sp>
      <p:sp>
        <p:nvSpPr>
          <p:cNvPr id="8" name="テキスト ボックス 7">
            <a:extLst>
              <a:ext uri="{FF2B5EF4-FFF2-40B4-BE49-F238E27FC236}">
                <a16:creationId xmlns:a16="http://schemas.microsoft.com/office/drawing/2014/main" id="{C8F615FD-0432-694C-820D-68BE3C689D17}"/>
              </a:ext>
            </a:extLst>
          </p:cNvPr>
          <p:cNvSpPr txBox="1"/>
          <p:nvPr/>
        </p:nvSpPr>
        <p:spPr>
          <a:xfrm>
            <a:off x="1677556" y="5745480"/>
            <a:ext cx="364202" cy="307777"/>
          </a:xfrm>
          <a:prstGeom prst="rect">
            <a:avLst/>
          </a:prstGeom>
          <a:noFill/>
        </p:spPr>
        <p:txBody>
          <a:bodyPr wrap="none" rtlCol="0">
            <a:spAutoFit/>
          </a:bodyPr>
          <a:lstStyle/>
          <a:p>
            <a:r>
              <a:rPr kumimoji="1" lang="zh-CN" altLang="en-US" sz="1400" dirty="0"/>
              <a:t>弱</a:t>
            </a:r>
            <a:endParaRPr kumimoji="1" lang="ja-JP" altLang="en-US" sz="1400" dirty="0"/>
          </a:p>
        </p:txBody>
      </p:sp>
      <p:sp>
        <p:nvSpPr>
          <p:cNvPr id="9" name="上下矢印 8">
            <a:extLst>
              <a:ext uri="{FF2B5EF4-FFF2-40B4-BE49-F238E27FC236}">
                <a16:creationId xmlns:a16="http://schemas.microsoft.com/office/drawing/2014/main" id="{A341387D-BF39-214C-B5A6-A0FA2A010095}"/>
              </a:ext>
            </a:extLst>
          </p:cNvPr>
          <p:cNvSpPr/>
          <p:nvPr/>
        </p:nvSpPr>
        <p:spPr>
          <a:xfrm rot="5400000" flipH="1" flipV="1">
            <a:off x="4252579" y="3864889"/>
            <a:ext cx="350036" cy="4473302"/>
          </a:xfrm>
          <a:prstGeom prst="up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138772E3-E7A2-A34E-A517-F9913D52FBFD}"/>
              </a:ext>
            </a:extLst>
          </p:cNvPr>
          <p:cNvSpPr txBox="1"/>
          <p:nvPr/>
        </p:nvSpPr>
        <p:spPr>
          <a:xfrm>
            <a:off x="1900141" y="5968781"/>
            <a:ext cx="364202" cy="307777"/>
          </a:xfrm>
          <a:prstGeom prst="rect">
            <a:avLst/>
          </a:prstGeom>
          <a:noFill/>
        </p:spPr>
        <p:txBody>
          <a:bodyPr wrap="none" rtlCol="0">
            <a:spAutoFit/>
          </a:bodyPr>
          <a:lstStyle/>
          <a:p>
            <a:r>
              <a:rPr kumimoji="1" lang="zh-CN" altLang="en-US" sz="1400" dirty="0"/>
              <a:t>弱</a:t>
            </a:r>
            <a:endParaRPr kumimoji="1" lang="ja-JP" altLang="en-US" sz="1400" dirty="0"/>
          </a:p>
        </p:txBody>
      </p:sp>
      <p:sp>
        <p:nvSpPr>
          <p:cNvPr id="11" name="テキスト ボックス 10">
            <a:extLst>
              <a:ext uri="{FF2B5EF4-FFF2-40B4-BE49-F238E27FC236}">
                <a16:creationId xmlns:a16="http://schemas.microsoft.com/office/drawing/2014/main" id="{9BEF2994-16AA-B042-8601-0DA8CB1222D8}"/>
              </a:ext>
            </a:extLst>
          </p:cNvPr>
          <p:cNvSpPr txBox="1"/>
          <p:nvPr/>
        </p:nvSpPr>
        <p:spPr>
          <a:xfrm>
            <a:off x="6590851" y="5974789"/>
            <a:ext cx="364202" cy="307777"/>
          </a:xfrm>
          <a:prstGeom prst="rect">
            <a:avLst/>
          </a:prstGeom>
          <a:noFill/>
        </p:spPr>
        <p:txBody>
          <a:bodyPr wrap="none" rtlCol="0">
            <a:spAutoFit/>
          </a:bodyPr>
          <a:lstStyle/>
          <a:p>
            <a:r>
              <a:rPr kumimoji="1" lang="zh-CN" altLang="en-US" sz="1400" dirty="0"/>
              <a:t>强</a:t>
            </a:r>
            <a:endParaRPr kumimoji="1" lang="ja-JP" altLang="en-US" sz="1400" dirty="0"/>
          </a:p>
        </p:txBody>
      </p:sp>
      <p:grpSp>
        <p:nvGrpSpPr>
          <p:cNvPr id="4" name="グループ化 3">
            <a:extLst>
              <a:ext uri="{FF2B5EF4-FFF2-40B4-BE49-F238E27FC236}">
                <a16:creationId xmlns:a16="http://schemas.microsoft.com/office/drawing/2014/main" id="{A5AC7218-E346-3549-B7A4-7FA2382FF156}"/>
              </a:ext>
            </a:extLst>
          </p:cNvPr>
          <p:cNvGrpSpPr/>
          <p:nvPr/>
        </p:nvGrpSpPr>
        <p:grpSpPr>
          <a:xfrm>
            <a:off x="2048841" y="1150620"/>
            <a:ext cx="4802478" cy="4754880"/>
            <a:chOff x="2048841" y="1150620"/>
            <a:chExt cx="4802478" cy="4754880"/>
          </a:xfrm>
        </p:grpSpPr>
        <p:sp>
          <p:nvSpPr>
            <p:cNvPr id="12" name="正方形/長方形 11">
              <a:extLst>
                <a:ext uri="{FF2B5EF4-FFF2-40B4-BE49-F238E27FC236}">
                  <a16:creationId xmlns:a16="http://schemas.microsoft.com/office/drawing/2014/main" id="{3F5430FC-D6A6-0449-A421-92846478C32F}"/>
                </a:ext>
              </a:extLst>
            </p:cNvPr>
            <p:cNvSpPr/>
            <p:nvPr/>
          </p:nvSpPr>
          <p:spPr>
            <a:xfrm>
              <a:off x="2048841" y="115062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a:solidFill>
                    <a:schemeClr val="bg1"/>
                  </a:solidFill>
                </a:rPr>
                <a:t>Ｐ</a:t>
              </a:r>
              <a:r>
                <a:rPr kumimoji="1" lang="en-US" altLang="ja-JP" dirty="0">
                  <a:solidFill>
                    <a:schemeClr val="bg1"/>
                  </a:solidFill>
                </a:rPr>
                <a:t>m</a:t>
              </a:r>
              <a:endParaRPr kumimoji="1" lang="ja-JP" altLang="en-US">
                <a:solidFill>
                  <a:schemeClr val="bg1"/>
                </a:solidFill>
              </a:endParaRPr>
            </a:p>
          </p:txBody>
        </p:sp>
        <p:sp>
          <p:nvSpPr>
            <p:cNvPr id="13" name="正方形/長方形 12">
              <a:extLst>
                <a:ext uri="{FF2B5EF4-FFF2-40B4-BE49-F238E27FC236}">
                  <a16:creationId xmlns:a16="http://schemas.microsoft.com/office/drawing/2014/main" id="{F771B00C-2D72-664F-B701-1A6983B6E04E}"/>
                </a:ext>
              </a:extLst>
            </p:cNvPr>
            <p:cNvSpPr/>
            <p:nvPr/>
          </p:nvSpPr>
          <p:spPr>
            <a:xfrm>
              <a:off x="4450080" y="115062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a:solidFill>
                    <a:schemeClr val="bg1"/>
                  </a:solidFill>
                </a:rPr>
                <a:t>ＰＭ</a:t>
              </a:r>
            </a:p>
          </p:txBody>
        </p:sp>
        <p:sp>
          <p:nvSpPr>
            <p:cNvPr id="14" name="正方形/長方形 13">
              <a:extLst>
                <a:ext uri="{FF2B5EF4-FFF2-40B4-BE49-F238E27FC236}">
                  <a16:creationId xmlns:a16="http://schemas.microsoft.com/office/drawing/2014/main" id="{545D9E3F-6AE0-EE43-9586-B5A4AAB3064E}"/>
                </a:ext>
              </a:extLst>
            </p:cNvPr>
            <p:cNvSpPr/>
            <p:nvPr/>
          </p:nvSpPr>
          <p:spPr>
            <a:xfrm>
              <a:off x="2048841" y="352806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a:solidFill>
                    <a:schemeClr val="bg1"/>
                  </a:solidFill>
                </a:rPr>
                <a:t>ｐ</a:t>
              </a:r>
              <a:r>
                <a:rPr kumimoji="1" lang="en-US" altLang="ja-JP" dirty="0">
                  <a:solidFill>
                    <a:schemeClr val="bg1"/>
                  </a:solidFill>
                </a:rPr>
                <a:t>m</a:t>
              </a:r>
              <a:endParaRPr kumimoji="1" lang="ja-JP" altLang="en-US">
                <a:solidFill>
                  <a:schemeClr val="bg1"/>
                </a:solidFill>
              </a:endParaRPr>
            </a:p>
          </p:txBody>
        </p:sp>
        <p:sp>
          <p:nvSpPr>
            <p:cNvPr id="15" name="正方形/長方形 14">
              <a:extLst>
                <a:ext uri="{FF2B5EF4-FFF2-40B4-BE49-F238E27FC236}">
                  <a16:creationId xmlns:a16="http://schemas.microsoft.com/office/drawing/2014/main" id="{49B5DB5F-ACD5-A742-A5B0-6F93C61BA5F8}"/>
                </a:ext>
              </a:extLst>
            </p:cNvPr>
            <p:cNvSpPr/>
            <p:nvPr/>
          </p:nvSpPr>
          <p:spPr>
            <a:xfrm>
              <a:off x="4450079" y="3524949"/>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a:solidFill>
                    <a:schemeClr val="bg1"/>
                  </a:solidFill>
                </a:rPr>
                <a:t>ｐ</a:t>
              </a:r>
              <a:r>
                <a:rPr kumimoji="1" lang="en-US" altLang="ja-JP" dirty="0">
                  <a:solidFill>
                    <a:schemeClr val="bg1"/>
                  </a:solidFill>
                </a:rPr>
                <a:t>M</a:t>
              </a:r>
              <a:endParaRPr kumimoji="1" lang="ja-JP" altLang="en-US">
                <a:solidFill>
                  <a:schemeClr val="bg1"/>
                </a:solidFill>
              </a:endParaRPr>
            </a:p>
          </p:txBody>
        </p:sp>
      </p:grpSp>
      <p:sp>
        <p:nvSpPr>
          <p:cNvPr id="16" name="テキスト ボックス 15">
            <a:extLst>
              <a:ext uri="{FF2B5EF4-FFF2-40B4-BE49-F238E27FC236}">
                <a16:creationId xmlns:a16="http://schemas.microsoft.com/office/drawing/2014/main" id="{E0E10D9E-1049-D746-9BAD-C5F6072F140F}"/>
              </a:ext>
            </a:extLst>
          </p:cNvPr>
          <p:cNvSpPr txBox="1"/>
          <p:nvPr/>
        </p:nvSpPr>
        <p:spPr>
          <a:xfrm>
            <a:off x="3392067" y="6191374"/>
            <a:ext cx="2954655" cy="369332"/>
          </a:xfrm>
          <a:prstGeom prst="rect">
            <a:avLst/>
          </a:prstGeom>
          <a:noFill/>
        </p:spPr>
        <p:txBody>
          <a:bodyPr wrap="none" rtlCol="0">
            <a:spAutoFit/>
          </a:bodyPr>
          <a:lstStyle/>
          <a:p>
            <a:r>
              <a:rPr kumimoji="1" lang="ja-JP" altLang="en-US" dirty="0"/>
              <a:t>Ｍ　</a:t>
            </a:r>
            <a:r>
              <a:rPr kumimoji="1" lang="zh-CN" altLang="en-US" dirty="0"/>
              <a:t>维持和强化组织的能力</a:t>
            </a:r>
            <a:endParaRPr kumimoji="1" lang="ja-JP" altLang="en-US" dirty="0"/>
          </a:p>
        </p:txBody>
      </p:sp>
    </p:spTree>
    <p:extLst>
      <p:ext uri="{BB962C8B-B14F-4D97-AF65-F5344CB8AC3E}">
        <p14:creationId xmlns:p14="http://schemas.microsoft.com/office/powerpoint/2010/main" val="22176352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37</a:t>
            </a:r>
            <a:r>
              <a:rPr lang="ja-JP" altLang="en-US" sz="2000" dirty="0">
                <a:solidFill>
                  <a:schemeClr val="bg1"/>
                </a:solidFill>
              </a:rPr>
              <a:t>　５Ｗ１Ｈ</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154</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写下目标、课题以及想要传达给对方的内容。</a:t>
            </a:r>
            <a:r>
              <a:rPr lang="en-US" altLang="zh-CN" sz="1138" dirty="0"/>
              <a:t>Whom(</a:t>
            </a:r>
            <a:r>
              <a:rPr lang="zh-CN" altLang="en-US" sz="1138" dirty="0"/>
              <a:t>给谁</a:t>
            </a:r>
            <a:r>
              <a:rPr lang="en-US" altLang="zh-CN" sz="1138" dirty="0"/>
              <a:t>?)</a:t>
            </a:r>
            <a:r>
              <a:rPr lang="zh-CN" altLang="en-US" sz="1138" dirty="0"/>
              <a:t>和</a:t>
            </a:r>
            <a:r>
              <a:rPr lang="en-US" altLang="zh-CN" sz="1138" dirty="0"/>
              <a:t>How much(</a:t>
            </a:r>
            <a:r>
              <a:rPr lang="zh-CN" altLang="en-US" sz="1138" dirty="0"/>
              <a:t>多少</a:t>
            </a:r>
            <a:r>
              <a:rPr lang="en-US" altLang="zh-CN" sz="1138" dirty="0"/>
              <a:t>?)</a:t>
            </a:r>
            <a:r>
              <a:rPr lang="zh-CN" altLang="en-US" sz="1138" dirty="0"/>
              <a:t>也可以活用“</a:t>
            </a:r>
            <a:r>
              <a:rPr lang="en-US" altLang="zh-CN" sz="1138" dirty="0"/>
              <a:t>6w2h”</a:t>
            </a:r>
            <a:r>
              <a:rPr lang="zh-CN" altLang="en-US" sz="1138" dirty="0"/>
              <a:t>。</a:t>
            </a:r>
            <a:endParaRPr lang="en-US" altLang="ja-JP" sz="1138" dirty="0"/>
          </a:p>
        </p:txBody>
      </p:sp>
      <p:graphicFrame>
        <p:nvGraphicFramePr>
          <p:cNvPr id="5" name="表 5">
            <a:extLst>
              <a:ext uri="{FF2B5EF4-FFF2-40B4-BE49-F238E27FC236}">
                <a16:creationId xmlns:a16="http://schemas.microsoft.com/office/drawing/2014/main" id="{A29FB353-BDF9-AE4A-A5BF-03539DE59704}"/>
              </a:ext>
            </a:extLst>
          </p:cNvPr>
          <p:cNvGraphicFramePr>
            <a:graphicFrameLocks noGrp="1"/>
          </p:cNvGraphicFramePr>
          <p:nvPr>
            <p:extLst>
              <p:ext uri="{D42A27DB-BD31-4B8C-83A1-F6EECF244321}">
                <p14:modId xmlns:p14="http://schemas.microsoft.com/office/powerpoint/2010/main" val="1013993941"/>
              </p:ext>
            </p:extLst>
          </p:nvPr>
        </p:nvGraphicFramePr>
        <p:xfrm>
          <a:off x="354051" y="1066800"/>
          <a:ext cx="9197896" cy="5433060"/>
        </p:xfrm>
        <a:graphic>
          <a:graphicData uri="http://schemas.openxmlformats.org/drawingml/2006/table">
            <a:tbl>
              <a:tblPr>
                <a:tableStyleId>{1FECB4D8-DB02-4DC6-A0A2-4F2EBAE1DC90}</a:tableStyleId>
              </a:tblPr>
              <a:tblGrid>
                <a:gridCol w="2122449">
                  <a:extLst>
                    <a:ext uri="{9D8B030D-6E8A-4147-A177-3AD203B41FA5}">
                      <a16:colId xmlns:a16="http://schemas.microsoft.com/office/drawing/2014/main" val="2690408115"/>
                    </a:ext>
                  </a:extLst>
                </a:gridCol>
                <a:gridCol w="7075447">
                  <a:extLst>
                    <a:ext uri="{9D8B030D-6E8A-4147-A177-3AD203B41FA5}">
                      <a16:colId xmlns:a16="http://schemas.microsoft.com/office/drawing/2014/main" val="1826914591"/>
                    </a:ext>
                  </a:extLst>
                </a:gridCol>
              </a:tblGrid>
              <a:tr h="905510">
                <a:tc>
                  <a:txBody>
                    <a:bodyPr/>
                    <a:lstStyle/>
                    <a:p>
                      <a:pPr algn="ctr"/>
                      <a:r>
                        <a:rPr kumimoji="1" lang="en-US" altLang="ja-JP" dirty="0"/>
                        <a:t>When</a:t>
                      </a:r>
                      <a:endParaRPr kumimoji="1" lang="ja-JP" altLang="en-US" dirty="0"/>
                    </a:p>
                    <a:p>
                      <a:pPr algn="ctr"/>
                      <a:r>
                        <a:rPr kumimoji="1" lang="zh-CN" altLang="en-US" dirty="0"/>
                        <a:t>何时</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tc>
                <a:extLst>
                  <a:ext uri="{0D108BD9-81ED-4DB2-BD59-A6C34878D82A}">
                    <a16:rowId xmlns:a16="http://schemas.microsoft.com/office/drawing/2014/main" val="4008913027"/>
                  </a:ext>
                </a:extLst>
              </a:tr>
              <a:tr h="905510">
                <a:tc>
                  <a:txBody>
                    <a:bodyPr/>
                    <a:lstStyle/>
                    <a:p>
                      <a:pPr algn="ctr"/>
                      <a:r>
                        <a:rPr kumimoji="1" lang="en-US" altLang="ja-JP" dirty="0"/>
                        <a:t>Where</a:t>
                      </a:r>
                    </a:p>
                    <a:p>
                      <a:pPr algn="ctr"/>
                      <a:r>
                        <a:rPr kumimoji="1" lang="zh-CN" altLang="en-US" dirty="0"/>
                        <a:t>何地</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tc>
                <a:extLst>
                  <a:ext uri="{0D108BD9-81ED-4DB2-BD59-A6C34878D82A}">
                    <a16:rowId xmlns:a16="http://schemas.microsoft.com/office/drawing/2014/main" val="3036763263"/>
                  </a:ext>
                </a:extLst>
              </a:tr>
              <a:tr h="905510">
                <a:tc>
                  <a:txBody>
                    <a:bodyPr/>
                    <a:lstStyle/>
                    <a:p>
                      <a:pPr algn="ctr"/>
                      <a:r>
                        <a:rPr kumimoji="1" lang="en-US" altLang="ja-JP" dirty="0"/>
                        <a:t>Who</a:t>
                      </a:r>
                    </a:p>
                    <a:p>
                      <a:pPr algn="ctr"/>
                      <a:r>
                        <a:rPr kumimoji="1" lang="zh-CN" altLang="en-US" dirty="0"/>
                        <a:t>何人</a:t>
                      </a:r>
                      <a:endParaRPr kumimoji="1" lang="en-US" altLang="ja-JP"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tc>
                <a:extLst>
                  <a:ext uri="{0D108BD9-81ED-4DB2-BD59-A6C34878D82A}">
                    <a16:rowId xmlns:a16="http://schemas.microsoft.com/office/drawing/2014/main" val="1098163903"/>
                  </a:ext>
                </a:extLst>
              </a:tr>
              <a:tr h="905510">
                <a:tc>
                  <a:txBody>
                    <a:bodyPr/>
                    <a:lstStyle/>
                    <a:p>
                      <a:pPr algn="ctr"/>
                      <a:r>
                        <a:rPr kumimoji="1" lang="ja-JP" altLang="en-US" dirty="0"/>
                        <a:t> </a:t>
                      </a:r>
                      <a:r>
                        <a:rPr kumimoji="1" lang="en-US" altLang="ja-JP" dirty="0"/>
                        <a:t>What</a:t>
                      </a:r>
                    </a:p>
                    <a:p>
                      <a:pPr algn="ctr"/>
                      <a:r>
                        <a:rPr kumimoji="1" lang="zh-CN" altLang="en-US" dirty="0"/>
                        <a:t>何事</a:t>
                      </a:r>
                      <a:endParaRPr kumimoji="1" lang="en-US" altLang="ja-JP"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tc>
                <a:extLst>
                  <a:ext uri="{0D108BD9-81ED-4DB2-BD59-A6C34878D82A}">
                    <a16:rowId xmlns:a16="http://schemas.microsoft.com/office/drawing/2014/main" val="1432771783"/>
                  </a:ext>
                </a:extLst>
              </a:tr>
              <a:tr h="905510">
                <a:tc>
                  <a:txBody>
                    <a:bodyPr/>
                    <a:lstStyle/>
                    <a:p>
                      <a:pPr algn="ctr"/>
                      <a:r>
                        <a:rPr kumimoji="1" lang="en-US" altLang="ja-JP" dirty="0"/>
                        <a:t>Why</a:t>
                      </a:r>
                      <a:endParaRPr kumimoji="1" lang="ja-JP" altLang="en-US" dirty="0"/>
                    </a:p>
                    <a:p>
                      <a:pPr algn="ctr"/>
                      <a:r>
                        <a:rPr kumimoji="1" lang="zh-CN" altLang="en-US" dirty="0"/>
                        <a:t>何因</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kumimoji="1" lang="ja-JP" altLang="en-US"/>
                    </a:p>
                  </a:txBody>
                  <a:tcPr/>
                </a:tc>
                <a:extLst>
                  <a:ext uri="{0D108BD9-81ED-4DB2-BD59-A6C34878D82A}">
                    <a16:rowId xmlns:a16="http://schemas.microsoft.com/office/drawing/2014/main" val="3529725143"/>
                  </a:ext>
                </a:extLst>
              </a:tr>
              <a:tr h="905510">
                <a:tc>
                  <a:txBody>
                    <a:bodyPr/>
                    <a:lstStyle/>
                    <a:p>
                      <a:pPr algn="ctr"/>
                      <a:r>
                        <a:rPr kumimoji="1" lang="en-US" altLang="ja-JP" dirty="0"/>
                        <a:t>How</a:t>
                      </a:r>
                    </a:p>
                    <a:p>
                      <a:pPr algn="ctr"/>
                      <a:r>
                        <a:rPr kumimoji="1" lang="zh-CN" altLang="en-US" dirty="0"/>
                        <a:t>何法</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60000"/>
                        <a:lumOff val="40000"/>
                      </a:schemeClr>
                    </a:solidFill>
                  </a:tcPr>
                </a:tc>
                <a:tc>
                  <a:txBody>
                    <a:bodyPr/>
                    <a:lstStyle/>
                    <a:p>
                      <a:endParaRPr kumimoji="1" lang="ja-JP" altLang="en-US" dirty="0"/>
                    </a:p>
                  </a:txBody>
                  <a:tcPr/>
                </a:tc>
                <a:extLst>
                  <a:ext uri="{0D108BD9-81ED-4DB2-BD59-A6C34878D82A}">
                    <a16:rowId xmlns:a16="http://schemas.microsoft.com/office/drawing/2014/main" val="809983298"/>
                  </a:ext>
                </a:extLst>
              </a:tr>
            </a:tbl>
          </a:graphicData>
        </a:graphic>
      </p:graphicFrame>
    </p:spTree>
    <p:extLst>
      <p:ext uri="{BB962C8B-B14F-4D97-AF65-F5344CB8AC3E}">
        <p14:creationId xmlns:p14="http://schemas.microsoft.com/office/powerpoint/2010/main" val="2394185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CAE7E9E-D397-C54F-8265-E86CF7C2F31C}"/>
              </a:ext>
            </a:extLst>
          </p:cNvPr>
          <p:cNvSpPr/>
          <p:nvPr/>
        </p:nvSpPr>
        <p:spPr>
          <a:xfrm>
            <a:off x="2407920" y="1066800"/>
            <a:ext cx="7144027" cy="5433060"/>
          </a:xfrm>
          <a:prstGeom prst="rect">
            <a:avLst/>
          </a:prstGeom>
          <a:solidFill>
            <a:schemeClr val="accent3">
              <a:lumMod val="20000"/>
              <a:lumOff val="80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38</a:t>
            </a:r>
            <a:r>
              <a:rPr lang="ja-JP" altLang="en-US" sz="2000" dirty="0">
                <a:solidFill>
                  <a:schemeClr val="bg1"/>
                </a:solidFill>
              </a:rPr>
              <a:t>　ＫＰＩ</a:t>
            </a:r>
            <a:r>
              <a:rPr lang="zh-CN" altLang="en-US" sz="2000" dirty="0">
                <a:solidFill>
                  <a:schemeClr val="bg1"/>
                </a:solidFill>
              </a:rPr>
              <a:t>树</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158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设定最终目标</a:t>
            </a:r>
            <a:r>
              <a:rPr lang="en-US" altLang="zh-CN" sz="1138" dirty="0"/>
              <a:t>KGI</a:t>
            </a:r>
            <a:r>
              <a:rPr lang="zh-CN" altLang="en-US" sz="1138" dirty="0"/>
              <a:t>，将达成</a:t>
            </a:r>
            <a:r>
              <a:rPr lang="en-US" altLang="zh-CN" sz="1138" dirty="0"/>
              <a:t>KGI</a:t>
            </a:r>
            <a:r>
              <a:rPr lang="zh-CN" altLang="en-US" sz="1138" dirty="0"/>
              <a:t>的重要</a:t>
            </a:r>
            <a:r>
              <a:rPr lang="en-US" altLang="zh-CN" sz="1138" dirty="0"/>
              <a:t>KPI</a:t>
            </a:r>
            <a:r>
              <a:rPr lang="zh-CN" altLang="en-US" sz="1138" dirty="0"/>
              <a:t>分解成树状。</a:t>
            </a:r>
            <a:r>
              <a:rPr lang="en-US" altLang="zh-CN" sz="1138" dirty="0"/>
              <a:t>KPI</a:t>
            </a:r>
            <a:r>
              <a:rPr lang="zh-CN" altLang="en-US" sz="1138" dirty="0"/>
              <a:t>要尽可能明确地数据化。</a:t>
            </a:r>
            <a:endParaRPr lang="en-US" altLang="ja-JP" sz="1138" dirty="0"/>
          </a:p>
        </p:txBody>
      </p:sp>
      <p:sp>
        <p:nvSpPr>
          <p:cNvPr id="5" name="角丸四角形 4">
            <a:extLst>
              <a:ext uri="{FF2B5EF4-FFF2-40B4-BE49-F238E27FC236}">
                <a16:creationId xmlns:a16="http://schemas.microsoft.com/office/drawing/2014/main" id="{51FB75DD-E4D8-2041-AA86-1BBC85439322}"/>
              </a:ext>
            </a:extLst>
          </p:cNvPr>
          <p:cNvSpPr/>
          <p:nvPr/>
        </p:nvSpPr>
        <p:spPr>
          <a:xfrm>
            <a:off x="5280662" y="1264375"/>
            <a:ext cx="1203964" cy="296561"/>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6" name="角丸四角形 5">
            <a:extLst>
              <a:ext uri="{FF2B5EF4-FFF2-40B4-BE49-F238E27FC236}">
                <a16:creationId xmlns:a16="http://schemas.microsoft.com/office/drawing/2014/main" id="{2AFBC34D-CFA5-6448-B91E-974C26F4EA43}"/>
              </a:ext>
            </a:extLst>
          </p:cNvPr>
          <p:cNvSpPr/>
          <p:nvPr/>
        </p:nvSpPr>
        <p:spPr>
          <a:xfrm>
            <a:off x="2706584" y="1716444"/>
            <a:ext cx="1203964" cy="399294"/>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7" name="角丸四角形 6">
            <a:extLst>
              <a:ext uri="{FF2B5EF4-FFF2-40B4-BE49-F238E27FC236}">
                <a16:creationId xmlns:a16="http://schemas.microsoft.com/office/drawing/2014/main" id="{A13FFAEE-4CB7-A843-9FC4-7F1D9D7D479D}"/>
              </a:ext>
            </a:extLst>
          </p:cNvPr>
          <p:cNvSpPr/>
          <p:nvPr/>
        </p:nvSpPr>
        <p:spPr>
          <a:xfrm>
            <a:off x="354052" y="3460341"/>
            <a:ext cx="1203964" cy="494461"/>
          </a:xfrm>
          <a:prstGeom prst="roundRect">
            <a:avLst/>
          </a:prstGeom>
          <a:solidFill>
            <a:schemeClr val="bg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8" name="角丸四角形 7">
            <a:extLst>
              <a:ext uri="{FF2B5EF4-FFF2-40B4-BE49-F238E27FC236}">
                <a16:creationId xmlns:a16="http://schemas.microsoft.com/office/drawing/2014/main" id="{74907254-3238-2547-A3A4-5B96E61FD50F}"/>
              </a:ext>
            </a:extLst>
          </p:cNvPr>
          <p:cNvSpPr/>
          <p:nvPr/>
        </p:nvSpPr>
        <p:spPr>
          <a:xfrm>
            <a:off x="5280657" y="5519586"/>
            <a:ext cx="1203964" cy="296561"/>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9" name="角丸四角形 8">
            <a:extLst>
              <a:ext uri="{FF2B5EF4-FFF2-40B4-BE49-F238E27FC236}">
                <a16:creationId xmlns:a16="http://schemas.microsoft.com/office/drawing/2014/main" id="{03112493-FBD9-EE49-8E90-24B3C431F3A3}"/>
              </a:ext>
            </a:extLst>
          </p:cNvPr>
          <p:cNvSpPr/>
          <p:nvPr/>
        </p:nvSpPr>
        <p:spPr>
          <a:xfrm>
            <a:off x="5280660" y="6051662"/>
            <a:ext cx="1203964" cy="296561"/>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0" name="角丸四角形 9">
            <a:extLst>
              <a:ext uri="{FF2B5EF4-FFF2-40B4-BE49-F238E27FC236}">
                <a16:creationId xmlns:a16="http://schemas.microsoft.com/office/drawing/2014/main" id="{77928ABD-AD0A-CE40-B1EA-8E33C0732487}"/>
              </a:ext>
            </a:extLst>
          </p:cNvPr>
          <p:cNvSpPr/>
          <p:nvPr/>
        </p:nvSpPr>
        <p:spPr>
          <a:xfrm>
            <a:off x="5280658" y="4949169"/>
            <a:ext cx="1203964" cy="296561"/>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1" name="角丸四角形 10">
            <a:extLst>
              <a:ext uri="{FF2B5EF4-FFF2-40B4-BE49-F238E27FC236}">
                <a16:creationId xmlns:a16="http://schemas.microsoft.com/office/drawing/2014/main" id="{13A52FEA-AFAD-9047-B869-503539591A17}"/>
              </a:ext>
            </a:extLst>
          </p:cNvPr>
          <p:cNvSpPr/>
          <p:nvPr/>
        </p:nvSpPr>
        <p:spPr>
          <a:xfrm>
            <a:off x="5280657" y="1812802"/>
            <a:ext cx="1203964" cy="296561"/>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2" name="角丸四角形 11">
            <a:extLst>
              <a:ext uri="{FF2B5EF4-FFF2-40B4-BE49-F238E27FC236}">
                <a16:creationId xmlns:a16="http://schemas.microsoft.com/office/drawing/2014/main" id="{6B2C572E-3764-7544-9E5F-E666D51793C3}"/>
              </a:ext>
            </a:extLst>
          </p:cNvPr>
          <p:cNvSpPr/>
          <p:nvPr/>
        </p:nvSpPr>
        <p:spPr>
          <a:xfrm>
            <a:off x="5280656" y="2358811"/>
            <a:ext cx="1203964" cy="296561"/>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3" name="角丸四角形 12">
            <a:extLst>
              <a:ext uri="{FF2B5EF4-FFF2-40B4-BE49-F238E27FC236}">
                <a16:creationId xmlns:a16="http://schemas.microsoft.com/office/drawing/2014/main" id="{D52FAEF4-1D64-1945-A090-47DA5D3817F3}"/>
              </a:ext>
            </a:extLst>
          </p:cNvPr>
          <p:cNvSpPr/>
          <p:nvPr/>
        </p:nvSpPr>
        <p:spPr>
          <a:xfrm>
            <a:off x="5280662" y="3110417"/>
            <a:ext cx="1203964" cy="296561"/>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4" name="角丸四角形 13">
            <a:extLst>
              <a:ext uri="{FF2B5EF4-FFF2-40B4-BE49-F238E27FC236}">
                <a16:creationId xmlns:a16="http://schemas.microsoft.com/office/drawing/2014/main" id="{B2095C89-ECB7-9B48-90E0-12296DDF2A0F}"/>
              </a:ext>
            </a:extLst>
          </p:cNvPr>
          <p:cNvSpPr/>
          <p:nvPr/>
        </p:nvSpPr>
        <p:spPr>
          <a:xfrm>
            <a:off x="5280657" y="3669568"/>
            <a:ext cx="1203964" cy="296561"/>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5" name="角丸四角形 14">
            <a:extLst>
              <a:ext uri="{FF2B5EF4-FFF2-40B4-BE49-F238E27FC236}">
                <a16:creationId xmlns:a16="http://schemas.microsoft.com/office/drawing/2014/main" id="{D8EE608A-DF63-8C46-870B-4CA878A2169C}"/>
              </a:ext>
            </a:extLst>
          </p:cNvPr>
          <p:cNvSpPr/>
          <p:nvPr/>
        </p:nvSpPr>
        <p:spPr>
          <a:xfrm>
            <a:off x="5280656" y="4219773"/>
            <a:ext cx="1203964" cy="296561"/>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6" name="角丸四角形 15">
            <a:extLst>
              <a:ext uri="{FF2B5EF4-FFF2-40B4-BE49-F238E27FC236}">
                <a16:creationId xmlns:a16="http://schemas.microsoft.com/office/drawing/2014/main" id="{22D26BFF-4E9B-9A46-96CD-24E4ABA91240}"/>
              </a:ext>
            </a:extLst>
          </p:cNvPr>
          <p:cNvSpPr/>
          <p:nvPr/>
        </p:nvSpPr>
        <p:spPr>
          <a:xfrm>
            <a:off x="2706581" y="3500305"/>
            <a:ext cx="1203964" cy="399294"/>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sp>
        <p:nvSpPr>
          <p:cNvPr id="17" name="角丸四角形 16">
            <a:extLst>
              <a:ext uri="{FF2B5EF4-FFF2-40B4-BE49-F238E27FC236}">
                <a16:creationId xmlns:a16="http://schemas.microsoft.com/office/drawing/2014/main" id="{AD1E73AC-7196-BA45-B1D8-113368A70618}"/>
              </a:ext>
            </a:extLst>
          </p:cNvPr>
          <p:cNvSpPr/>
          <p:nvPr/>
        </p:nvSpPr>
        <p:spPr>
          <a:xfrm>
            <a:off x="2706580" y="5416853"/>
            <a:ext cx="1203964" cy="399294"/>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200">
              <a:solidFill>
                <a:schemeClr val="tx1"/>
              </a:solidFill>
            </a:endParaRPr>
          </a:p>
        </p:txBody>
      </p:sp>
      <p:cxnSp>
        <p:nvCxnSpPr>
          <p:cNvPr id="18" name="カギ線コネクタ 17">
            <a:extLst>
              <a:ext uri="{FF2B5EF4-FFF2-40B4-BE49-F238E27FC236}">
                <a16:creationId xmlns:a16="http://schemas.microsoft.com/office/drawing/2014/main" id="{2F34DA64-E660-4F4E-ACF4-2DDD2C93E681}"/>
              </a:ext>
            </a:extLst>
          </p:cNvPr>
          <p:cNvCxnSpPr>
            <a:cxnSpLocks/>
            <a:stCxn id="7" idx="3"/>
            <a:endCxn id="6" idx="1"/>
          </p:cNvCxnSpPr>
          <p:nvPr/>
        </p:nvCxnSpPr>
        <p:spPr>
          <a:xfrm flipV="1">
            <a:off x="1558016" y="1916091"/>
            <a:ext cx="1148568" cy="1791481"/>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カギ線コネクタ 18">
            <a:extLst>
              <a:ext uri="{FF2B5EF4-FFF2-40B4-BE49-F238E27FC236}">
                <a16:creationId xmlns:a16="http://schemas.microsoft.com/office/drawing/2014/main" id="{580760E3-F3AC-8E42-BA0F-489840740DD5}"/>
              </a:ext>
            </a:extLst>
          </p:cNvPr>
          <p:cNvCxnSpPr>
            <a:cxnSpLocks/>
            <a:stCxn id="7" idx="3"/>
            <a:endCxn id="16" idx="1"/>
          </p:cNvCxnSpPr>
          <p:nvPr/>
        </p:nvCxnSpPr>
        <p:spPr>
          <a:xfrm flipV="1">
            <a:off x="1558016" y="3699952"/>
            <a:ext cx="1148565" cy="7620"/>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カギ線コネクタ 19">
            <a:extLst>
              <a:ext uri="{FF2B5EF4-FFF2-40B4-BE49-F238E27FC236}">
                <a16:creationId xmlns:a16="http://schemas.microsoft.com/office/drawing/2014/main" id="{0204A37F-4E3B-E544-8BC9-2C3B3C2E773E}"/>
              </a:ext>
            </a:extLst>
          </p:cNvPr>
          <p:cNvCxnSpPr>
            <a:cxnSpLocks/>
            <a:stCxn id="7" idx="3"/>
            <a:endCxn id="17" idx="1"/>
          </p:cNvCxnSpPr>
          <p:nvPr/>
        </p:nvCxnSpPr>
        <p:spPr>
          <a:xfrm>
            <a:off x="1558016" y="3707572"/>
            <a:ext cx="1148564" cy="1908928"/>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カギ線コネクタ 20">
            <a:extLst>
              <a:ext uri="{FF2B5EF4-FFF2-40B4-BE49-F238E27FC236}">
                <a16:creationId xmlns:a16="http://schemas.microsoft.com/office/drawing/2014/main" id="{4BBC48AE-6826-4142-8534-201DD585E2DE}"/>
              </a:ext>
            </a:extLst>
          </p:cNvPr>
          <p:cNvCxnSpPr>
            <a:cxnSpLocks/>
            <a:stCxn id="6" idx="3"/>
            <a:endCxn id="5" idx="1"/>
          </p:cNvCxnSpPr>
          <p:nvPr/>
        </p:nvCxnSpPr>
        <p:spPr>
          <a:xfrm flipV="1">
            <a:off x="3910548" y="1412656"/>
            <a:ext cx="1370114" cy="503435"/>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カギ線コネクタ 21">
            <a:extLst>
              <a:ext uri="{FF2B5EF4-FFF2-40B4-BE49-F238E27FC236}">
                <a16:creationId xmlns:a16="http://schemas.microsoft.com/office/drawing/2014/main" id="{1BB65D54-5182-F244-8C33-A4D889B85531}"/>
              </a:ext>
            </a:extLst>
          </p:cNvPr>
          <p:cNvCxnSpPr>
            <a:cxnSpLocks/>
            <a:stCxn id="6" idx="3"/>
            <a:endCxn id="11" idx="1"/>
          </p:cNvCxnSpPr>
          <p:nvPr/>
        </p:nvCxnSpPr>
        <p:spPr>
          <a:xfrm>
            <a:off x="3910548" y="1916091"/>
            <a:ext cx="1370109" cy="44992"/>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カギ線コネクタ 22">
            <a:extLst>
              <a:ext uri="{FF2B5EF4-FFF2-40B4-BE49-F238E27FC236}">
                <a16:creationId xmlns:a16="http://schemas.microsoft.com/office/drawing/2014/main" id="{530488BC-1B58-6A48-98CF-3A7FA7088A1C}"/>
              </a:ext>
            </a:extLst>
          </p:cNvPr>
          <p:cNvCxnSpPr>
            <a:cxnSpLocks/>
            <a:stCxn id="6" idx="3"/>
            <a:endCxn id="12" idx="1"/>
          </p:cNvCxnSpPr>
          <p:nvPr/>
        </p:nvCxnSpPr>
        <p:spPr>
          <a:xfrm>
            <a:off x="3910548" y="1916091"/>
            <a:ext cx="1370108" cy="591001"/>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カギ線コネクタ 23">
            <a:extLst>
              <a:ext uri="{FF2B5EF4-FFF2-40B4-BE49-F238E27FC236}">
                <a16:creationId xmlns:a16="http://schemas.microsoft.com/office/drawing/2014/main" id="{2CBB5AE0-F0EB-A443-A2B1-5B1F70CA5F19}"/>
              </a:ext>
            </a:extLst>
          </p:cNvPr>
          <p:cNvCxnSpPr>
            <a:cxnSpLocks/>
            <a:stCxn id="16" idx="3"/>
            <a:endCxn id="13" idx="1"/>
          </p:cNvCxnSpPr>
          <p:nvPr/>
        </p:nvCxnSpPr>
        <p:spPr>
          <a:xfrm flipV="1">
            <a:off x="3910545" y="3258698"/>
            <a:ext cx="1370117" cy="441254"/>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カギ線コネクタ 24">
            <a:extLst>
              <a:ext uri="{FF2B5EF4-FFF2-40B4-BE49-F238E27FC236}">
                <a16:creationId xmlns:a16="http://schemas.microsoft.com/office/drawing/2014/main" id="{3D45538D-46F5-A148-A6AA-154B00476510}"/>
              </a:ext>
            </a:extLst>
          </p:cNvPr>
          <p:cNvCxnSpPr>
            <a:cxnSpLocks/>
            <a:stCxn id="16" idx="3"/>
            <a:endCxn id="14" idx="1"/>
          </p:cNvCxnSpPr>
          <p:nvPr/>
        </p:nvCxnSpPr>
        <p:spPr>
          <a:xfrm>
            <a:off x="3910545" y="3699952"/>
            <a:ext cx="1370112" cy="117897"/>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カギ線コネクタ 25">
            <a:extLst>
              <a:ext uri="{FF2B5EF4-FFF2-40B4-BE49-F238E27FC236}">
                <a16:creationId xmlns:a16="http://schemas.microsoft.com/office/drawing/2014/main" id="{C945D1C3-E3CC-8446-98A6-468FFFE486EC}"/>
              </a:ext>
            </a:extLst>
          </p:cNvPr>
          <p:cNvCxnSpPr>
            <a:cxnSpLocks/>
            <a:stCxn id="16" idx="3"/>
            <a:endCxn id="15" idx="1"/>
          </p:cNvCxnSpPr>
          <p:nvPr/>
        </p:nvCxnSpPr>
        <p:spPr>
          <a:xfrm>
            <a:off x="3910545" y="3699952"/>
            <a:ext cx="1370111" cy="668102"/>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カギ線コネクタ 26">
            <a:extLst>
              <a:ext uri="{FF2B5EF4-FFF2-40B4-BE49-F238E27FC236}">
                <a16:creationId xmlns:a16="http://schemas.microsoft.com/office/drawing/2014/main" id="{89D3303B-77FC-C846-BF80-7A7DD90BB626}"/>
              </a:ext>
            </a:extLst>
          </p:cNvPr>
          <p:cNvCxnSpPr>
            <a:cxnSpLocks/>
            <a:stCxn id="17" idx="3"/>
            <a:endCxn id="10" idx="1"/>
          </p:cNvCxnSpPr>
          <p:nvPr/>
        </p:nvCxnSpPr>
        <p:spPr>
          <a:xfrm flipV="1">
            <a:off x="3910544" y="5097450"/>
            <a:ext cx="1370114" cy="519050"/>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カギ線コネクタ 27">
            <a:extLst>
              <a:ext uri="{FF2B5EF4-FFF2-40B4-BE49-F238E27FC236}">
                <a16:creationId xmlns:a16="http://schemas.microsoft.com/office/drawing/2014/main" id="{263EB7AB-068F-7C4C-8874-5B606EFA910E}"/>
              </a:ext>
            </a:extLst>
          </p:cNvPr>
          <p:cNvCxnSpPr>
            <a:cxnSpLocks/>
            <a:stCxn id="17" idx="3"/>
            <a:endCxn id="8" idx="1"/>
          </p:cNvCxnSpPr>
          <p:nvPr/>
        </p:nvCxnSpPr>
        <p:spPr>
          <a:xfrm>
            <a:off x="3910544" y="5616500"/>
            <a:ext cx="1370113" cy="51367"/>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カギ線コネクタ 28">
            <a:extLst>
              <a:ext uri="{FF2B5EF4-FFF2-40B4-BE49-F238E27FC236}">
                <a16:creationId xmlns:a16="http://schemas.microsoft.com/office/drawing/2014/main" id="{CF03FB60-3424-0341-8B43-A76695442B27}"/>
              </a:ext>
            </a:extLst>
          </p:cNvPr>
          <p:cNvCxnSpPr>
            <a:cxnSpLocks/>
            <a:stCxn id="17" idx="3"/>
            <a:endCxn id="9" idx="1"/>
          </p:cNvCxnSpPr>
          <p:nvPr/>
        </p:nvCxnSpPr>
        <p:spPr>
          <a:xfrm>
            <a:off x="3910544" y="5616500"/>
            <a:ext cx="1370116" cy="583443"/>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790ED793-70DE-834A-A70E-50E7E4397D7A}"/>
              </a:ext>
            </a:extLst>
          </p:cNvPr>
          <p:cNvSpPr txBox="1"/>
          <p:nvPr/>
        </p:nvSpPr>
        <p:spPr>
          <a:xfrm>
            <a:off x="354052" y="2898936"/>
            <a:ext cx="1423446" cy="553998"/>
          </a:xfrm>
          <a:prstGeom prst="rect">
            <a:avLst/>
          </a:prstGeom>
          <a:noFill/>
        </p:spPr>
        <p:txBody>
          <a:bodyPr wrap="square" rtlCol="0">
            <a:spAutoFit/>
          </a:bodyPr>
          <a:lstStyle/>
          <a:p>
            <a:r>
              <a:rPr kumimoji="1" lang="en-US" altLang="ja-JP" dirty="0"/>
              <a:t>KGI</a:t>
            </a:r>
          </a:p>
          <a:p>
            <a:r>
              <a:rPr kumimoji="1" lang="zh-CN" altLang="en-US" sz="1200" dirty="0"/>
              <a:t>关键目标指标</a:t>
            </a:r>
            <a:endParaRPr kumimoji="1" lang="ja-JP" altLang="en-US" sz="1200" dirty="0"/>
          </a:p>
        </p:txBody>
      </p:sp>
      <p:sp>
        <p:nvSpPr>
          <p:cNvPr id="31" name="テキスト ボックス 30">
            <a:extLst>
              <a:ext uri="{FF2B5EF4-FFF2-40B4-BE49-F238E27FC236}">
                <a16:creationId xmlns:a16="http://schemas.microsoft.com/office/drawing/2014/main" id="{E850D70E-163E-2649-A479-E35C5B9DB42B}"/>
              </a:ext>
            </a:extLst>
          </p:cNvPr>
          <p:cNvSpPr txBox="1"/>
          <p:nvPr/>
        </p:nvSpPr>
        <p:spPr>
          <a:xfrm>
            <a:off x="2653525" y="1135656"/>
            <a:ext cx="1562093" cy="553998"/>
          </a:xfrm>
          <a:prstGeom prst="rect">
            <a:avLst/>
          </a:prstGeom>
          <a:noFill/>
        </p:spPr>
        <p:txBody>
          <a:bodyPr wrap="square" rtlCol="0">
            <a:spAutoFit/>
          </a:bodyPr>
          <a:lstStyle/>
          <a:p>
            <a:r>
              <a:rPr kumimoji="1" lang="en-US" altLang="ja-JP" dirty="0"/>
              <a:t>KPI</a:t>
            </a:r>
          </a:p>
          <a:p>
            <a:r>
              <a:rPr kumimoji="1" lang="zh-CN" altLang="en-US" sz="1200" dirty="0"/>
              <a:t>关键绩效指标</a:t>
            </a:r>
            <a:endParaRPr kumimoji="1" lang="ja-JP" altLang="en-US" sz="1200" dirty="0"/>
          </a:p>
        </p:txBody>
      </p:sp>
      <p:sp>
        <p:nvSpPr>
          <p:cNvPr id="72" name="角丸四角形 71">
            <a:extLst>
              <a:ext uri="{FF2B5EF4-FFF2-40B4-BE49-F238E27FC236}">
                <a16:creationId xmlns:a16="http://schemas.microsoft.com/office/drawing/2014/main" id="{F2DCECAB-398E-E642-A0CB-2CEC523333B3}"/>
              </a:ext>
            </a:extLst>
          </p:cNvPr>
          <p:cNvSpPr/>
          <p:nvPr/>
        </p:nvSpPr>
        <p:spPr>
          <a:xfrm>
            <a:off x="8235168" y="6222031"/>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73" name="角丸四角形 72">
            <a:extLst>
              <a:ext uri="{FF2B5EF4-FFF2-40B4-BE49-F238E27FC236}">
                <a16:creationId xmlns:a16="http://schemas.microsoft.com/office/drawing/2014/main" id="{6DEFF6AB-04FA-8C4F-941F-C8BB062CCB28}"/>
              </a:ext>
            </a:extLst>
          </p:cNvPr>
          <p:cNvSpPr/>
          <p:nvPr/>
        </p:nvSpPr>
        <p:spPr>
          <a:xfrm>
            <a:off x="8235168" y="5961516"/>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74" name="角丸四角形 73">
            <a:extLst>
              <a:ext uri="{FF2B5EF4-FFF2-40B4-BE49-F238E27FC236}">
                <a16:creationId xmlns:a16="http://schemas.microsoft.com/office/drawing/2014/main" id="{7640FEA1-8CE6-D446-910A-18D0CA54A16E}"/>
              </a:ext>
            </a:extLst>
          </p:cNvPr>
          <p:cNvSpPr/>
          <p:nvPr/>
        </p:nvSpPr>
        <p:spPr>
          <a:xfrm>
            <a:off x="8235168" y="5671042"/>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75" name="角丸四角形 74">
            <a:extLst>
              <a:ext uri="{FF2B5EF4-FFF2-40B4-BE49-F238E27FC236}">
                <a16:creationId xmlns:a16="http://schemas.microsoft.com/office/drawing/2014/main" id="{EAD31CAC-4A7D-6A4B-B40D-D290F3DFBBA8}"/>
              </a:ext>
            </a:extLst>
          </p:cNvPr>
          <p:cNvSpPr/>
          <p:nvPr/>
        </p:nvSpPr>
        <p:spPr>
          <a:xfrm>
            <a:off x="8235166" y="5416852"/>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78" name="角丸四角形 77">
            <a:extLst>
              <a:ext uri="{FF2B5EF4-FFF2-40B4-BE49-F238E27FC236}">
                <a16:creationId xmlns:a16="http://schemas.microsoft.com/office/drawing/2014/main" id="{48856DB9-1929-AD4A-BEB9-0029026369ED}"/>
              </a:ext>
            </a:extLst>
          </p:cNvPr>
          <p:cNvSpPr/>
          <p:nvPr/>
        </p:nvSpPr>
        <p:spPr>
          <a:xfrm>
            <a:off x="8235166" y="5126378"/>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79" name="角丸四角形 78">
            <a:extLst>
              <a:ext uri="{FF2B5EF4-FFF2-40B4-BE49-F238E27FC236}">
                <a16:creationId xmlns:a16="http://schemas.microsoft.com/office/drawing/2014/main" id="{9B75F847-11C5-534E-9345-D2A6CD30E351}"/>
              </a:ext>
            </a:extLst>
          </p:cNvPr>
          <p:cNvSpPr/>
          <p:nvPr/>
        </p:nvSpPr>
        <p:spPr>
          <a:xfrm>
            <a:off x="8235168" y="4872188"/>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34" name="角丸四角形 133">
            <a:extLst>
              <a:ext uri="{FF2B5EF4-FFF2-40B4-BE49-F238E27FC236}">
                <a16:creationId xmlns:a16="http://schemas.microsoft.com/office/drawing/2014/main" id="{89C7545F-B7DF-BC4A-87BF-F781746FEAB1}"/>
              </a:ext>
            </a:extLst>
          </p:cNvPr>
          <p:cNvSpPr/>
          <p:nvPr/>
        </p:nvSpPr>
        <p:spPr>
          <a:xfrm>
            <a:off x="8235167" y="2531074"/>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35" name="角丸四角形 134">
            <a:extLst>
              <a:ext uri="{FF2B5EF4-FFF2-40B4-BE49-F238E27FC236}">
                <a16:creationId xmlns:a16="http://schemas.microsoft.com/office/drawing/2014/main" id="{8015096C-CF0B-DC4B-B5D0-00465D2912AA}"/>
              </a:ext>
            </a:extLst>
          </p:cNvPr>
          <p:cNvSpPr/>
          <p:nvPr/>
        </p:nvSpPr>
        <p:spPr>
          <a:xfrm>
            <a:off x="8235167" y="2270559"/>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36" name="角丸四角形 135">
            <a:extLst>
              <a:ext uri="{FF2B5EF4-FFF2-40B4-BE49-F238E27FC236}">
                <a16:creationId xmlns:a16="http://schemas.microsoft.com/office/drawing/2014/main" id="{046EC23C-2422-DB47-8AE4-9FD34EFAD5C5}"/>
              </a:ext>
            </a:extLst>
          </p:cNvPr>
          <p:cNvSpPr/>
          <p:nvPr/>
        </p:nvSpPr>
        <p:spPr>
          <a:xfrm>
            <a:off x="8235167" y="1980085"/>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37" name="角丸四角形 136">
            <a:extLst>
              <a:ext uri="{FF2B5EF4-FFF2-40B4-BE49-F238E27FC236}">
                <a16:creationId xmlns:a16="http://schemas.microsoft.com/office/drawing/2014/main" id="{60162106-22A2-1B4C-AB10-41F39D0D2508}"/>
              </a:ext>
            </a:extLst>
          </p:cNvPr>
          <p:cNvSpPr/>
          <p:nvPr/>
        </p:nvSpPr>
        <p:spPr>
          <a:xfrm>
            <a:off x="8235165" y="1725895"/>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38" name="角丸四角形 137">
            <a:extLst>
              <a:ext uri="{FF2B5EF4-FFF2-40B4-BE49-F238E27FC236}">
                <a16:creationId xmlns:a16="http://schemas.microsoft.com/office/drawing/2014/main" id="{5891CCD2-ED88-E84D-917E-327BA8E128FA}"/>
              </a:ext>
            </a:extLst>
          </p:cNvPr>
          <p:cNvSpPr/>
          <p:nvPr/>
        </p:nvSpPr>
        <p:spPr>
          <a:xfrm>
            <a:off x="8235165" y="1435421"/>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39" name="角丸四角形 138">
            <a:extLst>
              <a:ext uri="{FF2B5EF4-FFF2-40B4-BE49-F238E27FC236}">
                <a16:creationId xmlns:a16="http://schemas.microsoft.com/office/drawing/2014/main" id="{A3EF13CC-BDFC-0F4D-8ABB-7C9144B80EE6}"/>
              </a:ext>
            </a:extLst>
          </p:cNvPr>
          <p:cNvSpPr/>
          <p:nvPr/>
        </p:nvSpPr>
        <p:spPr>
          <a:xfrm>
            <a:off x="8235167" y="1181231"/>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46" name="角丸四角形 145">
            <a:extLst>
              <a:ext uri="{FF2B5EF4-FFF2-40B4-BE49-F238E27FC236}">
                <a16:creationId xmlns:a16="http://schemas.microsoft.com/office/drawing/2014/main" id="{7902B46C-A380-0342-93F1-6879C92D85DA}"/>
              </a:ext>
            </a:extLst>
          </p:cNvPr>
          <p:cNvSpPr/>
          <p:nvPr/>
        </p:nvSpPr>
        <p:spPr>
          <a:xfrm>
            <a:off x="8235167" y="4384061"/>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47" name="角丸四角形 146">
            <a:extLst>
              <a:ext uri="{FF2B5EF4-FFF2-40B4-BE49-F238E27FC236}">
                <a16:creationId xmlns:a16="http://schemas.microsoft.com/office/drawing/2014/main" id="{3B9E48D8-9693-EB4D-92C4-2F9B4647A3BF}"/>
              </a:ext>
            </a:extLst>
          </p:cNvPr>
          <p:cNvSpPr/>
          <p:nvPr/>
        </p:nvSpPr>
        <p:spPr>
          <a:xfrm>
            <a:off x="8235167" y="4123546"/>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48" name="角丸四角形 147">
            <a:extLst>
              <a:ext uri="{FF2B5EF4-FFF2-40B4-BE49-F238E27FC236}">
                <a16:creationId xmlns:a16="http://schemas.microsoft.com/office/drawing/2014/main" id="{FC49FB17-325C-4643-8FE1-BCCBE3687D2B}"/>
              </a:ext>
            </a:extLst>
          </p:cNvPr>
          <p:cNvSpPr/>
          <p:nvPr/>
        </p:nvSpPr>
        <p:spPr>
          <a:xfrm>
            <a:off x="8235167" y="3833072"/>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49" name="角丸四角形 148">
            <a:extLst>
              <a:ext uri="{FF2B5EF4-FFF2-40B4-BE49-F238E27FC236}">
                <a16:creationId xmlns:a16="http://schemas.microsoft.com/office/drawing/2014/main" id="{998309AB-BD56-7641-8B67-4103CC2B388A}"/>
              </a:ext>
            </a:extLst>
          </p:cNvPr>
          <p:cNvSpPr/>
          <p:nvPr/>
        </p:nvSpPr>
        <p:spPr>
          <a:xfrm>
            <a:off x="8235165" y="3578882"/>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50" name="角丸四角形 149">
            <a:extLst>
              <a:ext uri="{FF2B5EF4-FFF2-40B4-BE49-F238E27FC236}">
                <a16:creationId xmlns:a16="http://schemas.microsoft.com/office/drawing/2014/main" id="{2C4FEEFC-B4E4-9647-8108-9EBC9EA14A17}"/>
              </a:ext>
            </a:extLst>
          </p:cNvPr>
          <p:cNvSpPr/>
          <p:nvPr/>
        </p:nvSpPr>
        <p:spPr>
          <a:xfrm>
            <a:off x="8235165" y="3288408"/>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sp>
        <p:nvSpPr>
          <p:cNvPr id="151" name="角丸四角形 150">
            <a:extLst>
              <a:ext uri="{FF2B5EF4-FFF2-40B4-BE49-F238E27FC236}">
                <a16:creationId xmlns:a16="http://schemas.microsoft.com/office/drawing/2014/main" id="{6C1706A8-2562-F842-B890-25A9991DCBC4}"/>
              </a:ext>
            </a:extLst>
          </p:cNvPr>
          <p:cNvSpPr/>
          <p:nvPr/>
        </p:nvSpPr>
        <p:spPr>
          <a:xfrm>
            <a:off x="8235167" y="3034218"/>
            <a:ext cx="1203964" cy="201555"/>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sz="1050">
              <a:solidFill>
                <a:schemeClr val="tx1"/>
              </a:solidFill>
            </a:endParaRPr>
          </a:p>
        </p:txBody>
      </p:sp>
      <p:cxnSp>
        <p:nvCxnSpPr>
          <p:cNvPr id="152" name="カギ線コネクタ 151">
            <a:extLst>
              <a:ext uri="{FF2B5EF4-FFF2-40B4-BE49-F238E27FC236}">
                <a16:creationId xmlns:a16="http://schemas.microsoft.com/office/drawing/2014/main" id="{A77B0004-ADF9-884E-B311-75CC6B33BA1A}"/>
              </a:ext>
            </a:extLst>
          </p:cNvPr>
          <p:cNvCxnSpPr>
            <a:cxnSpLocks/>
            <a:stCxn id="5" idx="3"/>
            <a:endCxn id="139" idx="1"/>
          </p:cNvCxnSpPr>
          <p:nvPr/>
        </p:nvCxnSpPr>
        <p:spPr>
          <a:xfrm flipV="1">
            <a:off x="6484626" y="1282009"/>
            <a:ext cx="1750541" cy="130647"/>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カギ線コネクタ 155">
            <a:extLst>
              <a:ext uri="{FF2B5EF4-FFF2-40B4-BE49-F238E27FC236}">
                <a16:creationId xmlns:a16="http://schemas.microsoft.com/office/drawing/2014/main" id="{B9E9030D-46DD-6346-B64F-8AB7696808E0}"/>
              </a:ext>
            </a:extLst>
          </p:cNvPr>
          <p:cNvCxnSpPr>
            <a:cxnSpLocks/>
            <a:stCxn id="5" idx="3"/>
            <a:endCxn id="138" idx="1"/>
          </p:cNvCxnSpPr>
          <p:nvPr/>
        </p:nvCxnSpPr>
        <p:spPr>
          <a:xfrm>
            <a:off x="6484626" y="1412656"/>
            <a:ext cx="1750539" cy="123543"/>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カギ線コネクタ 163">
            <a:extLst>
              <a:ext uri="{FF2B5EF4-FFF2-40B4-BE49-F238E27FC236}">
                <a16:creationId xmlns:a16="http://schemas.microsoft.com/office/drawing/2014/main" id="{1EF9F51D-961F-084C-A837-03805F8809C8}"/>
              </a:ext>
            </a:extLst>
          </p:cNvPr>
          <p:cNvCxnSpPr>
            <a:cxnSpLocks/>
            <a:stCxn id="11" idx="3"/>
            <a:endCxn id="137" idx="1"/>
          </p:cNvCxnSpPr>
          <p:nvPr/>
        </p:nvCxnSpPr>
        <p:spPr>
          <a:xfrm flipV="1">
            <a:off x="6484621" y="1826673"/>
            <a:ext cx="1750544" cy="134410"/>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カギ線コネクタ 166">
            <a:extLst>
              <a:ext uri="{FF2B5EF4-FFF2-40B4-BE49-F238E27FC236}">
                <a16:creationId xmlns:a16="http://schemas.microsoft.com/office/drawing/2014/main" id="{155BD1E7-3FCC-C644-ABB9-D30AEF5E5BCF}"/>
              </a:ext>
            </a:extLst>
          </p:cNvPr>
          <p:cNvCxnSpPr>
            <a:cxnSpLocks/>
            <a:stCxn id="11" idx="3"/>
            <a:endCxn id="136" idx="1"/>
          </p:cNvCxnSpPr>
          <p:nvPr/>
        </p:nvCxnSpPr>
        <p:spPr>
          <a:xfrm>
            <a:off x="6484621" y="1961083"/>
            <a:ext cx="1750546" cy="119780"/>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カギ線コネクタ 169">
            <a:extLst>
              <a:ext uri="{FF2B5EF4-FFF2-40B4-BE49-F238E27FC236}">
                <a16:creationId xmlns:a16="http://schemas.microsoft.com/office/drawing/2014/main" id="{74BC5FE4-036B-304A-9D05-25B027AC3699}"/>
              </a:ext>
            </a:extLst>
          </p:cNvPr>
          <p:cNvCxnSpPr>
            <a:cxnSpLocks/>
            <a:stCxn id="12" idx="3"/>
            <a:endCxn id="135" idx="1"/>
          </p:cNvCxnSpPr>
          <p:nvPr/>
        </p:nvCxnSpPr>
        <p:spPr>
          <a:xfrm flipV="1">
            <a:off x="6484620" y="2371337"/>
            <a:ext cx="1750547" cy="135755"/>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カギ線コネクタ 172">
            <a:extLst>
              <a:ext uri="{FF2B5EF4-FFF2-40B4-BE49-F238E27FC236}">
                <a16:creationId xmlns:a16="http://schemas.microsoft.com/office/drawing/2014/main" id="{F9109F4B-64B3-504B-A237-CBDBD71E9728}"/>
              </a:ext>
            </a:extLst>
          </p:cNvPr>
          <p:cNvCxnSpPr>
            <a:cxnSpLocks/>
            <a:stCxn id="12" idx="3"/>
            <a:endCxn id="134" idx="1"/>
          </p:cNvCxnSpPr>
          <p:nvPr/>
        </p:nvCxnSpPr>
        <p:spPr>
          <a:xfrm>
            <a:off x="6484620" y="2507092"/>
            <a:ext cx="1750547" cy="124760"/>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カギ線コネクタ 189">
            <a:extLst>
              <a:ext uri="{FF2B5EF4-FFF2-40B4-BE49-F238E27FC236}">
                <a16:creationId xmlns:a16="http://schemas.microsoft.com/office/drawing/2014/main" id="{E2BDEE92-2328-B046-8F5E-8CEB960D0910}"/>
              </a:ext>
            </a:extLst>
          </p:cNvPr>
          <p:cNvCxnSpPr>
            <a:cxnSpLocks/>
            <a:stCxn id="13" idx="3"/>
            <a:endCxn id="151" idx="1"/>
          </p:cNvCxnSpPr>
          <p:nvPr/>
        </p:nvCxnSpPr>
        <p:spPr>
          <a:xfrm flipV="1">
            <a:off x="6484626" y="3134996"/>
            <a:ext cx="1750541" cy="123702"/>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カギ線コネクタ 192">
            <a:extLst>
              <a:ext uri="{FF2B5EF4-FFF2-40B4-BE49-F238E27FC236}">
                <a16:creationId xmlns:a16="http://schemas.microsoft.com/office/drawing/2014/main" id="{6BD37E3C-D922-9143-AA07-15BDE0098EB9}"/>
              </a:ext>
            </a:extLst>
          </p:cNvPr>
          <p:cNvCxnSpPr>
            <a:cxnSpLocks/>
            <a:stCxn id="13" idx="3"/>
            <a:endCxn id="150" idx="1"/>
          </p:cNvCxnSpPr>
          <p:nvPr/>
        </p:nvCxnSpPr>
        <p:spPr>
          <a:xfrm>
            <a:off x="6484626" y="3258698"/>
            <a:ext cx="1750539" cy="130488"/>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カギ線コネクタ 195">
            <a:extLst>
              <a:ext uri="{FF2B5EF4-FFF2-40B4-BE49-F238E27FC236}">
                <a16:creationId xmlns:a16="http://schemas.microsoft.com/office/drawing/2014/main" id="{10733A56-E8C3-8640-997B-7DD2E325AD9C}"/>
              </a:ext>
            </a:extLst>
          </p:cNvPr>
          <p:cNvCxnSpPr>
            <a:cxnSpLocks/>
            <a:stCxn id="14" idx="3"/>
            <a:endCxn id="149" idx="1"/>
          </p:cNvCxnSpPr>
          <p:nvPr/>
        </p:nvCxnSpPr>
        <p:spPr>
          <a:xfrm flipV="1">
            <a:off x="6484621" y="3679660"/>
            <a:ext cx="1750544" cy="138189"/>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カギ線コネクタ 198">
            <a:extLst>
              <a:ext uri="{FF2B5EF4-FFF2-40B4-BE49-F238E27FC236}">
                <a16:creationId xmlns:a16="http://schemas.microsoft.com/office/drawing/2014/main" id="{301BD147-E09F-D649-9FBE-DE2CE681298C}"/>
              </a:ext>
            </a:extLst>
          </p:cNvPr>
          <p:cNvCxnSpPr>
            <a:cxnSpLocks/>
            <a:stCxn id="14" idx="3"/>
            <a:endCxn id="148" idx="1"/>
          </p:cNvCxnSpPr>
          <p:nvPr/>
        </p:nvCxnSpPr>
        <p:spPr>
          <a:xfrm>
            <a:off x="6484621" y="3817849"/>
            <a:ext cx="1750546" cy="116001"/>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カギ線コネクタ 201">
            <a:extLst>
              <a:ext uri="{FF2B5EF4-FFF2-40B4-BE49-F238E27FC236}">
                <a16:creationId xmlns:a16="http://schemas.microsoft.com/office/drawing/2014/main" id="{4334DC98-979E-784D-AA3B-2581F5D4E10F}"/>
              </a:ext>
            </a:extLst>
          </p:cNvPr>
          <p:cNvCxnSpPr>
            <a:cxnSpLocks/>
            <a:stCxn id="15" idx="3"/>
            <a:endCxn id="147" idx="1"/>
          </p:cNvCxnSpPr>
          <p:nvPr/>
        </p:nvCxnSpPr>
        <p:spPr>
          <a:xfrm flipV="1">
            <a:off x="6484620" y="4224324"/>
            <a:ext cx="1750547" cy="143730"/>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カギ線コネクタ 204">
            <a:extLst>
              <a:ext uri="{FF2B5EF4-FFF2-40B4-BE49-F238E27FC236}">
                <a16:creationId xmlns:a16="http://schemas.microsoft.com/office/drawing/2014/main" id="{FF4FBC3C-6880-8D48-90F9-98714A76F31C}"/>
              </a:ext>
            </a:extLst>
          </p:cNvPr>
          <p:cNvCxnSpPr>
            <a:cxnSpLocks/>
            <a:stCxn id="15" idx="3"/>
            <a:endCxn id="146" idx="1"/>
          </p:cNvCxnSpPr>
          <p:nvPr/>
        </p:nvCxnSpPr>
        <p:spPr>
          <a:xfrm>
            <a:off x="6484620" y="4368054"/>
            <a:ext cx="1750547" cy="116785"/>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カギ線コネクタ 207">
            <a:extLst>
              <a:ext uri="{FF2B5EF4-FFF2-40B4-BE49-F238E27FC236}">
                <a16:creationId xmlns:a16="http://schemas.microsoft.com/office/drawing/2014/main" id="{497E6DA1-EAC8-634C-980D-8304AC70CC77}"/>
              </a:ext>
            </a:extLst>
          </p:cNvPr>
          <p:cNvCxnSpPr>
            <a:cxnSpLocks/>
            <a:stCxn id="10" idx="3"/>
            <a:endCxn id="79" idx="1"/>
          </p:cNvCxnSpPr>
          <p:nvPr/>
        </p:nvCxnSpPr>
        <p:spPr>
          <a:xfrm flipV="1">
            <a:off x="6484622" y="4972966"/>
            <a:ext cx="1750546" cy="124484"/>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カギ線コネクタ 210">
            <a:extLst>
              <a:ext uri="{FF2B5EF4-FFF2-40B4-BE49-F238E27FC236}">
                <a16:creationId xmlns:a16="http://schemas.microsoft.com/office/drawing/2014/main" id="{C2C55326-59FA-2C40-9FD5-D08C0A16390C}"/>
              </a:ext>
            </a:extLst>
          </p:cNvPr>
          <p:cNvCxnSpPr>
            <a:cxnSpLocks/>
            <a:stCxn id="10" idx="3"/>
            <a:endCxn id="78" idx="1"/>
          </p:cNvCxnSpPr>
          <p:nvPr/>
        </p:nvCxnSpPr>
        <p:spPr>
          <a:xfrm>
            <a:off x="6484622" y="5097450"/>
            <a:ext cx="1750544" cy="129706"/>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カギ線コネクタ 213">
            <a:extLst>
              <a:ext uri="{FF2B5EF4-FFF2-40B4-BE49-F238E27FC236}">
                <a16:creationId xmlns:a16="http://schemas.microsoft.com/office/drawing/2014/main" id="{2EE352DE-35A1-654D-97D8-EA7D5997A9D7}"/>
              </a:ext>
            </a:extLst>
          </p:cNvPr>
          <p:cNvCxnSpPr>
            <a:cxnSpLocks/>
            <a:stCxn id="8" idx="3"/>
            <a:endCxn id="75" idx="1"/>
          </p:cNvCxnSpPr>
          <p:nvPr/>
        </p:nvCxnSpPr>
        <p:spPr>
          <a:xfrm flipV="1">
            <a:off x="6484621" y="5517630"/>
            <a:ext cx="1750545" cy="150237"/>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カギ線コネクタ 216">
            <a:extLst>
              <a:ext uri="{FF2B5EF4-FFF2-40B4-BE49-F238E27FC236}">
                <a16:creationId xmlns:a16="http://schemas.microsoft.com/office/drawing/2014/main" id="{CB0D7095-63D7-754E-9BB5-87D8179762B4}"/>
              </a:ext>
            </a:extLst>
          </p:cNvPr>
          <p:cNvCxnSpPr>
            <a:cxnSpLocks/>
            <a:stCxn id="8" idx="3"/>
            <a:endCxn id="74" idx="1"/>
          </p:cNvCxnSpPr>
          <p:nvPr/>
        </p:nvCxnSpPr>
        <p:spPr>
          <a:xfrm>
            <a:off x="6484621" y="5667867"/>
            <a:ext cx="1750547" cy="103953"/>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カギ線コネクタ 219">
            <a:extLst>
              <a:ext uri="{FF2B5EF4-FFF2-40B4-BE49-F238E27FC236}">
                <a16:creationId xmlns:a16="http://schemas.microsoft.com/office/drawing/2014/main" id="{054513D5-36AB-8046-9A3C-0B6E525E0641}"/>
              </a:ext>
            </a:extLst>
          </p:cNvPr>
          <p:cNvCxnSpPr>
            <a:cxnSpLocks/>
            <a:stCxn id="9" idx="3"/>
            <a:endCxn id="73" idx="1"/>
          </p:cNvCxnSpPr>
          <p:nvPr/>
        </p:nvCxnSpPr>
        <p:spPr>
          <a:xfrm flipV="1">
            <a:off x="6484624" y="6062294"/>
            <a:ext cx="1750544" cy="137649"/>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カギ線コネクタ 222">
            <a:extLst>
              <a:ext uri="{FF2B5EF4-FFF2-40B4-BE49-F238E27FC236}">
                <a16:creationId xmlns:a16="http://schemas.microsoft.com/office/drawing/2014/main" id="{ACA8FAAF-E442-CC4E-BB2D-FE48E0F22B11}"/>
              </a:ext>
            </a:extLst>
          </p:cNvPr>
          <p:cNvCxnSpPr>
            <a:cxnSpLocks/>
            <a:stCxn id="9" idx="3"/>
            <a:endCxn id="72" idx="1"/>
          </p:cNvCxnSpPr>
          <p:nvPr/>
        </p:nvCxnSpPr>
        <p:spPr>
          <a:xfrm>
            <a:off x="6484624" y="6199943"/>
            <a:ext cx="1750544" cy="122866"/>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95256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39</a:t>
            </a:r>
            <a:r>
              <a:rPr lang="ja-JP" altLang="en-US" sz="2000" dirty="0">
                <a:solidFill>
                  <a:schemeClr val="bg1"/>
                </a:solidFill>
              </a:rPr>
              <a:t>　ＰＤＣＡ</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162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为了达成目标而制订计划，然后进行实施、评价</a:t>
            </a:r>
            <a:r>
              <a:rPr lang="en-US" altLang="zh-CN" sz="1138" dirty="0"/>
              <a:t>(</a:t>
            </a:r>
            <a:r>
              <a:rPr lang="zh-CN" altLang="en-US" sz="1138" dirty="0"/>
              <a:t>检查</a:t>
            </a:r>
            <a:r>
              <a:rPr lang="en-US" altLang="zh-CN" sz="1138" dirty="0"/>
              <a:t>)</a:t>
            </a:r>
            <a:r>
              <a:rPr lang="zh-CN" altLang="en-US" sz="1138" dirty="0"/>
              <a:t>、改善</a:t>
            </a:r>
            <a:r>
              <a:rPr lang="en-US" altLang="zh-CN" sz="1138" dirty="0"/>
              <a:t>(</a:t>
            </a:r>
            <a:r>
              <a:rPr lang="zh-CN" altLang="en-US" sz="1138" dirty="0"/>
              <a:t>处理</a:t>
            </a:r>
            <a:r>
              <a:rPr lang="en-US" altLang="zh-CN" sz="1138" dirty="0"/>
              <a:t>)</a:t>
            </a:r>
            <a:r>
              <a:rPr lang="zh-CN" altLang="en-US" sz="1138" dirty="0"/>
              <a:t>的循环。</a:t>
            </a:r>
            <a:endParaRPr lang="en-US" altLang="ja-JP" sz="1138" dirty="0"/>
          </a:p>
        </p:txBody>
      </p:sp>
      <p:grpSp>
        <p:nvGrpSpPr>
          <p:cNvPr id="4" name="グループ化 3">
            <a:extLst>
              <a:ext uri="{FF2B5EF4-FFF2-40B4-BE49-F238E27FC236}">
                <a16:creationId xmlns:a16="http://schemas.microsoft.com/office/drawing/2014/main" id="{626E8583-5CF4-D646-AA19-D500EC856E56}"/>
              </a:ext>
            </a:extLst>
          </p:cNvPr>
          <p:cNvGrpSpPr/>
          <p:nvPr/>
        </p:nvGrpSpPr>
        <p:grpSpPr>
          <a:xfrm>
            <a:off x="3045064" y="1647584"/>
            <a:ext cx="3959336" cy="4132084"/>
            <a:chOff x="3045064" y="1647584"/>
            <a:chExt cx="3959336" cy="4132084"/>
          </a:xfrm>
        </p:grpSpPr>
        <p:sp>
          <p:nvSpPr>
            <p:cNvPr id="6" name="環状矢印 5">
              <a:extLst>
                <a:ext uri="{FF2B5EF4-FFF2-40B4-BE49-F238E27FC236}">
                  <a16:creationId xmlns:a16="http://schemas.microsoft.com/office/drawing/2014/main" id="{AA0C37AB-E46A-9442-9C9A-96107482C56F}"/>
                </a:ext>
              </a:extLst>
            </p:cNvPr>
            <p:cNvSpPr/>
            <p:nvPr/>
          </p:nvSpPr>
          <p:spPr>
            <a:xfrm rot="15300000">
              <a:off x="3195302" y="2091881"/>
              <a:ext cx="3442628" cy="3442628"/>
            </a:xfrm>
            <a:prstGeom prst="circularArrow">
              <a:avLst>
                <a:gd name="adj1" fmla="val 6719"/>
                <a:gd name="adj2" fmla="val 710143"/>
                <a:gd name="adj3" fmla="val 20494059"/>
                <a:gd name="adj4" fmla="val 17065426"/>
                <a:gd name="adj5" fmla="val 8929"/>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環状矢印 17">
              <a:extLst>
                <a:ext uri="{FF2B5EF4-FFF2-40B4-BE49-F238E27FC236}">
                  <a16:creationId xmlns:a16="http://schemas.microsoft.com/office/drawing/2014/main" id="{3A5E1E0C-900B-2A4A-8703-25EDB8C53ECA}"/>
                </a:ext>
              </a:extLst>
            </p:cNvPr>
            <p:cNvSpPr/>
            <p:nvPr/>
          </p:nvSpPr>
          <p:spPr>
            <a:xfrm rot="20721435">
              <a:off x="3162159" y="2049698"/>
              <a:ext cx="3442628" cy="3442628"/>
            </a:xfrm>
            <a:prstGeom prst="circularArrow">
              <a:avLst>
                <a:gd name="adj1" fmla="val 6719"/>
                <a:gd name="adj2" fmla="val 710143"/>
                <a:gd name="adj3" fmla="val 20494059"/>
                <a:gd name="adj4" fmla="val 17083627"/>
                <a:gd name="adj5" fmla="val 8929"/>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9" name="環状矢印 18">
              <a:extLst>
                <a:ext uri="{FF2B5EF4-FFF2-40B4-BE49-F238E27FC236}">
                  <a16:creationId xmlns:a16="http://schemas.microsoft.com/office/drawing/2014/main" id="{4A312C41-82D6-A348-9C20-A27EF13781FE}"/>
                </a:ext>
              </a:extLst>
            </p:cNvPr>
            <p:cNvSpPr/>
            <p:nvPr/>
          </p:nvSpPr>
          <p:spPr>
            <a:xfrm rot="4500000">
              <a:off x="3286139" y="1960159"/>
              <a:ext cx="3442628" cy="3442628"/>
            </a:xfrm>
            <a:prstGeom prst="circularArrow">
              <a:avLst>
                <a:gd name="adj1" fmla="val 6719"/>
                <a:gd name="adj2" fmla="val 710143"/>
                <a:gd name="adj3" fmla="val 20494059"/>
                <a:gd name="adj4" fmla="val 17083627"/>
                <a:gd name="adj5" fmla="val 8929"/>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0" name="環状矢印 19">
              <a:extLst>
                <a:ext uri="{FF2B5EF4-FFF2-40B4-BE49-F238E27FC236}">
                  <a16:creationId xmlns:a16="http://schemas.microsoft.com/office/drawing/2014/main" id="{63289594-66C8-A149-AE11-9FF77AAFE641}"/>
                </a:ext>
              </a:extLst>
            </p:cNvPr>
            <p:cNvSpPr/>
            <p:nvPr/>
          </p:nvSpPr>
          <p:spPr>
            <a:xfrm rot="9900000">
              <a:off x="3313883" y="2173790"/>
              <a:ext cx="3442628" cy="3442628"/>
            </a:xfrm>
            <a:prstGeom prst="circularArrow">
              <a:avLst>
                <a:gd name="adj1" fmla="val 6719"/>
                <a:gd name="adj2" fmla="val 710143"/>
                <a:gd name="adj3" fmla="val 20494059"/>
                <a:gd name="adj4" fmla="val 17083627"/>
                <a:gd name="adj5" fmla="val 8929"/>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円/楕円 13">
              <a:extLst>
                <a:ext uri="{FF2B5EF4-FFF2-40B4-BE49-F238E27FC236}">
                  <a16:creationId xmlns:a16="http://schemas.microsoft.com/office/drawing/2014/main" id="{1238E900-7D6F-9F4F-9D89-BE9235CDBFF6}"/>
                </a:ext>
              </a:extLst>
            </p:cNvPr>
            <p:cNvSpPr/>
            <p:nvPr/>
          </p:nvSpPr>
          <p:spPr>
            <a:xfrm>
              <a:off x="4356209" y="1647584"/>
              <a:ext cx="1191025" cy="1191025"/>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Plan</a:t>
              </a:r>
            </a:p>
            <a:p>
              <a:pPr algn="ctr"/>
              <a:r>
                <a:rPr kumimoji="1" lang="ja-JP" altLang="en-US" dirty="0">
                  <a:solidFill>
                    <a:schemeClr val="tx1"/>
                  </a:solidFill>
                </a:rPr>
                <a:t>计划</a:t>
              </a:r>
            </a:p>
          </p:txBody>
        </p:sp>
        <p:sp>
          <p:nvSpPr>
            <p:cNvPr id="15" name="円/楕円 14">
              <a:extLst>
                <a:ext uri="{FF2B5EF4-FFF2-40B4-BE49-F238E27FC236}">
                  <a16:creationId xmlns:a16="http://schemas.microsoft.com/office/drawing/2014/main" id="{E894871C-AC54-864D-9F3C-924682757693}"/>
                </a:ext>
              </a:extLst>
            </p:cNvPr>
            <p:cNvSpPr/>
            <p:nvPr/>
          </p:nvSpPr>
          <p:spPr>
            <a:xfrm>
              <a:off x="4356209" y="4588643"/>
              <a:ext cx="1191025" cy="1191025"/>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Check</a:t>
              </a:r>
            </a:p>
            <a:p>
              <a:pPr algn="ctr"/>
              <a:r>
                <a:rPr kumimoji="1" lang="zh-CN" altLang="en-US" dirty="0">
                  <a:solidFill>
                    <a:schemeClr val="tx1"/>
                  </a:solidFill>
                </a:rPr>
                <a:t>评价</a:t>
              </a:r>
              <a:endParaRPr kumimoji="1" lang="en-US" altLang="ja-JP" dirty="0">
                <a:solidFill>
                  <a:schemeClr val="tx1"/>
                </a:solidFill>
              </a:endParaRPr>
            </a:p>
          </p:txBody>
        </p:sp>
        <p:sp>
          <p:nvSpPr>
            <p:cNvPr id="16" name="円/楕円 15">
              <a:extLst>
                <a:ext uri="{FF2B5EF4-FFF2-40B4-BE49-F238E27FC236}">
                  <a16:creationId xmlns:a16="http://schemas.microsoft.com/office/drawing/2014/main" id="{24E23704-A792-A94C-B06B-1916E2DD675A}"/>
                </a:ext>
              </a:extLst>
            </p:cNvPr>
            <p:cNvSpPr/>
            <p:nvPr/>
          </p:nvSpPr>
          <p:spPr>
            <a:xfrm>
              <a:off x="5813375" y="3234976"/>
              <a:ext cx="1191025" cy="1191025"/>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Do</a:t>
              </a:r>
            </a:p>
            <a:p>
              <a:pPr algn="ctr"/>
              <a:r>
                <a:rPr kumimoji="1" lang="zh-CN" altLang="en-US" dirty="0">
                  <a:solidFill>
                    <a:schemeClr val="tx1"/>
                  </a:solidFill>
                </a:rPr>
                <a:t>执行</a:t>
              </a:r>
              <a:endParaRPr kumimoji="1" lang="en-US" altLang="ja-JP" dirty="0">
                <a:solidFill>
                  <a:schemeClr val="tx1"/>
                </a:solidFill>
              </a:endParaRPr>
            </a:p>
          </p:txBody>
        </p:sp>
        <p:sp>
          <p:nvSpPr>
            <p:cNvPr id="17" name="円/楕円 16">
              <a:extLst>
                <a:ext uri="{FF2B5EF4-FFF2-40B4-BE49-F238E27FC236}">
                  <a16:creationId xmlns:a16="http://schemas.microsoft.com/office/drawing/2014/main" id="{3F62D6AE-143E-4049-8A65-3A02F890E4E1}"/>
                </a:ext>
              </a:extLst>
            </p:cNvPr>
            <p:cNvSpPr/>
            <p:nvPr/>
          </p:nvSpPr>
          <p:spPr>
            <a:xfrm>
              <a:off x="3045064" y="3217683"/>
              <a:ext cx="1191025" cy="1191025"/>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Action</a:t>
              </a:r>
            </a:p>
            <a:p>
              <a:pPr algn="ctr"/>
              <a:r>
                <a:rPr kumimoji="1" lang="ja-JP" altLang="en-US">
                  <a:solidFill>
                    <a:schemeClr val="tx1"/>
                  </a:solidFill>
                </a:rPr>
                <a:t>改善</a:t>
              </a:r>
              <a:endParaRPr kumimoji="1" lang="en-US" altLang="ja-JP" dirty="0">
                <a:solidFill>
                  <a:schemeClr val="tx1"/>
                </a:solidFill>
              </a:endParaRPr>
            </a:p>
          </p:txBody>
        </p:sp>
      </p:grpSp>
      <p:sp>
        <p:nvSpPr>
          <p:cNvPr id="21" name="線吹き出し 2 (枠付き) 20">
            <a:extLst>
              <a:ext uri="{FF2B5EF4-FFF2-40B4-BE49-F238E27FC236}">
                <a16:creationId xmlns:a16="http://schemas.microsoft.com/office/drawing/2014/main" id="{B577DC1F-1979-F846-A4B6-16CAFA657301}"/>
              </a:ext>
            </a:extLst>
          </p:cNvPr>
          <p:cNvSpPr/>
          <p:nvPr/>
        </p:nvSpPr>
        <p:spPr>
          <a:xfrm>
            <a:off x="354052" y="1069033"/>
            <a:ext cx="2727832" cy="1545635"/>
          </a:xfrm>
          <a:prstGeom prst="borderCallout2">
            <a:avLst>
              <a:gd name="adj1" fmla="val 30762"/>
              <a:gd name="adj2" fmla="val 100117"/>
              <a:gd name="adj3" fmla="val 30681"/>
              <a:gd name="adj4" fmla="val 140798"/>
              <a:gd name="adj5" fmla="val 47237"/>
              <a:gd name="adj6" fmla="val 15164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sz="1600" dirty="0">
                <a:solidFill>
                  <a:schemeClr val="tx1"/>
                </a:solidFill>
              </a:rPr>
              <a:t>计划</a:t>
            </a:r>
            <a:endParaRPr kumimoji="1" lang="en-US" altLang="ja-JP" sz="1400" dirty="0">
              <a:solidFill>
                <a:schemeClr val="tx1"/>
              </a:solidFill>
            </a:endParaRPr>
          </a:p>
          <a:p>
            <a:r>
              <a:rPr kumimoji="1" lang="ja-JP" altLang="en-US" sz="1400" dirty="0">
                <a:solidFill>
                  <a:schemeClr val="tx1"/>
                </a:solidFill>
              </a:rPr>
              <a:t>●</a:t>
            </a:r>
            <a:endParaRPr kumimoji="1" lang="en-US" altLang="ja-JP" sz="1400" dirty="0">
              <a:solidFill>
                <a:schemeClr val="tx1"/>
              </a:solidFill>
            </a:endParaRPr>
          </a:p>
          <a:p>
            <a:endParaRPr kumimoji="1" lang="en-US" altLang="ja-JP" sz="1400" dirty="0">
              <a:solidFill>
                <a:schemeClr val="tx1"/>
              </a:solidFill>
            </a:endParaRPr>
          </a:p>
          <a:p>
            <a:r>
              <a:rPr kumimoji="1" lang="ja-JP" altLang="en-US" sz="1400" dirty="0">
                <a:solidFill>
                  <a:schemeClr val="tx1"/>
                </a:solidFill>
              </a:rPr>
              <a:t>●</a:t>
            </a:r>
            <a:endParaRPr kumimoji="1" lang="en-US" altLang="ja-JP" sz="1400" dirty="0">
              <a:solidFill>
                <a:schemeClr val="tx1"/>
              </a:solidFill>
            </a:endParaRPr>
          </a:p>
        </p:txBody>
      </p:sp>
      <p:sp>
        <p:nvSpPr>
          <p:cNvPr id="22" name="線吹き出し 2 (枠付き) 21">
            <a:extLst>
              <a:ext uri="{FF2B5EF4-FFF2-40B4-BE49-F238E27FC236}">
                <a16:creationId xmlns:a16="http://schemas.microsoft.com/office/drawing/2014/main" id="{E9667081-4E97-B640-A771-DF48B6205CEB}"/>
              </a:ext>
            </a:extLst>
          </p:cNvPr>
          <p:cNvSpPr/>
          <p:nvPr/>
        </p:nvSpPr>
        <p:spPr>
          <a:xfrm>
            <a:off x="6824115" y="1066465"/>
            <a:ext cx="2727832" cy="1329338"/>
          </a:xfrm>
          <a:prstGeom prst="borderCallout2">
            <a:avLst>
              <a:gd name="adj1" fmla="val 99675"/>
              <a:gd name="adj2" fmla="val 14766"/>
              <a:gd name="adj3" fmla="val 148808"/>
              <a:gd name="adj4" fmla="val 14882"/>
              <a:gd name="adj5" fmla="val 177240"/>
              <a:gd name="adj6" fmla="val 150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sz="1600" dirty="0">
                <a:solidFill>
                  <a:schemeClr val="tx1"/>
                </a:solidFill>
              </a:rPr>
              <a:t>执行</a:t>
            </a:r>
            <a:endParaRPr kumimoji="1" lang="en-US" altLang="ja-JP" sz="1400" dirty="0">
              <a:solidFill>
                <a:schemeClr val="tx1"/>
              </a:solidFill>
            </a:endParaRPr>
          </a:p>
          <a:p>
            <a:r>
              <a:rPr kumimoji="1" lang="ja-JP" altLang="en-US" sz="1400" dirty="0">
                <a:solidFill>
                  <a:schemeClr val="tx1"/>
                </a:solidFill>
              </a:rPr>
              <a:t>●</a:t>
            </a:r>
            <a:endParaRPr kumimoji="1" lang="en-US" altLang="ja-JP" sz="1400" dirty="0">
              <a:solidFill>
                <a:schemeClr val="tx1"/>
              </a:solidFill>
            </a:endParaRPr>
          </a:p>
          <a:p>
            <a:endParaRPr kumimoji="1" lang="en-US" altLang="ja-JP" sz="1400" dirty="0">
              <a:solidFill>
                <a:schemeClr val="tx1"/>
              </a:solidFill>
            </a:endParaRPr>
          </a:p>
          <a:p>
            <a:r>
              <a:rPr kumimoji="1" lang="ja-JP" altLang="en-US" sz="1400" dirty="0">
                <a:solidFill>
                  <a:schemeClr val="tx1"/>
                </a:solidFill>
              </a:rPr>
              <a:t>●</a:t>
            </a:r>
            <a:endParaRPr kumimoji="1" lang="en-US" altLang="ja-JP" sz="1400" dirty="0">
              <a:solidFill>
                <a:schemeClr val="tx1"/>
              </a:solidFill>
            </a:endParaRPr>
          </a:p>
        </p:txBody>
      </p:sp>
      <p:sp>
        <p:nvSpPr>
          <p:cNvPr id="23" name="線吹き出し 2 (枠付き) 22">
            <a:extLst>
              <a:ext uri="{FF2B5EF4-FFF2-40B4-BE49-F238E27FC236}">
                <a16:creationId xmlns:a16="http://schemas.microsoft.com/office/drawing/2014/main" id="{0D5F5810-C8E5-FE41-A8BD-F8FCE1D6C0F2}"/>
              </a:ext>
            </a:extLst>
          </p:cNvPr>
          <p:cNvSpPr/>
          <p:nvPr/>
        </p:nvSpPr>
        <p:spPr>
          <a:xfrm>
            <a:off x="354052" y="5174896"/>
            <a:ext cx="2727832" cy="1329338"/>
          </a:xfrm>
          <a:prstGeom prst="borderCallout2">
            <a:avLst>
              <a:gd name="adj1" fmla="val -326"/>
              <a:gd name="adj2" fmla="val 84906"/>
              <a:gd name="adj3" fmla="val -48302"/>
              <a:gd name="adj4" fmla="val 85304"/>
              <a:gd name="adj5" fmla="val -72471"/>
              <a:gd name="adj6" fmla="val 103474"/>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1600">
                <a:solidFill>
                  <a:schemeClr val="tx1"/>
                </a:solidFill>
              </a:rPr>
              <a:t>改善</a:t>
            </a:r>
            <a:endParaRPr kumimoji="1" lang="en-US" altLang="ja-JP" sz="1400" dirty="0">
              <a:solidFill>
                <a:schemeClr val="tx1"/>
              </a:solidFill>
            </a:endParaRPr>
          </a:p>
          <a:p>
            <a:endParaRPr kumimoji="1" lang="en-US" altLang="ja-JP" sz="1400" dirty="0">
              <a:solidFill>
                <a:schemeClr val="tx1"/>
              </a:solidFill>
            </a:endParaRPr>
          </a:p>
          <a:p>
            <a:r>
              <a:rPr kumimoji="1" lang="ja-JP" altLang="en-US" sz="1400">
                <a:solidFill>
                  <a:schemeClr val="tx1"/>
                </a:solidFill>
              </a:rPr>
              <a:t>●</a:t>
            </a:r>
            <a:endParaRPr kumimoji="1" lang="en-US" altLang="ja-JP" sz="1400" dirty="0">
              <a:solidFill>
                <a:schemeClr val="tx1"/>
              </a:solidFill>
            </a:endParaRPr>
          </a:p>
          <a:p>
            <a:endParaRPr kumimoji="1" lang="en-US" altLang="ja-JP" sz="1400" dirty="0">
              <a:solidFill>
                <a:schemeClr val="tx1"/>
              </a:solidFill>
            </a:endParaRPr>
          </a:p>
          <a:p>
            <a:r>
              <a:rPr kumimoji="1" lang="ja-JP" altLang="en-US" sz="1400">
                <a:solidFill>
                  <a:schemeClr val="tx1"/>
                </a:solidFill>
              </a:rPr>
              <a:t>●</a:t>
            </a:r>
            <a:endParaRPr kumimoji="1" lang="en-US" altLang="ja-JP" sz="1400" dirty="0">
              <a:solidFill>
                <a:schemeClr val="tx1"/>
              </a:solidFill>
            </a:endParaRPr>
          </a:p>
        </p:txBody>
      </p:sp>
      <p:sp>
        <p:nvSpPr>
          <p:cNvPr id="24" name="線吹き出し 2 (枠付き) 23">
            <a:extLst>
              <a:ext uri="{FF2B5EF4-FFF2-40B4-BE49-F238E27FC236}">
                <a16:creationId xmlns:a16="http://schemas.microsoft.com/office/drawing/2014/main" id="{A0E2EA83-8259-9F49-89ED-D5804875D469}"/>
              </a:ext>
            </a:extLst>
          </p:cNvPr>
          <p:cNvSpPr/>
          <p:nvPr/>
        </p:nvSpPr>
        <p:spPr>
          <a:xfrm>
            <a:off x="6824115" y="5176765"/>
            <a:ext cx="2727832" cy="1329338"/>
          </a:xfrm>
          <a:prstGeom prst="borderCallout2">
            <a:avLst>
              <a:gd name="adj1" fmla="val 30310"/>
              <a:gd name="adj2" fmla="val -164"/>
              <a:gd name="adj3" fmla="val 29154"/>
              <a:gd name="adj4" fmla="val -37231"/>
              <a:gd name="adj5" fmla="val 14234"/>
              <a:gd name="adj6" fmla="val -4779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sz="1600" dirty="0">
                <a:solidFill>
                  <a:schemeClr val="tx1"/>
                </a:solidFill>
              </a:rPr>
              <a:t>评价</a:t>
            </a:r>
            <a:endParaRPr kumimoji="1" lang="en-US" altLang="ja-JP" sz="1400" dirty="0">
              <a:solidFill>
                <a:schemeClr val="tx1"/>
              </a:solidFill>
            </a:endParaRPr>
          </a:p>
          <a:p>
            <a:r>
              <a:rPr kumimoji="1" lang="ja-JP" altLang="en-US" sz="1400" dirty="0">
                <a:solidFill>
                  <a:schemeClr val="tx1"/>
                </a:solidFill>
              </a:rPr>
              <a:t>●</a:t>
            </a:r>
            <a:endParaRPr kumimoji="1" lang="en-US" altLang="ja-JP" sz="1400" dirty="0">
              <a:solidFill>
                <a:schemeClr val="tx1"/>
              </a:solidFill>
            </a:endParaRPr>
          </a:p>
          <a:p>
            <a:endParaRPr kumimoji="1" lang="en-US" altLang="ja-JP" sz="1400" dirty="0">
              <a:solidFill>
                <a:schemeClr val="tx1"/>
              </a:solidFill>
            </a:endParaRPr>
          </a:p>
          <a:p>
            <a:r>
              <a:rPr kumimoji="1" lang="ja-JP" altLang="en-US" sz="1400" dirty="0">
                <a:solidFill>
                  <a:schemeClr val="tx1"/>
                </a:solidFill>
              </a:rPr>
              <a:t>●</a:t>
            </a:r>
            <a:endParaRPr kumimoji="1" lang="en-US" altLang="ja-JP" sz="1400" dirty="0">
              <a:solidFill>
                <a:schemeClr val="tx1"/>
              </a:solidFill>
            </a:endParaRPr>
          </a:p>
        </p:txBody>
      </p:sp>
    </p:spTree>
    <p:extLst>
      <p:ext uri="{BB962C8B-B14F-4D97-AF65-F5344CB8AC3E}">
        <p14:creationId xmlns:p14="http://schemas.microsoft.com/office/powerpoint/2010/main" val="23221411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40</a:t>
            </a:r>
            <a:r>
              <a:rPr lang="ja-JP" altLang="en-US" sz="2000" dirty="0">
                <a:solidFill>
                  <a:schemeClr val="bg1"/>
                </a:solidFill>
              </a:rPr>
              <a:t>　ＳＷＯＴ分析</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168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将本公司的优势、劣势、机会、威胁落实到</a:t>
            </a:r>
            <a:r>
              <a:rPr lang="en-US" altLang="zh-CN" sz="1138" dirty="0"/>
              <a:t>SWOT</a:t>
            </a:r>
            <a:r>
              <a:rPr lang="zh-CN" altLang="en-US" sz="1138" dirty="0"/>
              <a:t>矩阵中，利用综合</a:t>
            </a:r>
            <a:r>
              <a:rPr lang="en-US" altLang="zh-CN" sz="1138" dirty="0"/>
              <a:t>SWAT</a:t>
            </a:r>
            <a:r>
              <a:rPr lang="zh-CN" altLang="en-US" sz="1138" dirty="0"/>
              <a:t>分析将企业采取的战略具体化。</a:t>
            </a:r>
            <a:endParaRPr lang="en-US" altLang="ja-JP" sz="1138" dirty="0"/>
          </a:p>
        </p:txBody>
      </p:sp>
      <p:graphicFrame>
        <p:nvGraphicFramePr>
          <p:cNvPr id="5" name="表 5">
            <a:extLst>
              <a:ext uri="{FF2B5EF4-FFF2-40B4-BE49-F238E27FC236}">
                <a16:creationId xmlns:a16="http://schemas.microsoft.com/office/drawing/2014/main" id="{7F997601-93B7-8546-AE36-19FEFC1D0AEA}"/>
              </a:ext>
            </a:extLst>
          </p:cNvPr>
          <p:cNvGraphicFramePr>
            <a:graphicFrameLocks noGrp="1"/>
          </p:cNvGraphicFramePr>
          <p:nvPr>
            <p:extLst>
              <p:ext uri="{D42A27DB-BD31-4B8C-83A1-F6EECF244321}">
                <p14:modId xmlns:p14="http://schemas.microsoft.com/office/powerpoint/2010/main" val="58592752"/>
              </p:ext>
            </p:extLst>
          </p:nvPr>
        </p:nvGraphicFramePr>
        <p:xfrm>
          <a:off x="354051" y="1508760"/>
          <a:ext cx="4477029" cy="5007429"/>
        </p:xfrm>
        <a:graphic>
          <a:graphicData uri="http://schemas.openxmlformats.org/drawingml/2006/table">
            <a:tbl>
              <a:tblPr>
                <a:tableStyleId>{1FECB4D8-DB02-4DC6-A0A2-4F2EBAE1DC90}</a:tableStyleId>
              </a:tblPr>
              <a:tblGrid>
                <a:gridCol w="423189">
                  <a:extLst>
                    <a:ext uri="{9D8B030D-6E8A-4147-A177-3AD203B41FA5}">
                      <a16:colId xmlns:a16="http://schemas.microsoft.com/office/drawing/2014/main" val="3439876664"/>
                    </a:ext>
                  </a:extLst>
                </a:gridCol>
                <a:gridCol w="2049780">
                  <a:extLst>
                    <a:ext uri="{9D8B030D-6E8A-4147-A177-3AD203B41FA5}">
                      <a16:colId xmlns:a16="http://schemas.microsoft.com/office/drawing/2014/main" val="2061717846"/>
                    </a:ext>
                  </a:extLst>
                </a:gridCol>
                <a:gridCol w="2004060">
                  <a:extLst>
                    <a:ext uri="{9D8B030D-6E8A-4147-A177-3AD203B41FA5}">
                      <a16:colId xmlns:a16="http://schemas.microsoft.com/office/drawing/2014/main" val="3479045508"/>
                    </a:ext>
                  </a:extLst>
                </a:gridCol>
              </a:tblGrid>
              <a:tr h="357051">
                <a:tc>
                  <a:txBody>
                    <a:bodyPr/>
                    <a:lstStyle/>
                    <a:p>
                      <a:endParaRPr kumimoji="1" lang="ja-JP" altLang="en-US"/>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tcPr>
                </a:tc>
                <a:tc>
                  <a:txBody>
                    <a:bodyPr/>
                    <a:lstStyle/>
                    <a:p>
                      <a:pPr algn="ctr"/>
                      <a:r>
                        <a:rPr kumimoji="1" lang="zh-CN" altLang="en-US" dirty="0"/>
                        <a:t>正面影响</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tc>
                  <a:txBody>
                    <a:bodyPr/>
                    <a:lstStyle/>
                    <a:p>
                      <a:pPr algn="ctr"/>
                      <a:r>
                        <a:rPr kumimoji="1" lang="zh-CN" altLang="en-US" dirty="0"/>
                        <a:t>负面影响</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40000"/>
                          <a:lumOff val="60000"/>
                        </a:schemeClr>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854261667"/>
                  </a:ext>
                </a:extLst>
              </a:tr>
              <a:tr h="2408347">
                <a:tc>
                  <a:txBody>
                    <a:bodyPr/>
                    <a:lstStyle/>
                    <a:p>
                      <a:pPr algn="ctr"/>
                      <a:r>
                        <a:rPr kumimoji="1" lang="zh-CN" altLang="en-US" dirty="0"/>
                        <a:t>内部环境</a:t>
                      </a:r>
                      <a:endParaRPr kumimoji="1" lang="ja-JP" altLang="en-US" dirty="0"/>
                    </a:p>
                  </a:txBody>
                  <a:tcPr vert="eaVert" anchor="ctr">
                    <a:lnL w="12700" cap="flat" cmpd="sng" algn="ctr">
                      <a:solidFill>
                        <a:schemeClr val="accent3">
                          <a:lumMod val="40000"/>
                          <a:lumOff val="60000"/>
                        </a:schemeClr>
                      </a:solidFill>
                      <a:prstDash val="solid"/>
                      <a:round/>
                      <a:headEnd type="none" w="med" len="med"/>
                      <a:tailEnd type="none" w="med" len="med"/>
                    </a:lnL>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kumimoji="1" lang="en-US" altLang="ja-JP" dirty="0"/>
                        <a:t>Strength</a:t>
                      </a:r>
                      <a:r>
                        <a:rPr kumimoji="1" lang="ja-JP" altLang="en-US" sz="1400" dirty="0"/>
                        <a:t>　</a:t>
                      </a:r>
                      <a:r>
                        <a:rPr kumimoji="1" lang="zh-CN" altLang="en-US" sz="1800" dirty="0"/>
                        <a:t>优势</a:t>
                      </a:r>
                      <a:endParaRPr kumimoji="1" lang="en-US" altLang="ja-JP" sz="1800" dirty="0"/>
                    </a:p>
                    <a:p>
                      <a:endParaRPr kumimoji="1" lang="en-US" altLang="ja-JP" sz="1400" dirty="0"/>
                    </a:p>
                    <a:p>
                      <a:endParaRPr kumimoji="1" lang="en-US" altLang="ja-JP" sz="1400" dirty="0"/>
                    </a:p>
                  </a:txBody>
                  <a:tcPr>
                    <a:lnR w="12700" cap="flat" cmpd="sng" algn="ctr">
                      <a:solidFill>
                        <a:schemeClr val="accent3"/>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tcPr>
                </a:tc>
                <a:tc>
                  <a:txBody>
                    <a:bodyPr/>
                    <a:lstStyle/>
                    <a:p>
                      <a:pPr algn="ctr"/>
                      <a:r>
                        <a:rPr kumimoji="1" lang="en-US" altLang="ja-JP" dirty="0"/>
                        <a:t>Weakness</a:t>
                      </a:r>
                      <a:r>
                        <a:rPr kumimoji="1" lang="ja-JP" altLang="en-US" sz="1100" dirty="0"/>
                        <a:t>　</a:t>
                      </a:r>
                      <a:r>
                        <a:rPr kumimoji="1" lang="zh-CN" altLang="en-US" sz="1800" dirty="0"/>
                        <a:t>劣势</a:t>
                      </a:r>
                      <a:endParaRPr kumimoji="1" lang="en-US" altLang="ja-JP" sz="1800" dirty="0"/>
                    </a:p>
                    <a:p>
                      <a:endParaRPr kumimoji="1" lang="en-US" altLang="ja-JP" sz="1100" dirty="0"/>
                    </a:p>
                    <a:p>
                      <a:endParaRPr kumimoji="1" lang="en-US" altLang="ja-JP" sz="1400" dirty="0"/>
                    </a:p>
                  </a:txBody>
                  <a:tcPr>
                    <a:lnL w="12700" cap="flat" cmpd="sng" algn="ctr">
                      <a:solidFill>
                        <a:schemeClr val="accent3"/>
                      </a:solidFill>
                      <a:prstDash val="solid"/>
                      <a:round/>
                      <a:headEnd type="none" w="med" len="med"/>
                      <a:tailEnd type="none" w="med" len="med"/>
                    </a:lnL>
                    <a:lnT w="12700" cap="flat" cmpd="sng" algn="ctr">
                      <a:solidFill>
                        <a:schemeClr val="accent3">
                          <a:lumMod val="40000"/>
                          <a:lumOff val="60000"/>
                        </a:schemeClr>
                      </a:solidFill>
                      <a:prstDash val="solid"/>
                      <a:round/>
                      <a:headEnd type="none" w="med" len="med"/>
                      <a:tailEnd type="none" w="med" len="med"/>
                    </a:lnT>
                  </a:tcPr>
                </a:tc>
                <a:extLst>
                  <a:ext uri="{0D108BD9-81ED-4DB2-BD59-A6C34878D82A}">
                    <a16:rowId xmlns:a16="http://schemas.microsoft.com/office/drawing/2014/main" val="3452875670"/>
                  </a:ext>
                </a:extLst>
              </a:tr>
              <a:tr h="2233322">
                <a:tc>
                  <a:txBody>
                    <a:bodyPr/>
                    <a:lstStyle/>
                    <a:p>
                      <a:pPr algn="ctr"/>
                      <a:r>
                        <a:rPr kumimoji="1" lang="zh-CN" altLang="en-US" dirty="0"/>
                        <a:t>外部环境</a:t>
                      </a:r>
                      <a:endParaRPr kumimoji="1" lang="ja-JP" altLang="en-US" dirty="0"/>
                    </a:p>
                  </a:txBody>
                  <a:tcPr vert="eaVert" anchor="ctr">
                    <a:lnL w="12700" cap="flat" cmpd="sng" algn="ctr">
                      <a:solidFill>
                        <a:schemeClr val="accent3">
                          <a:lumMod val="40000"/>
                          <a:lumOff val="6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tc>
                  <a:txBody>
                    <a:bodyPr/>
                    <a:lstStyle/>
                    <a:p>
                      <a:pPr algn="ctr"/>
                      <a:r>
                        <a:rPr kumimoji="1" lang="en-US" altLang="ja-JP" dirty="0"/>
                        <a:t>Opportunity</a:t>
                      </a:r>
                      <a:r>
                        <a:rPr kumimoji="1" lang="ja-JP" altLang="en-US" dirty="0"/>
                        <a:t>　</a:t>
                      </a:r>
                      <a:r>
                        <a:rPr kumimoji="1" lang="zh-CN" altLang="en-US" dirty="0"/>
                        <a:t>机会</a:t>
                      </a:r>
                      <a:endParaRPr kumimoji="1" lang="en-US" altLang="ja-JP" dirty="0"/>
                    </a:p>
                    <a:p>
                      <a:endParaRPr kumimoji="1" lang="en-US" altLang="ja-JP" dirty="0"/>
                    </a:p>
                    <a:p>
                      <a:endParaRPr kumimoji="1" lang="ja-JP" altLang="en-US" dirty="0"/>
                    </a:p>
                  </a:txBody>
                  <a:tcPr>
                    <a:lnR w="12700" cap="flat" cmpd="sng" algn="ctr">
                      <a:solidFill>
                        <a:schemeClr val="accent3"/>
                      </a:solidFill>
                      <a:prstDash val="solid"/>
                      <a:round/>
                      <a:headEnd type="none" w="med" len="med"/>
                      <a:tailEnd type="none" w="med" len="med"/>
                    </a:lnR>
                  </a:tcPr>
                </a:tc>
                <a:tc>
                  <a:txBody>
                    <a:bodyPr/>
                    <a:lstStyle/>
                    <a:p>
                      <a:pPr algn="ctr"/>
                      <a:r>
                        <a:rPr kumimoji="1" lang="en-US" altLang="ja-JP" dirty="0"/>
                        <a:t>Threat</a:t>
                      </a:r>
                      <a:r>
                        <a:rPr kumimoji="1" lang="ja-JP" altLang="en-US" dirty="0"/>
                        <a:t>　</a:t>
                      </a:r>
                      <a:r>
                        <a:rPr kumimoji="1" lang="zh-CN" altLang="en-US" dirty="0"/>
                        <a:t>威胁</a:t>
                      </a:r>
                      <a:endParaRPr kumimoji="1" lang="en-US" altLang="ja-JP" dirty="0"/>
                    </a:p>
                    <a:p>
                      <a:endParaRPr kumimoji="1" lang="en-US" altLang="ja-JP" dirty="0"/>
                    </a:p>
                    <a:p>
                      <a:endParaRPr kumimoji="1" lang="ja-JP" altLang="en-US"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3514423377"/>
                  </a:ext>
                </a:extLst>
              </a:tr>
            </a:tbl>
          </a:graphicData>
        </a:graphic>
      </p:graphicFrame>
      <p:sp>
        <p:nvSpPr>
          <p:cNvPr id="6" name="テキスト ボックス 5">
            <a:extLst>
              <a:ext uri="{FF2B5EF4-FFF2-40B4-BE49-F238E27FC236}">
                <a16:creationId xmlns:a16="http://schemas.microsoft.com/office/drawing/2014/main" id="{9F0A9C27-2816-E04E-9E51-5B8E6CABF158}"/>
              </a:ext>
            </a:extLst>
          </p:cNvPr>
          <p:cNvSpPr txBox="1"/>
          <p:nvPr/>
        </p:nvSpPr>
        <p:spPr>
          <a:xfrm>
            <a:off x="2461260" y="1103114"/>
            <a:ext cx="749757" cy="369332"/>
          </a:xfrm>
          <a:prstGeom prst="rect">
            <a:avLst/>
          </a:prstGeom>
          <a:noFill/>
        </p:spPr>
        <p:txBody>
          <a:bodyPr wrap="none" rtlCol="0">
            <a:spAutoFit/>
          </a:bodyPr>
          <a:lstStyle/>
          <a:p>
            <a:r>
              <a:rPr kumimoji="1" lang="en-US" altLang="ja-JP" dirty="0"/>
              <a:t>SWOT</a:t>
            </a:r>
            <a:endParaRPr kumimoji="1" lang="ja-JP" altLang="en-US"/>
          </a:p>
        </p:txBody>
      </p:sp>
      <p:graphicFrame>
        <p:nvGraphicFramePr>
          <p:cNvPr id="7" name="表 5">
            <a:extLst>
              <a:ext uri="{FF2B5EF4-FFF2-40B4-BE49-F238E27FC236}">
                <a16:creationId xmlns:a16="http://schemas.microsoft.com/office/drawing/2014/main" id="{E2DB31A7-111F-4041-95D0-6B2DD6A41B54}"/>
              </a:ext>
            </a:extLst>
          </p:cNvPr>
          <p:cNvGraphicFramePr>
            <a:graphicFrameLocks noGrp="1"/>
          </p:cNvGraphicFramePr>
          <p:nvPr>
            <p:extLst>
              <p:ext uri="{D42A27DB-BD31-4B8C-83A1-F6EECF244321}">
                <p14:modId xmlns:p14="http://schemas.microsoft.com/office/powerpoint/2010/main" val="1886841009"/>
              </p:ext>
            </p:extLst>
          </p:nvPr>
        </p:nvGraphicFramePr>
        <p:xfrm>
          <a:off x="5074918" y="1492431"/>
          <a:ext cx="4477029" cy="5007429"/>
        </p:xfrm>
        <a:graphic>
          <a:graphicData uri="http://schemas.openxmlformats.org/drawingml/2006/table">
            <a:tbl>
              <a:tblPr>
                <a:tableStyleId>{1FECB4D8-DB02-4DC6-A0A2-4F2EBAE1DC90}</a:tableStyleId>
              </a:tblPr>
              <a:tblGrid>
                <a:gridCol w="423189">
                  <a:extLst>
                    <a:ext uri="{9D8B030D-6E8A-4147-A177-3AD203B41FA5}">
                      <a16:colId xmlns:a16="http://schemas.microsoft.com/office/drawing/2014/main" val="3439876664"/>
                    </a:ext>
                  </a:extLst>
                </a:gridCol>
                <a:gridCol w="2049780">
                  <a:extLst>
                    <a:ext uri="{9D8B030D-6E8A-4147-A177-3AD203B41FA5}">
                      <a16:colId xmlns:a16="http://schemas.microsoft.com/office/drawing/2014/main" val="2061717846"/>
                    </a:ext>
                  </a:extLst>
                </a:gridCol>
                <a:gridCol w="2004060">
                  <a:extLst>
                    <a:ext uri="{9D8B030D-6E8A-4147-A177-3AD203B41FA5}">
                      <a16:colId xmlns:a16="http://schemas.microsoft.com/office/drawing/2014/main" val="3479045508"/>
                    </a:ext>
                  </a:extLst>
                </a:gridCol>
              </a:tblGrid>
              <a:tr h="357051">
                <a:tc>
                  <a:txBody>
                    <a:bodyPr/>
                    <a:lstStyle/>
                    <a:p>
                      <a:endParaRPr kumimoji="1" lang="ja-JP" altLang="en-US"/>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tcPr>
                </a:tc>
                <a:tc>
                  <a:txBody>
                    <a:bodyPr/>
                    <a:lstStyle/>
                    <a:p>
                      <a:pPr algn="ctr"/>
                      <a:r>
                        <a:rPr kumimoji="1" lang="en-US" altLang="ja-JP" dirty="0"/>
                        <a:t>Strength</a:t>
                      </a:r>
                      <a:r>
                        <a:rPr kumimoji="1" lang="ja-JP" altLang="en-US" sz="1400" dirty="0"/>
                        <a:t>　</a:t>
                      </a:r>
                      <a:r>
                        <a:rPr kumimoji="1" lang="zh-CN" altLang="en-US" sz="1800" dirty="0"/>
                        <a:t>优势</a:t>
                      </a:r>
                      <a:endParaRPr kumimoji="1" lang="ja-JP" altLang="en-US" sz="1800" dirty="0"/>
                    </a:p>
                  </a:txBody>
                  <a:tcPr anchor="ctr">
                    <a:lnR w="1270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tc>
                  <a:txBody>
                    <a:bodyPr/>
                    <a:lstStyle/>
                    <a:p>
                      <a:pPr algn="ctr"/>
                      <a:r>
                        <a:rPr kumimoji="1" lang="en-US" altLang="ja-JP" dirty="0"/>
                        <a:t>Weakness</a:t>
                      </a:r>
                      <a:r>
                        <a:rPr kumimoji="1" lang="ja-JP" altLang="en-US" sz="1100" dirty="0"/>
                        <a:t>　</a:t>
                      </a:r>
                      <a:r>
                        <a:rPr kumimoji="1" lang="zh-CN" altLang="en-US" sz="1800" dirty="0"/>
                        <a:t>劣势</a:t>
                      </a:r>
                      <a:endParaRPr kumimoji="1" lang="ja-JP" altLang="en-US" sz="1800"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40000"/>
                          <a:lumOff val="60000"/>
                        </a:schemeClr>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854261667"/>
                  </a:ext>
                </a:extLst>
              </a:tr>
              <a:tr h="2408347">
                <a:tc>
                  <a:txBody>
                    <a:bodyPr/>
                    <a:lstStyle/>
                    <a:p>
                      <a:pPr algn="ctr"/>
                      <a:r>
                        <a:rPr kumimoji="1" lang="en-US" altLang="ja-JP" dirty="0"/>
                        <a:t>Opportunity</a:t>
                      </a:r>
                      <a:r>
                        <a:rPr kumimoji="1" lang="ja-JP" altLang="en-US" dirty="0"/>
                        <a:t>　</a:t>
                      </a:r>
                      <a:r>
                        <a:rPr kumimoji="1" lang="zh-CN" altLang="en-US" dirty="0"/>
                        <a:t>机会</a:t>
                      </a:r>
                      <a:endParaRPr kumimoji="1" lang="ja-JP" altLang="en-US" dirty="0"/>
                    </a:p>
                  </a:txBody>
                  <a:tcPr vert="eaVert" anchor="ctr">
                    <a:lnL w="12700" cap="flat" cmpd="sng" algn="ctr">
                      <a:solidFill>
                        <a:schemeClr val="accent3">
                          <a:lumMod val="40000"/>
                          <a:lumOff val="60000"/>
                        </a:schemeClr>
                      </a:solidFill>
                      <a:prstDash val="solid"/>
                      <a:round/>
                      <a:headEnd type="none" w="med" len="med"/>
                      <a:tailEnd type="none" w="med" len="med"/>
                    </a:lnL>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kumimoji="1" lang="zh-CN" altLang="en-US" dirty="0"/>
                        <a:t>优势</a:t>
                      </a:r>
                      <a:r>
                        <a:rPr kumimoji="1" lang="en-US" altLang="ja-JP" dirty="0"/>
                        <a:t>×</a:t>
                      </a:r>
                      <a:r>
                        <a:rPr kumimoji="1" lang="zh-CN" altLang="en-US" dirty="0"/>
                        <a:t>机会</a:t>
                      </a:r>
                      <a:endParaRPr kumimoji="1" lang="en-US" altLang="ja-JP" dirty="0"/>
                    </a:p>
                    <a:p>
                      <a:endParaRPr kumimoji="1" lang="en-US" altLang="ja-JP" sz="1400" dirty="0"/>
                    </a:p>
                  </a:txBody>
                  <a:tcPr>
                    <a:lnR w="12700" cap="flat" cmpd="sng" algn="ctr">
                      <a:solidFill>
                        <a:schemeClr val="accent3"/>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tcPr>
                </a:tc>
                <a:tc>
                  <a:txBody>
                    <a:bodyPr/>
                    <a:lstStyle/>
                    <a:p>
                      <a:pPr algn="ctr"/>
                      <a:r>
                        <a:rPr kumimoji="1" lang="zh-CN" altLang="en-US" dirty="0"/>
                        <a:t>劣势</a:t>
                      </a:r>
                      <a:r>
                        <a:rPr kumimoji="1" lang="en-US" altLang="ja-JP" dirty="0"/>
                        <a:t>×</a:t>
                      </a:r>
                      <a:r>
                        <a:rPr kumimoji="1" lang="zh-CN" altLang="en-US" dirty="0"/>
                        <a:t>机会</a:t>
                      </a:r>
                      <a:endParaRPr kumimoji="1" lang="en-US" altLang="ja-JP" dirty="0"/>
                    </a:p>
                    <a:p>
                      <a:endParaRPr kumimoji="1" lang="en-US" altLang="ja-JP" sz="1400" dirty="0"/>
                    </a:p>
                    <a:p>
                      <a:endParaRPr kumimoji="1" lang="ja-JP" altLang="en-US" dirty="0"/>
                    </a:p>
                  </a:txBody>
                  <a:tcPr>
                    <a:lnL w="12700" cap="flat" cmpd="sng" algn="ctr">
                      <a:solidFill>
                        <a:schemeClr val="accent3"/>
                      </a:solidFill>
                      <a:prstDash val="solid"/>
                      <a:round/>
                      <a:headEnd type="none" w="med" len="med"/>
                      <a:tailEnd type="none" w="med" len="med"/>
                    </a:lnL>
                    <a:lnT w="12700" cap="flat" cmpd="sng" algn="ctr">
                      <a:solidFill>
                        <a:schemeClr val="accent3">
                          <a:lumMod val="40000"/>
                          <a:lumOff val="60000"/>
                        </a:schemeClr>
                      </a:solidFill>
                      <a:prstDash val="solid"/>
                      <a:round/>
                      <a:headEnd type="none" w="med" len="med"/>
                      <a:tailEnd type="none" w="med" len="med"/>
                    </a:lnT>
                  </a:tcPr>
                </a:tc>
                <a:extLst>
                  <a:ext uri="{0D108BD9-81ED-4DB2-BD59-A6C34878D82A}">
                    <a16:rowId xmlns:a16="http://schemas.microsoft.com/office/drawing/2014/main" val="3452875670"/>
                  </a:ext>
                </a:extLst>
              </a:tr>
              <a:tr h="2233322">
                <a:tc>
                  <a:txBody>
                    <a:bodyPr/>
                    <a:lstStyle/>
                    <a:p>
                      <a:pPr algn="ctr"/>
                      <a:r>
                        <a:rPr kumimoji="1" lang="en-US" altLang="ja-JP" dirty="0"/>
                        <a:t>Threat</a:t>
                      </a:r>
                      <a:r>
                        <a:rPr kumimoji="1" lang="ja-JP" altLang="en-US" dirty="0"/>
                        <a:t>　</a:t>
                      </a:r>
                      <a:r>
                        <a:rPr kumimoji="1" lang="zh-CN" altLang="en-US" dirty="0"/>
                        <a:t>威胁</a:t>
                      </a:r>
                      <a:endParaRPr kumimoji="1" lang="ja-JP" altLang="en-US" dirty="0"/>
                    </a:p>
                  </a:txBody>
                  <a:tcPr vert="eaVert" anchor="ctr">
                    <a:lnL w="12700" cap="flat" cmpd="sng" algn="ctr">
                      <a:solidFill>
                        <a:schemeClr val="accent3">
                          <a:lumMod val="40000"/>
                          <a:lumOff val="6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tc>
                  <a:txBody>
                    <a:bodyPr/>
                    <a:lstStyle/>
                    <a:p>
                      <a:pPr algn="ctr"/>
                      <a:r>
                        <a:rPr kumimoji="1" lang="zh-CN" altLang="en-US" dirty="0"/>
                        <a:t>优势</a:t>
                      </a:r>
                      <a:r>
                        <a:rPr kumimoji="1" lang="en-US" altLang="ja-JP" dirty="0"/>
                        <a:t>×</a:t>
                      </a:r>
                      <a:r>
                        <a:rPr kumimoji="1" lang="zh-CN" altLang="en-US" dirty="0"/>
                        <a:t>威胁</a:t>
                      </a:r>
                      <a:endParaRPr kumimoji="1" lang="en-US" altLang="ja-JP" dirty="0"/>
                    </a:p>
                    <a:p>
                      <a:endParaRPr kumimoji="1" lang="en-US" altLang="ja-JP" sz="1800" dirty="0"/>
                    </a:p>
                    <a:p>
                      <a:endParaRPr kumimoji="1" lang="ja-JP" altLang="en-US" dirty="0"/>
                    </a:p>
                  </a:txBody>
                  <a:tcPr>
                    <a:lnR w="12700" cap="flat" cmpd="sng" algn="ctr">
                      <a:solidFill>
                        <a:schemeClr val="accent3"/>
                      </a:solidFill>
                      <a:prstDash val="solid"/>
                      <a:round/>
                      <a:headEnd type="none" w="med" len="med"/>
                      <a:tailEnd type="none" w="med" len="med"/>
                    </a:lnR>
                  </a:tcPr>
                </a:tc>
                <a:tc>
                  <a:txBody>
                    <a:bodyPr/>
                    <a:lstStyle/>
                    <a:p>
                      <a:pPr algn="ctr"/>
                      <a:r>
                        <a:rPr kumimoji="1" lang="zh-CN" altLang="en-US" dirty="0"/>
                        <a:t>劣势</a:t>
                      </a:r>
                      <a:r>
                        <a:rPr kumimoji="1" lang="en-US" altLang="ja-JP" dirty="0"/>
                        <a:t>×</a:t>
                      </a:r>
                      <a:r>
                        <a:rPr kumimoji="1" lang="zh-CN" altLang="en-US" dirty="0"/>
                        <a:t>威胁</a:t>
                      </a:r>
                      <a:endParaRPr kumimoji="1" lang="en-US" altLang="ja-JP" dirty="0"/>
                    </a:p>
                    <a:p>
                      <a:endParaRPr kumimoji="1" lang="en-US" altLang="ja-JP" sz="1800" dirty="0"/>
                    </a:p>
                    <a:p>
                      <a:endParaRPr kumimoji="1" lang="ja-JP" altLang="en-US"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3514423377"/>
                  </a:ext>
                </a:extLst>
              </a:tr>
            </a:tbl>
          </a:graphicData>
        </a:graphic>
      </p:graphicFrame>
      <p:sp>
        <p:nvSpPr>
          <p:cNvPr id="8" name="テキスト ボックス 7">
            <a:extLst>
              <a:ext uri="{FF2B5EF4-FFF2-40B4-BE49-F238E27FC236}">
                <a16:creationId xmlns:a16="http://schemas.microsoft.com/office/drawing/2014/main" id="{CE1DDD50-0102-2242-AFF0-D269F0D5405C}"/>
              </a:ext>
            </a:extLst>
          </p:cNvPr>
          <p:cNvSpPr txBox="1"/>
          <p:nvPr/>
        </p:nvSpPr>
        <p:spPr>
          <a:xfrm>
            <a:off x="6723613" y="1101398"/>
            <a:ext cx="1211422" cy="369332"/>
          </a:xfrm>
          <a:prstGeom prst="rect">
            <a:avLst/>
          </a:prstGeom>
          <a:noFill/>
        </p:spPr>
        <p:txBody>
          <a:bodyPr wrap="none" rtlCol="0">
            <a:spAutoFit/>
          </a:bodyPr>
          <a:lstStyle/>
          <a:p>
            <a:r>
              <a:rPr kumimoji="1" lang="zh-CN" altLang="en-US" dirty="0"/>
              <a:t>综合</a:t>
            </a:r>
            <a:r>
              <a:rPr kumimoji="1" lang="en-US" altLang="ja-JP" dirty="0"/>
              <a:t>SWOT</a:t>
            </a:r>
            <a:endParaRPr kumimoji="1" lang="ja-JP" altLang="en-US" dirty="0"/>
          </a:p>
        </p:txBody>
      </p:sp>
      <p:sp>
        <p:nvSpPr>
          <p:cNvPr id="9" name="三角形 8">
            <a:extLst>
              <a:ext uri="{FF2B5EF4-FFF2-40B4-BE49-F238E27FC236}">
                <a16:creationId xmlns:a16="http://schemas.microsoft.com/office/drawing/2014/main" id="{9BC27669-52C8-F04C-B689-F3BDB59032F1}"/>
              </a:ext>
            </a:extLst>
          </p:cNvPr>
          <p:cNvSpPr/>
          <p:nvPr/>
        </p:nvSpPr>
        <p:spPr>
          <a:xfrm rot="5400000">
            <a:off x="4727356" y="4184291"/>
            <a:ext cx="403860" cy="19641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3733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41</a:t>
            </a:r>
            <a:r>
              <a:rPr lang="ja-JP" altLang="en-US" sz="2000" dirty="0">
                <a:solidFill>
                  <a:schemeClr val="bg1"/>
                </a:solidFill>
              </a:rPr>
              <a:t>　</a:t>
            </a:r>
            <a:r>
              <a:rPr lang="zh-CN" altLang="en-US" sz="2000" dirty="0">
                <a:solidFill>
                  <a:schemeClr val="bg1"/>
                </a:solidFill>
              </a:rPr>
              <a:t>价值链</a:t>
            </a:r>
            <a:r>
              <a:rPr lang="ja-JP" altLang="en-US" sz="2000" dirty="0">
                <a:solidFill>
                  <a:schemeClr val="bg1"/>
                </a:solidFill>
              </a:rPr>
              <a:t>分析</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172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填写价值链，通过</a:t>
            </a:r>
            <a:r>
              <a:rPr lang="en-US" altLang="zh-CN" sz="1138" dirty="0"/>
              <a:t>VRIO</a:t>
            </a:r>
            <a:r>
              <a:rPr lang="zh-CN" altLang="en-US" sz="1138" dirty="0"/>
              <a:t>分析</a:t>
            </a:r>
            <a:r>
              <a:rPr lang="en-US" altLang="zh-CN" sz="1138" dirty="0"/>
              <a:t>(</a:t>
            </a:r>
            <a:r>
              <a:rPr lang="zh-CN" altLang="en-US" sz="1138" dirty="0"/>
              <a:t>用〇△</a:t>
            </a:r>
            <a:r>
              <a:rPr lang="en-US" altLang="zh-CN" sz="1138" dirty="0"/>
              <a:t>×</a:t>
            </a:r>
            <a:r>
              <a:rPr lang="zh-CN" altLang="en-US" sz="1138" dirty="0"/>
              <a:t>等进行评价</a:t>
            </a:r>
            <a:r>
              <a:rPr lang="en-US" altLang="zh-CN" sz="1138" dirty="0"/>
              <a:t>)</a:t>
            </a:r>
            <a:r>
              <a:rPr lang="zh-CN" altLang="en-US" sz="1138" dirty="0"/>
              <a:t>确认优势，决定今后的方针。</a:t>
            </a:r>
            <a:endParaRPr lang="en-US" altLang="ja-JP" sz="1138" dirty="0"/>
          </a:p>
        </p:txBody>
      </p:sp>
      <p:graphicFrame>
        <p:nvGraphicFramePr>
          <p:cNvPr id="5" name="表 5">
            <a:extLst>
              <a:ext uri="{FF2B5EF4-FFF2-40B4-BE49-F238E27FC236}">
                <a16:creationId xmlns:a16="http://schemas.microsoft.com/office/drawing/2014/main" id="{50BA091F-AD40-674F-94A4-FBE296D016A9}"/>
              </a:ext>
            </a:extLst>
          </p:cNvPr>
          <p:cNvGraphicFramePr>
            <a:graphicFrameLocks noGrp="1"/>
          </p:cNvGraphicFramePr>
          <p:nvPr>
            <p:extLst>
              <p:ext uri="{D42A27DB-BD31-4B8C-83A1-F6EECF244321}">
                <p14:modId xmlns:p14="http://schemas.microsoft.com/office/powerpoint/2010/main" val="2520062122"/>
              </p:ext>
            </p:extLst>
          </p:nvPr>
        </p:nvGraphicFramePr>
        <p:xfrm>
          <a:off x="354051" y="1066800"/>
          <a:ext cx="9197897" cy="5472056"/>
        </p:xfrm>
        <a:graphic>
          <a:graphicData uri="http://schemas.openxmlformats.org/drawingml/2006/table">
            <a:tbl>
              <a:tblPr>
                <a:tableStyleId>{1FECB4D8-DB02-4DC6-A0A2-4F2EBAE1DC90}</a:tableStyleId>
              </a:tblPr>
              <a:tblGrid>
                <a:gridCol w="1666850">
                  <a:extLst>
                    <a:ext uri="{9D8B030D-6E8A-4147-A177-3AD203B41FA5}">
                      <a16:colId xmlns:a16="http://schemas.microsoft.com/office/drawing/2014/main" val="4277153175"/>
                    </a:ext>
                  </a:extLst>
                </a:gridCol>
                <a:gridCol w="1214079">
                  <a:extLst>
                    <a:ext uri="{9D8B030D-6E8A-4147-A177-3AD203B41FA5}">
                      <a16:colId xmlns:a16="http://schemas.microsoft.com/office/drawing/2014/main" val="3152784036"/>
                    </a:ext>
                  </a:extLst>
                </a:gridCol>
                <a:gridCol w="1221761">
                  <a:extLst>
                    <a:ext uri="{9D8B030D-6E8A-4147-A177-3AD203B41FA5}">
                      <a16:colId xmlns:a16="http://schemas.microsoft.com/office/drawing/2014/main" val="2081935986"/>
                    </a:ext>
                  </a:extLst>
                </a:gridCol>
                <a:gridCol w="1283234">
                  <a:extLst>
                    <a:ext uri="{9D8B030D-6E8A-4147-A177-3AD203B41FA5}">
                      <a16:colId xmlns:a16="http://schemas.microsoft.com/office/drawing/2014/main" val="3086413590"/>
                    </a:ext>
                  </a:extLst>
                </a:gridCol>
                <a:gridCol w="1298602">
                  <a:extLst>
                    <a:ext uri="{9D8B030D-6E8A-4147-A177-3AD203B41FA5}">
                      <a16:colId xmlns:a16="http://schemas.microsoft.com/office/drawing/2014/main" val="2458470516"/>
                    </a:ext>
                  </a:extLst>
                </a:gridCol>
                <a:gridCol w="2513371">
                  <a:extLst>
                    <a:ext uri="{9D8B030D-6E8A-4147-A177-3AD203B41FA5}">
                      <a16:colId xmlns:a16="http://schemas.microsoft.com/office/drawing/2014/main" val="1727575910"/>
                    </a:ext>
                  </a:extLst>
                </a:gridCol>
              </a:tblGrid>
              <a:tr h="1146202">
                <a:tc>
                  <a:txBody>
                    <a:bodyPr/>
                    <a:lstStyle/>
                    <a:p>
                      <a:pPr algn="ctr"/>
                      <a:r>
                        <a:rPr kumimoji="1" lang="zh-CN" altLang="en-US" sz="1400" dirty="0"/>
                        <a:t>价值链</a:t>
                      </a:r>
                      <a:endParaRPr kumimoji="1" lang="ja-JP" altLang="en-US" sz="140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3">
                        <a:lumMod val="60000"/>
                        <a:lumOff val="40000"/>
                      </a:schemeClr>
                    </a:solidFill>
                  </a:tcPr>
                </a:tc>
                <a:tc>
                  <a:txBody>
                    <a:bodyPr/>
                    <a:lstStyle/>
                    <a:p>
                      <a:pPr algn="ctr"/>
                      <a:r>
                        <a:rPr kumimoji="1" lang="en-US" altLang="ja-JP" sz="1400" dirty="0"/>
                        <a:t>Value</a:t>
                      </a:r>
                    </a:p>
                    <a:p>
                      <a:pPr algn="ctr"/>
                      <a:r>
                        <a:rPr kumimoji="1" lang="zh-CN" altLang="en-US" sz="1400" dirty="0"/>
                        <a:t>价值</a:t>
                      </a:r>
                      <a:endParaRPr kumimoji="1" lang="en-US" altLang="ja-JP" sz="1400" dirty="0"/>
                    </a:p>
                    <a:p>
                      <a:pPr algn="ctr"/>
                      <a:r>
                        <a:rPr kumimoji="1" lang="zh-CN" altLang="en-US" sz="1050" dirty="0"/>
                        <a:t>对顾客来说，企</a:t>
                      </a:r>
                    </a:p>
                    <a:p>
                      <a:pPr algn="ctr"/>
                      <a:r>
                        <a:rPr kumimoji="1" lang="zh-CN" altLang="en-US" sz="1050" dirty="0"/>
                        <a:t>业的产品和服务</a:t>
                      </a:r>
                    </a:p>
                    <a:p>
                      <a:pPr algn="ctr"/>
                      <a:r>
                        <a:rPr kumimoji="1" lang="zh-CN" altLang="en-US" sz="1050" dirty="0"/>
                        <a:t>有没有价值？</a:t>
                      </a:r>
                      <a:endParaRPr kumimoji="1" lang="ja-JP" altLang="en-US" sz="14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3">
                        <a:lumMod val="60000"/>
                        <a:lumOff val="40000"/>
                      </a:schemeClr>
                    </a:solidFill>
                  </a:tcPr>
                </a:tc>
                <a:tc>
                  <a:txBody>
                    <a:bodyPr/>
                    <a:lstStyle/>
                    <a:p>
                      <a:pPr algn="ctr"/>
                      <a:r>
                        <a:rPr kumimoji="1" lang="en-US" altLang="ja-JP" sz="1400" dirty="0"/>
                        <a:t>Rarity</a:t>
                      </a:r>
                    </a:p>
                    <a:p>
                      <a:pPr algn="ctr"/>
                      <a:r>
                        <a:rPr kumimoji="1" lang="zh-CN" altLang="en-US" sz="1400" dirty="0"/>
                        <a:t>稀缺</a:t>
                      </a:r>
                      <a:r>
                        <a:rPr kumimoji="1" lang="ja-JP" altLang="en-US" sz="1400" dirty="0"/>
                        <a:t>性</a:t>
                      </a:r>
                      <a:endParaRPr kumimoji="1" lang="en-US" altLang="ja-JP" sz="1400" dirty="0"/>
                    </a:p>
                    <a:p>
                      <a:pPr algn="ctr"/>
                      <a:r>
                        <a:rPr kumimoji="1" lang="zh-CN" altLang="en-US" sz="1050" dirty="0"/>
                        <a:t>对于竞争对手来</a:t>
                      </a:r>
                    </a:p>
                    <a:p>
                      <a:pPr algn="ctr"/>
                      <a:r>
                        <a:rPr kumimoji="1" lang="zh-CN" altLang="en-US" sz="1050" dirty="0"/>
                        <a:t>说，企业的资源</a:t>
                      </a:r>
                    </a:p>
                    <a:p>
                      <a:pPr algn="ctr"/>
                      <a:r>
                        <a:rPr kumimoji="1" lang="zh-CN" altLang="en-US" sz="1050" dirty="0"/>
                        <a:t>是否稀缺？</a:t>
                      </a:r>
                      <a:endParaRPr kumimoji="1" lang="ja-JP" altLang="en-US" sz="105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3">
                        <a:lumMod val="60000"/>
                        <a:lumOff val="40000"/>
                      </a:schemeClr>
                    </a:solidFill>
                  </a:tcPr>
                </a:tc>
                <a:tc>
                  <a:txBody>
                    <a:bodyPr/>
                    <a:lstStyle/>
                    <a:p>
                      <a:pPr algn="ctr"/>
                      <a:r>
                        <a:rPr kumimoji="1" lang="en-US" altLang="ja-JP" sz="1400" dirty="0"/>
                        <a:t>Inimitability</a:t>
                      </a:r>
                    </a:p>
                    <a:p>
                      <a:pPr algn="ctr"/>
                      <a:r>
                        <a:rPr kumimoji="1" lang="zh-CN" altLang="en-US" sz="1400" dirty="0"/>
                        <a:t>不可模仿性</a:t>
                      </a:r>
                      <a:endParaRPr kumimoji="1" lang="en-US" altLang="ja-JP" sz="1400" dirty="0"/>
                    </a:p>
                    <a:p>
                      <a:pPr algn="ctr"/>
                      <a:r>
                        <a:rPr kumimoji="1" lang="zh-CN" altLang="en-US" sz="1050" dirty="0"/>
                        <a:t>对于竞争对手来</a:t>
                      </a:r>
                    </a:p>
                    <a:p>
                      <a:pPr algn="ctr"/>
                      <a:r>
                        <a:rPr kumimoji="1" lang="zh-CN" altLang="en-US" sz="1050" dirty="0"/>
                        <a:t>说，企业的产品</a:t>
                      </a:r>
                    </a:p>
                    <a:p>
                      <a:pPr algn="ctr"/>
                      <a:r>
                        <a:rPr kumimoji="1" lang="zh-CN" altLang="en-US" sz="1050" dirty="0"/>
                        <a:t>是否易于模仿？</a:t>
                      </a:r>
                      <a:endParaRPr kumimoji="1" lang="ja-JP" altLang="en-US" sz="105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3">
                        <a:lumMod val="60000"/>
                        <a:lumOff val="40000"/>
                      </a:schemeClr>
                    </a:solidFill>
                  </a:tcPr>
                </a:tc>
                <a:tc>
                  <a:txBody>
                    <a:bodyPr/>
                    <a:lstStyle/>
                    <a:p>
                      <a:pPr algn="ctr"/>
                      <a:r>
                        <a:rPr kumimoji="1" lang="en-US" altLang="ja-JP" sz="1400" dirty="0"/>
                        <a:t>Organization</a:t>
                      </a:r>
                    </a:p>
                    <a:p>
                      <a:pPr algn="ctr"/>
                      <a:r>
                        <a:rPr kumimoji="1" lang="zh-CN" altLang="en-US" sz="1400" dirty="0"/>
                        <a:t>组织</a:t>
                      </a:r>
                      <a:endParaRPr kumimoji="1" lang="en-US" altLang="zh-CN" sz="1400" dirty="0"/>
                    </a:p>
                    <a:p>
                      <a:pPr algn="ctr"/>
                      <a:r>
                        <a:rPr kumimoji="1" lang="zh-CN" altLang="en-US" sz="1050" dirty="0"/>
                        <a:t>企业是否建立了</a:t>
                      </a:r>
                    </a:p>
                    <a:p>
                      <a:pPr algn="ctr"/>
                      <a:r>
                        <a:rPr kumimoji="1" lang="zh-CN" altLang="en-US" sz="1050" dirty="0"/>
                        <a:t>能够有效利用资</a:t>
                      </a:r>
                    </a:p>
                    <a:p>
                      <a:pPr algn="ctr"/>
                      <a:r>
                        <a:rPr kumimoji="1" lang="zh-CN" altLang="en-US" sz="1050" dirty="0"/>
                        <a:t>源的组织架构？</a:t>
                      </a:r>
                      <a:endParaRPr kumimoji="1" lang="ja-JP" altLang="en-US" sz="105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3">
                        <a:lumMod val="60000"/>
                        <a:lumOff val="40000"/>
                      </a:schemeClr>
                    </a:solidFill>
                  </a:tcPr>
                </a:tc>
                <a:tc>
                  <a:txBody>
                    <a:bodyPr/>
                    <a:lstStyle/>
                    <a:p>
                      <a:pPr algn="ctr"/>
                      <a:r>
                        <a:rPr kumimoji="1" lang="zh-CN" altLang="en-US" sz="1400" dirty="0"/>
                        <a:t>方针</a:t>
                      </a:r>
                      <a:endParaRPr kumimoji="1" lang="ja-JP" altLang="en-US" sz="1400"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3">
                        <a:lumMod val="60000"/>
                        <a:lumOff val="40000"/>
                      </a:schemeClr>
                    </a:solidFill>
                  </a:tcPr>
                </a:tc>
                <a:extLst>
                  <a:ext uri="{0D108BD9-81ED-4DB2-BD59-A6C34878D82A}">
                    <a16:rowId xmlns:a16="http://schemas.microsoft.com/office/drawing/2014/main" val="765891541"/>
                  </a:ext>
                </a:extLst>
              </a:tr>
              <a:tr h="899032">
                <a:tc>
                  <a:txBody>
                    <a:bodyPr/>
                    <a:lstStyle/>
                    <a:p>
                      <a:r>
                        <a:rPr kumimoji="1" lang="ja-JP" altLang="en-US" sz="1400" dirty="0"/>
                        <a:t>［例］</a:t>
                      </a:r>
                      <a:r>
                        <a:rPr kumimoji="1" lang="zh-CN" altLang="en-US" sz="1400" dirty="0"/>
                        <a:t>开发</a:t>
                      </a:r>
                      <a:endParaRPr kumimoji="1" lang="ja-JP" altLang="en-US" sz="1400" dirty="0"/>
                    </a:p>
                  </a:txBody>
                  <a:tcPr anchor="ctr">
                    <a:lnR w="12700" cap="flat" cmpd="sng" algn="ctr">
                      <a:solidFill>
                        <a:schemeClr val="accent3"/>
                      </a:solidFill>
                      <a:prstDash val="solid"/>
                      <a:round/>
                      <a:headEnd type="none" w="med" len="med"/>
                      <a:tailEnd type="none" w="med" len="med"/>
                    </a:lnR>
                  </a:tcPr>
                </a:tc>
                <a:tc>
                  <a:txBody>
                    <a:bodyPr/>
                    <a:lstStyle/>
                    <a:p>
                      <a:pPr algn="ctr"/>
                      <a:r>
                        <a:rPr kumimoji="1" lang="ja-JP" altLang="en-US" sz="1800"/>
                        <a:t>○</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r>
                        <a:rPr kumimoji="1" lang="ja-JP" altLang="en-US" sz="1800"/>
                        <a:t>△</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r>
                        <a:rPr kumimoji="1" lang="en-US" altLang="ja-JP" sz="1800" dirty="0"/>
                        <a:t>×</a:t>
                      </a: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r>
                        <a:rPr kumimoji="1" lang="ja-JP" altLang="en-US" sz="1800"/>
                        <a:t>○</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r>
                        <a:rPr kumimoji="1" lang="zh-CN" altLang="en-US" sz="1400" dirty="0"/>
                        <a:t>这是企业竞争力的源泉，应该继续加大</a:t>
                      </a:r>
                    </a:p>
                    <a:p>
                      <a:r>
                        <a:rPr kumimoji="1" lang="zh-CN" altLang="en-US" sz="1400" dirty="0"/>
                        <a:t>研究开发力度，与竞争对手拉开差距</a:t>
                      </a:r>
                      <a:endParaRPr kumimoji="1" lang="ja-JP" altLang="en-US" sz="1400" dirty="0"/>
                    </a:p>
                  </a:txBody>
                  <a:tcPr anchor="ct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421830831"/>
                  </a:ext>
                </a:extLst>
              </a:tr>
              <a:tr h="883664">
                <a:tc>
                  <a:txBody>
                    <a:bodyPr/>
                    <a:lstStyle/>
                    <a:p>
                      <a:endParaRPr kumimoji="1" lang="ja-JP" altLang="en-US" sz="1400"/>
                    </a:p>
                  </a:txBody>
                  <a:tcPr anchor="ctr">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sz="1400"/>
                    </a:p>
                  </a:txBody>
                  <a:tcPr anchor="ct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2805546188"/>
                  </a:ext>
                </a:extLst>
              </a:tr>
              <a:tr h="806824">
                <a:tc>
                  <a:txBody>
                    <a:bodyPr/>
                    <a:lstStyle/>
                    <a:p>
                      <a:endParaRPr kumimoji="1" lang="ja-JP" altLang="en-US" sz="1400"/>
                    </a:p>
                  </a:txBody>
                  <a:tcPr anchor="ctr">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sz="1400"/>
                    </a:p>
                  </a:txBody>
                  <a:tcPr anchor="ctr">
                    <a:lnL w="12700" cap="flat" cmpd="sng" algn="ctr">
                      <a:solidFill>
                        <a:schemeClr val="accent3"/>
                      </a:solidFill>
                      <a:prstDash val="solid"/>
                      <a:round/>
                      <a:headEnd type="none" w="med" len="med"/>
                      <a:tailEnd type="none" w="med" len="med"/>
                    </a:lnL>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654373521"/>
                  </a:ext>
                </a:extLst>
              </a:tr>
              <a:tr h="852928">
                <a:tc>
                  <a:txBody>
                    <a:bodyPr/>
                    <a:lstStyle/>
                    <a:p>
                      <a:endParaRPr kumimoji="1" lang="ja-JP" altLang="en-US" sz="1400"/>
                    </a:p>
                  </a:txBody>
                  <a:tcPr anchor="ctr">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sz="1400"/>
                    </a:p>
                  </a:txBody>
                  <a:tcPr anchor="ctr">
                    <a:lnL w="12700" cap="flat" cmpd="sng" algn="ctr">
                      <a:solidFill>
                        <a:schemeClr val="accent3"/>
                      </a:solidFill>
                      <a:prstDash val="solid"/>
                      <a:round/>
                      <a:headEnd type="none" w="med" len="med"/>
                      <a:tailEnd type="none" w="med" len="med"/>
                    </a:lnL>
                    <a:lnT w="12700" cap="flat" cmpd="sng" algn="ctr">
                      <a:solidFill>
                        <a:schemeClr val="accent3"/>
                      </a:solidFill>
                      <a:prstDash val="solid"/>
                      <a:round/>
                      <a:headEnd type="none" w="med" len="med"/>
                      <a:tailEnd type="none" w="med" len="med"/>
                    </a:lnT>
                  </a:tcPr>
                </a:tc>
                <a:extLst>
                  <a:ext uri="{0D108BD9-81ED-4DB2-BD59-A6C34878D82A}">
                    <a16:rowId xmlns:a16="http://schemas.microsoft.com/office/drawing/2014/main" val="3631651831"/>
                  </a:ext>
                </a:extLst>
              </a:tr>
              <a:tr h="837558">
                <a:tc>
                  <a:txBody>
                    <a:bodyPr/>
                    <a:lstStyle/>
                    <a:p>
                      <a:endParaRPr kumimoji="1" lang="ja-JP" altLang="en-US" sz="1400"/>
                    </a:p>
                  </a:txBody>
                  <a:tcPr anchor="ctr">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B w="12700" cap="flat" cmpd="sng" algn="ctr">
                      <a:solidFill>
                        <a:schemeClr val="accent3"/>
                      </a:solidFill>
                      <a:prstDash val="solid"/>
                      <a:round/>
                      <a:headEnd type="none" w="med" len="med"/>
                      <a:tailEnd type="none" w="med" len="med"/>
                    </a:lnB>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pPr algn="ctr"/>
                      <a:endParaRPr kumimoji="1" lang="ja-JP" altLang="en-US" sz="1800"/>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tcPr>
                </a:tc>
                <a:tc>
                  <a:txBody>
                    <a:bodyPr/>
                    <a:lstStyle/>
                    <a:p>
                      <a:endParaRPr kumimoji="1" lang="ja-JP" altLang="en-US" sz="1400" dirty="0"/>
                    </a:p>
                  </a:txBody>
                  <a:tcPr anchor="ct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927437371"/>
                  </a:ext>
                </a:extLst>
              </a:tr>
            </a:tbl>
          </a:graphicData>
        </a:graphic>
      </p:graphicFrame>
    </p:spTree>
    <p:extLst>
      <p:ext uri="{BB962C8B-B14F-4D97-AF65-F5344CB8AC3E}">
        <p14:creationId xmlns:p14="http://schemas.microsoft.com/office/powerpoint/2010/main" val="41726638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1800" dirty="0">
                <a:solidFill>
                  <a:schemeClr val="bg1"/>
                </a:solidFill>
              </a:rPr>
              <a:t>42</a:t>
            </a:r>
            <a:r>
              <a:rPr lang="ja-JP" altLang="en-US" sz="1800" dirty="0">
                <a:solidFill>
                  <a:schemeClr val="bg1"/>
                </a:solidFill>
              </a:rPr>
              <a:t>　</a:t>
            </a:r>
            <a:r>
              <a:rPr lang="zh-CN" altLang="en-US" sz="1800" dirty="0">
                <a:solidFill>
                  <a:schemeClr val="bg1"/>
                </a:solidFill>
              </a:rPr>
              <a:t>安索夫矩阵</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176</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分别探讨市场渗透、新产品开发、新市场开拓、多元化等四个方面的战略。</a:t>
            </a:r>
            <a:endParaRPr lang="en-US" altLang="ja-JP" sz="1138" dirty="0"/>
          </a:p>
        </p:txBody>
      </p:sp>
      <p:graphicFrame>
        <p:nvGraphicFramePr>
          <p:cNvPr id="5" name="表 5">
            <a:extLst>
              <a:ext uri="{FF2B5EF4-FFF2-40B4-BE49-F238E27FC236}">
                <a16:creationId xmlns:a16="http://schemas.microsoft.com/office/drawing/2014/main" id="{2A032946-53C7-1742-AFE1-520A5F6145BF}"/>
              </a:ext>
            </a:extLst>
          </p:cNvPr>
          <p:cNvGraphicFramePr>
            <a:graphicFrameLocks noGrp="1"/>
          </p:cNvGraphicFramePr>
          <p:nvPr>
            <p:extLst>
              <p:ext uri="{D42A27DB-BD31-4B8C-83A1-F6EECF244321}">
                <p14:modId xmlns:p14="http://schemas.microsoft.com/office/powerpoint/2010/main" val="3074459170"/>
              </p:ext>
            </p:extLst>
          </p:nvPr>
        </p:nvGraphicFramePr>
        <p:xfrm>
          <a:off x="354051" y="1066800"/>
          <a:ext cx="9197896" cy="5433060"/>
        </p:xfrm>
        <a:graphic>
          <a:graphicData uri="http://schemas.openxmlformats.org/drawingml/2006/table">
            <a:tbl>
              <a:tblPr>
                <a:tableStyleId>{1FECB4D8-DB02-4DC6-A0A2-4F2EBAE1DC90}</a:tableStyleId>
              </a:tblPr>
              <a:tblGrid>
                <a:gridCol w="476529">
                  <a:extLst>
                    <a:ext uri="{9D8B030D-6E8A-4147-A177-3AD203B41FA5}">
                      <a16:colId xmlns:a16="http://schemas.microsoft.com/office/drawing/2014/main" val="421243487"/>
                    </a:ext>
                  </a:extLst>
                </a:gridCol>
                <a:gridCol w="487680">
                  <a:extLst>
                    <a:ext uri="{9D8B030D-6E8A-4147-A177-3AD203B41FA5}">
                      <a16:colId xmlns:a16="http://schemas.microsoft.com/office/drawing/2014/main" val="2535024792"/>
                    </a:ext>
                  </a:extLst>
                </a:gridCol>
                <a:gridCol w="4099560">
                  <a:extLst>
                    <a:ext uri="{9D8B030D-6E8A-4147-A177-3AD203B41FA5}">
                      <a16:colId xmlns:a16="http://schemas.microsoft.com/office/drawing/2014/main" val="1737064510"/>
                    </a:ext>
                  </a:extLst>
                </a:gridCol>
                <a:gridCol w="4134127">
                  <a:extLst>
                    <a:ext uri="{9D8B030D-6E8A-4147-A177-3AD203B41FA5}">
                      <a16:colId xmlns:a16="http://schemas.microsoft.com/office/drawing/2014/main" val="2134069947"/>
                    </a:ext>
                  </a:extLst>
                </a:gridCol>
              </a:tblGrid>
              <a:tr h="396240">
                <a:tc>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kumimoji="1" lang="ja-JP" altLang="en-US"/>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a:r>
                        <a:rPr kumimoji="1" lang="zh-CN" altLang="en-US" dirty="0"/>
                        <a:t>产品（事业、技术、服务）</a:t>
                      </a:r>
                      <a:endParaRPr kumimoji="1" lang="ja-JP" altLang="en-US" dirty="0"/>
                    </a:p>
                  </a:txBody>
                  <a:tcPr anchor="ctr">
                    <a:lnR w="12700" cap="flat" cmpd="sng" algn="ctr">
                      <a:solidFill>
                        <a:schemeClr val="accent3">
                          <a:lumMod val="40000"/>
                          <a:lumOff val="60000"/>
                        </a:schemeClr>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lnL w="12700" cap="flat" cmpd="sng" algn="ctr">
                      <a:solidFill>
                        <a:schemeClr val="bg1"/>
                      </a:solidFill>
                      <a:prstDash val="solid"/>
                      <a:round/>
                      <a:headEnd type="none" w="med" len="med"/>
                      <a:tailEnd type="none" w="med" len="med"/>
                    </a:lnL>
                    <a:lnR w="12700" cap="flat" cmpd="sng" algn="ctr">
                      <a:solidFill>
                        <a:schemeClr val="accent3">
                          <a:lumMod val="40000"/>
                          <a:lumOff val="60000"/>
                        </a:schemeClr>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97079734"/>
                  </a:ext>
                </a:extLst>
              </a:tr>
              <a:tr h="434340">
                <a:tc>
                  <a:txBody>
                    <a:bodyPr/>
                    <a:lstStyle/>
                    <a:p>
                      <a:endParaRPr kumimoji="1" lang="ja-JP" altLang="en-US"/>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tcPr>
                </a:tc>
                <a:tc>
                  <a:txBody>
                    <a:bodyPr/>
                    <a:lstStyle/>
                    <a:p>
                      <a:endParaRPr kumimoji="1" lang="ja-JP" altLang="en-US"/>
                    </a:p>
                  </a:txBody>
                  <a:tcPr>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tcPr>
                </a:tc>
                <a:tc>
                  <a:txBody>
                    <a:bodyPr/>
                    <a:lstStyle/>
                    <a:p>
                      <a:pPr algn="ctr"/>
                      <a:r>
                        <a:rPr kumimoji="1" lang="zh-CN" altLang="en-US" dirty="0"/>
                        <a:t>现有</a:t>
                      </a:r>
                      <a:endParaRPr kumimoji="1" lang="ja-JP" altLang="en-US"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tc>
                  <a:txBody>
                    <a:bodyPr/>
                    <a:lstStyle/>
                    <a:p>
                      <a:pPr algn="ctr"/>
                      <a:r>
                        <a:rPr kumimoji="1" lang="zh-CN" altLang="en-US" dirty="0"/>
                        <a:t>新增</a:t>
                      </a:r>
                      <a:endParaRPr kumimoji="1" lang="ja-JP" altLang="en-US" dirty="0"/>
                    </a:p>
                  </a:txBody>
                  <a:tcPr anchor="ctr">
                    <a:lnL w="12700" cap="flat" cmpd="sng" algn="ctr">
                      <a:solidFill>
                        <a:schemeClr val="bg1"/>
                      </a:solidFill>
                      <a:prstDash val="solid"/>
                      <a:round/>
                      <a:headEnd type="none" w="med" len="med"/>
                      <a:tailEnd type="none" w="med" len="med"/>
                    </a:lnL>
                    <a:lnR w="12700" cap="flat" cmpd="sng" algn="ctr">
                      <a:solidFill>
                        <a:schemeClr val="accent3">
                          <a:lumMod val="40000"/>
                          <a:lumOff val="6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500147526"/>
                  </a:ext>
                </a:extLst>
              </a:tr>
              <a:tr h="2461260">
                <a:tc rowSpan="2">
                  <a:txBody>
                    <a:bodyPr/>
                    <a:lstStyle/>
                    <a:p>
                      <a:pPr algn="ctr"/>
                      <a:r>
                        <a:rPr kumimoji="1" lang="zh-CN" altLang="en-US" dirty="0"/>
                        <a:t>市场（顾客）</a:t>
                      </a:r>
                      <a:endParaRPr kumimoji="1" lang="ja-JP" altLang="en-US" dirty="0"/>
                    </a:p>
                  </a:txBody>
                  <a:tcPr vert="eaVert" anchor="ctr">
                    <a:lnL w="12700" cap="flat" cmpd="sng" algn="ctr">
                      <a:solidFill>
                        <a:schemeClr val="accent3">
                          <a:lumMod val="40000"/>
                          <a:lumOff val="6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tc>
                  <a:txBody>
                    <a:bodyPr/>
                    <a:lstStyle/>
                    <a:p>
                      <a:pPr algn="ctr"/>
                      <a:r>
                        <a:rPr kumimoji="1" lang="zh-CN" altLang="en-US" dirty="0"/>
                        <a:t>新增</a:t>
                      </a:r>
                      <a:endParaRPr kumimoji="1" lang="ja-JP" altLang="en-US" dirty="0"/>
                    </a:p>
                  </a:txBody>
                  <a:tcPr vert="eaVert" anchor="ctr">
                    <a:lnL w="12700" cap="flat" cmpd="sng" algn="ctr">
                      <a:solidFill>
                        <a:schemeClr val="bg1"/>
                      </a:solidFill>
                      <a:prstDash val="solid"/>
                      <a:round/>
                      <a:headEnd type="none" w="med" len="med"/>
                      <a:tailEnd type="none" w="med" len="med"/>
                    </a:lnL>
                    <a:lnT w="12700" cap="flat" cmpd="sng" algn="ctr">
                      <a:solidFill>
                        <a:schemeClr val="accent3">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kumimoji="1" lang="zh-CN" altLang="en-US" dirty="0"/>
                        <a:t>新市场开发战略</a:t>
                      </a:r>
                      <a:endParaRPr kumimoji="1" lang="ja-JP" altLang="en-US" dirty="0"/>
                    </a:p>
                  </a:txBody>
                  <a:tcPr>
                    <a:lnR w="12700" cap="flat" cmpd="sng" algn="ctr">
                      <a:solidFill>
                        <a:schemeClr val="accent3"/>
                      </a:solidFill>
                      <a:prstDash val="solid"/>
                      <a:round/>
                      <a:headEnd type="none" w="med" len="med"/>
                      <a:tailEnd type="none" w="med" len="med"/>
                    </a:lnR>
                    <a:lnT w="12700" cap="flat" cmpd="sng" algn="ctr">
                      <a:solidFill>
                        <a:schemeClr val="accent3">
                          <a:lumMod val="40000"/>
                          <a:lumOff val="60000"/>
                        </a:schemeClr>
                      </a:solidFill>
                      <a:prstDash val="solid"/>
                      <a:round/>
                      <a:headEnd type="none" w="med" len="med"/>
                      <a:tailEnd type="none" w="med" len="med"/>
                    </a:lnT>
                  </a:tcPr>
                </a:tc>
                <a:tc>
                  <a:txBody>
                    <a:bodyPr/>
                    <a:lstStyle/>
                    <a:p>
                      <a:pPr algn="ctr"/>
                      <a:r>
                        <a:rPr kumimoji="1" lang="zh-CN" altLang="en-US" dirty="0"/>
                        <a:t>多元化战略</a:t>
                      </a:r>
                      <a:endParaRPr kumimoji="1" lang="ja-JP" altLang="en-US" dirty="0"/>
                    </a:p>
                  </a:txBody>
                  <a:tcPr>
                    <a:lnL w="12700" cap="flat" cmpd="sng" algn="ctr">
                      <a:solidFill>
                        <a:schemeClr val="accent3"/>
                      </a:solidFill>
                      <a:prstDash val="solid"/>
                      <a:round/>
                      <a:headEnd type="none" w="med" len="med"/>
                      <a:tailEnd type="none" w="med" len="med"/>
                    </a:lnL>
                    <a:lnT w="12700" cap="flat" cmpd="sng" algn="ctr">
                      <a:solidFill>
                        <a:schemeClr val="accent3">
                          <a:lumMod val="40000"/>
                          <a:lumOff val="60000"/>
                        </a:schemeClr>
                      </a:solidFill>
                      <a:prstDash val="solid"/>
                      <a:round/>
                      <a:headEnd type="none" w="med" len="med"/>
                      <a:tailEnd type="none" w="med" len="med"/>
                    </a:lnT>
                  </a:tcPr>
                </a:tc>
                <a:extLst>
                  <a:ext uri="{0D108BD9-81ED-4DB2-BD59-A6C34878D82A}">
                    <a16:rowId xmlns:a16="http://schemas.microsoft.com/office/drawing/2014/main" val="1035412671"/>
                  </a:ext>
                </a:extLst>
              </a:tr>
              <a:tr h="2141220">
                <a:tc vMerge="1">
                  <a:txBody>
                    <a:bodyPr/>
                    <a:lstStyle/>
                    <a:p>
                      <a:endParaRPr kumimoji="1" lang="ja-JP" altLang="en-US"/>
                    </a:p>
                  </a:txBody>
                  <a:tcPr>
                    <a:lnL w="12700" cap="flat" cmpd="sng" algn="ctr">
                      <a:solidFill>
                        <a:schemeClr val="accent3">
                          <a:lumMod val="40000"/>
                          <a:lumOff val="6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tc>
                  <a:txBody>
                    <a:bodyPr/>
                    <a:lstStyle/>
                    <a:p>
                      <a:pPr algn="ctr"/>
                      <a:r>
                        <a:rPr kumimoji="1" lang="zh-CN" altLang="en-US" dirty="0"/>
                        <a:t>现有</a:t>
                      </a:r>
                      <a:endParaRPr kumimoji="1" lang="ja-JP" altLang="en-US" dirty="0"/>
                    </a:p>
                  </a:txBody>
                  <a:tcPr vert="eaVert"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3">
                          <a:lumMod val="40000"/>
                          <a:lumOff val="60000"/>
                        </a:schemeClr>
                      </a:solidFill>
                      <a:prstDash val="solid"/>
                      <a:round/>
                      <a:headEnd type="none" w="med" len="med"/>
                      <a:tailEnd type="none" w="med" len="med"/>
                    </a:lnB>
                    <a:solidFill>
                      <a:schemeClr val="accent3">
                        <a:lumMod val="40000"/>
                        <a:lumOff val="60000"/>
                      </a:schemeClr>
                    </a:solidFill>
                  </a:tcPr>
                </a:tc>
                <a:tc>
                  <a:txBody>
                    <a:bodyPr/>
                    <a:lstStyle/>
                    <a:p>
                      <a:pPr algn="ctr"/>
                      <a:r>
                        <a:rPr kumimoji="1" lang="zh-CN" altLang="en-US" dirty="0"/>
                        <a:t>市场渗透战略</a:t>
                      </a:r>
                      <a:endParaRPr kumimoji="1" lang="ja-JP" altLang="en-US" dirty="0"/>
                    </a:p>
                  </a:txBody>
                  <a:tcPr>
                    <a:lnR w="12700" cap="flat" cmpd="sng" algn="ctr">
                      <a:solidFill>
                        <a:schemeClr val="accent3"/>
                      </a:solidFill>
                      <a:prstDash val="solid"/>
                      <a:round/>
                      <a:headEnd type="none" w="med" len="med"/>
                      <a:tailEnd type="none" w="med" len="med"/>
                    </a:lnR>
                  </a:tcPr>
                </a:tc>
                <a:tc>
                  <a:txBody>
                    <a:bodyPr/>
                    <a:lstStyle/>
                    <a:p>
                      <a:pPr algn="ctr"/>
                      <a:r>
                        <a:rPr kumimoji="1" lang="zh-CN" altLang="en-US" dirty="0"/>
                        <a:t>新产品开发战略</a:t>
                      </a:r>
                      <a:endParaRPr kumimoji="1" lang="ja-JP" altLang="en-US" dirty="0"/>
                    </a:p>
                  </a:txBody>
                  <a:tcPr>
                    <a:lnL w="12700" cap="flat" cmpd="sng" algn="ctr">
                      <a:solidFill>
                        <a:schemeClr val="accent3"/>
                      </a:solidFill>
                      <a:prstDash val="solid"/>
                      <a:round/>
                      <a:headEnd type="none" w="med" len="med"/>
                      <a:tailEnd type="none" w="med" len="med"/>
                    </a:lnL>
                  </a:tcPr>
                </a:tc>
                <a:extLst>
                  <a:ext uri="{0D108BD9-81ED-4DB2-BD59-A6C34878D82A}">
                    <a16:rowId xmlns:a16="http://schemas.microsoft.com/office/drawing/2014/main" val="1476143510"/>
                  </a:ext>
                </a:extLst>
              </a:tr>
            </a:tbl>
          </a:graphicData>
        </a:graphic>
      </p:graphicFrame>
    </p:spTree>
    <p:extLst>
      <p:ext uri="{BB962C8B-B14F-4D97-AF65-F5344CB8AC3E}">
        <p14:creationId xmlns:p14="http://schemas.microsoft.com/office/powerpoint/2010/main" val="11190042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2000" dirty="0">
                <a:solidFill>
                  <a:schemeClr val="bg1"/>
                </a:solidFill>
              </a:rPr>
              <a:t>43</a:t>
            </a:r>
            <a:r>
              <a:rPr lang="ja-JP" altLang="en-US" sz="2000" dirty="0">
                <a:solidFill>
                  <a:schemeClr val="bg1"/>
                </a:solidFill>
              </a:rPr>
              <a:t>　</a:t>
            </a:r>
            <a:r>
              <a:rPr lang="zh-CN" altLang="en-US" sz="2000" dirty="0">
                <a:solidFill>
                  <a:schemeClr val="bg1"/>
                </a:solidFill>
              </a:rPr>
              <a:t>帕累托法则</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180</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寻找能创造</a:t>
            </a:r>
            <a:r>
              <a:rPr lang="en-US" altLang="zh-CN" sz="1138" dirty="0"/>
              <a:t>80%</a:t>
            </a:r>
            <a:r>
              <a:rPr lang="zh-CN" altLang="en-US" sz="1138" dirty="0"/>
              <a:t>销售额的顾客、商品或服务。使用表格计算软件帕累托图会更容易理解。</a:t>
            </a:r>
            <a:endParaRPr lang="en-US" altLang="ja-JP" sz="1138" dirty="0"/>
          </a:p>
        </p:txBody>
      </p:sp>
      <p:graphicFrame>
        <p:nvGraphicFramePr>
          <p:cNvPr id="6" name="表 6">
            <a:extLst>
              <a:ext uri="{FF2B5EF4-FFF2-40B4-BE49-F238E27FC236}">
                <a16:creationId xmlns:a16="http://schemas.microsoft.com/office/drawing/2014/main" id="{3BB9F4EE-42A2-7349-BACA-672E4C4EB6F0}"/>
              </a:ext>
            </a:extLst>
          </p:cNvPr>
          <p:cNvGraphicFramePr>
            <a:graphicFrameLocks noGrp="1"/>
          </p:cNvGraphicFramePr>
          <p:nvPr>
            <p:extLst>
              <p:ext uri="{D42A27DB-BD31-4B8C-83A1-F6EECF244321}">
                <p14:modId xmlns:p14="http://schemas.microsoft.com/office/powerpoint/2010/main" val="1403594360"/>
              </p:ext>
            </p:extLst>
          </p:nvPr>
        </p:nvGraphicFramePr>
        <p:xfrm>
          <a:off x="354052" y="1066800"/>
          <a:ext cx="9197894" cy="5433062"/>
        </p:xfrm>
        <a:graphic>
          <a:graphicData uri="http://schemas.openxmlformats.org/drawingml/2006/table">
            <a:tbl>
              <a:tblPr>
                <a:tableStyleId>{5C22544A-7EE6-4342-B048-85BDC9FD1C3A}</a:tableStyleId>
              </a:tblPr>
              <a:tblGrid>
                <a:gridCol w="1682217">
                  <a:extLst>
                    <a:ext uri="{9D8B030D-6E8A-4147-A177-3AD203B41FA5}">
                      <a16:colId xmlns:a16="http://schemas.microsoft.com/office/drawing/2014/main" val="684299439"/>
                    </a:ext>
                  </a:extLst>
                </a:gridCol>
                <a:gridCol w="1383127">
                  <a:extLst>
                    <a:ext uri="{9D8B030D-6E8A-4147-A177-3AD203B41FA5}">
                      <a16:colId xmlns:a16="http://schemas.microsoft.com/office/drawing/2014/main" val="4184449779"/>
                    </a:ext>
                  </a:extLst>
                </a:gridCol>
                <a:gridCol w="1037344">
                  <a:extLst>
                    <a:ext uri="{9D8B030D-6E8A-4147-A177-3AD203B41FA5}">
                      <a16:colId xmlns:a16="http://schemas.microsoft.com/office/drawing/2014/main" val="2900228323"/>
                    </a:ext>
                  </a:extLst>
                </a:gridCol>
                <a:gridCol w="1114185">
                  <a:extLst>
                    <a:ext uri="{9D8B030D-6E8A-4147-A177-3AD203B41FA5}">
                      <a16:colId xmlns:a16="http://schemas.microsoft.com/office/drawing/2014/main" val="2603565047"/>
                    </a:ext>
                  </a:extLst>
                </a:gridCol>
                <a:gridCol w="914400">
                  <a:extLst>
                    <a:ext uri="{9D8B030D-6E8A-4147-A177-3AD203B41FA5}">
                      <a16:colId xmlns:a16="http://schemas.microsoft.com/office/drawing/2014/main" val="3588283942"/>
                    </a:ext>
                  </a:extLst>
                </a:gridCol>
                <a:gridCol w="3066621">
                  <a:extLst>
                    <a:ext uri="{9D8B030D-6E8A-4147-A177-3AD203B41FA5}">
                      <a16:colId xmlns:a16="http://schemas.microsoft.com/office/drawing/2014/main" val="3572745208"/>
                    </a:ext>
                  </a:extLst>
                </a:gridCol>
              </a:tblGrid>
              <a:tr h="675430">
                <a:tc>
                  <a:txBody>
                    <a:bodyPr/>
                    <a:lstStyle/>
                    <a:p>
                      <a:pPr algn="ctr"/>
                      <a:r>
                        <a:rPr kumimoji="1" lang="zh-CN" altLang="en-US" dirty="0"/>
                        <a:t>客户</a:t>
                      </a:r>
                      <a:endParaRPr kumimoji="1" lang="ja-JP" altLang="en-US" dirty="0"/>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solidFill>
                      <a:schemeClr val="accent3">
                        <a:lumMod val="60000"/>
                        <a:lumOff val="40000"/>
                      </a:schemeClr>
                    </a:solidFill>
                  </a:tcPr>
                </a:tc>
                <a:tc>
                  <a:txBody>
                    <a:bodyPr/>
                    <a:lstStyle/>
                    <a:p>
                      <a:pPr algn="ctr"/>
                      <a:r>
                        <a:rPr kumimoji="1" lang="zh-CN" altLang="en-US" dirty="0"/>
                        <a:t>销售额</a:t>
                      </a:r>
                      <a:r>
                        <a:rPr kumimoji="1" lang="ja-JP" altLang="en-US" sz="1400" dirty="0"/>
                        <a:t>（</a:t>
                      </a:r>
                      <a:r>
                        <a:rPr kumimoji="1" lang="zh-CN" altLang="en-US" sz="1400" dirty="0"/>
                        <a:t>元</a:t>
                      </a:r>
                      <a:r>
                        <a:rPr kumimoji="1" lang="ja-JP" altLang="en-US" sz="1400" dirty="0"/>
                        <a:t>）</a:t>
                      </a:r>
                      <a:endParaRPr kumimoji="1" lang="ja-JP" altLang="en-US" dirty="0"/>
                    </a:p>
                  </a:txBody>
                  <a:tcPr anchor="ctr">
                    <a:lnT w="12700" cap="flat" cmpd="sng" algn="ctr">
                      <a:solidFill>
                        <a:schemeClr val="accent3">
                          <a:lumMod val="60000"/>
                          <a:lumOff val="40000"/>
                        </a:schemeClr>
                      </a:solidFill>
                      <a:prstDash val="solid"/>
                      <a:round/>
                      <a:headEnd type="none" w="med" len="med"/>
                      <a:tailEnd type="none" w="med" len="med"/>
                    </a:lnT>
                    <a:solidFill>
                      <a:schemeClr val="accent3">
                        <a:lumMod val="60000"/>
                        <a:lumOff val="40000"/>
                      </a:schemeClr>
                    </a:solidFill>
                  </a:tcPr>
                </a:tc>
                <a:tc>
                  <a:txBody>
                    <a:bodyPr/>
                    <a:lstStyle/>
                    <a:p>
                      <a:pPr algn="ctr"/>
                      <a:r>
                        <a:rPr kumimoji="1" lang="zh-CN" altLang="en-US" dirty="0"/>
                        <a:t>比率</a:t>
                      </a:r>
                      <a:endParaRPr kumimoji="1" lang="ja-JP" altLang="en-US" dirty="0"/>
                    </a:p>
                  </a:txBody>
                  <a:tcPr anchor="ctr">
                    <a:lnT w="12700" cap="flat" cmpd="sng" algn="ctr">
                      <a:solidFill>
                        <a:schemeClr val="accent3">
                          <a:lumMod val="60000"/>
                          <a:lumOff val="40000"/>
                        </a:schemeClr>
                      </a:solidFill>
                      <a:prstDash val="solid"/>
                      <a:round/>
                      <a:headEnd type="none" w="med" len="med"/>
                      <a:tailEnd type="none" w="med" len="med"/>
                    </a:lnT>
                    <a:solidFill>
                      <a:schemeClr val="accent3">
                        <a:lumMod val="60000"/>
                        <a:lumOff val="40000"/>
                      </a:schemeClr>
                    </a:solidFill>
                  </a:tcPr>
                </a:tc>
                <a:tc>
                  <a:txBody>
                    <a:bodyPr/>
                    <a:lstStyle/>
                    <a:p>
                      <a:pPr algn="ctr"/>
                      <a:r>
                        <a:rPr kumimoji="1" lang="zh-CN" altLang="en-US" dirty="0"/>
                        <a:t>比率</a:t>
                      </a:r>
                      <a:endParaRPr kumimoji="1" lang="ja-JP" altLang="en-US" dirty="0"/>
                    </a:p>
                    <a:p>
                      <a:pPr algn="ctr"/>
                      <a:r>
                        <a:rPr kumimoji="1" lang="ja-JP" altLang="en-US" sz="1200" dirty="0"/>
                        <a:t>（</a:t>
                      </a:r>
                      <a:r>
                        <a:rPr kumimoji="1" lang="zh-CN" altLang="en-US" sz="1200" dirty="0"/>
                        <a:t>累计</a:t>
                      </a:r>
                      <a:r>
                        <a:rPr kumimoji="1" lang="ja-JP" altLang="en-US" sz="1200" dirty="0"/>
                        <a:t>）</a:t>
                      </a:r>
                      <a:endParaRPr kumimoji="1" lang="ja-JP" altLang="en-US" dirty="0"/>
                    </a:p>
                  </a:txBody>
                  <a:tcPr anchor="ctr">
                    <a:lnT w="12700" cap="flat" cmpd="sng" algn="ctr">
                      <a:solidFill>
                        <a:schemeClr val="accent3">
                          <a:lumMod val="60000"/>
                          <a:lumOff val="40000"/>
                        </a:schemeClr>
                      </a:solidFill>
                      <a:prstDash val="solid"/>
                      <a:round/>
                      <a:headEnd type="none" w="med" len="med"/>
                      <a:tailEnd type="none" w="med" len="med"/>
                    </a:lnT>
                    <a:solidFill>
                      <a:schemeClr val="accent3">
                        <a:lumMod val="60000"/>
                        <a:lumOff val="40000"/>
                      </a:schemeClr>
                    </a:solidFill>
                  </a:tcPr>
                </a:tc>
                <a:tc>
                  <a:txBody>
                    <a:bodyPr/>
                    <a:lstStyle/>
                    <a:p>
                      <a:pPr algn="ctr"/>
                      <a:r>
                        <a:rPr kumimoji="1" lang="ja-JP" altLang="en-US" dirty="0"/>
                        <a:t>重要度</a:t>
                      </a:r>
                    </a:p>
                  </a:txBody>
                  <a:tcPr anchor="ctr">
                    <a:lnT w="12700" cap="flat" cmpd="sng" algn="ctr">
                      <a:solidFill>
                        <a:schemeClr val="accent3">
                          <a:lumMod val="60000"/>
                          <a:lumOff val="40000"/>
                        </a:schemeClr>
                      </a:solidFill>
                      <a:prstDash val="solid"/>
                      <a:round/>
                      <a:headEnd type="none" w="med" len="med"/>
                      <a:tailEnd type="none" w="med" len="med"/>
                    </a:lnT>
                    <a:solidFill>
                      <a:schemeClr val="accent3">
                        <a:lumMod val="60000"/>
                        <a:lumOff val="40000"/>
                      </a:schemeClr>
                    </a:solidFill>
                  </a:tcPr>
                </a:tc>
                <a:tc>
                  <a:txBody>
                    <a:bodyPr/>
                    <a:lstStyle/>
                    <a:p>
                      <a:pPr algn="ctr"/>
                      <a:r>
                        <a:rPr kumimoji="1" lang="zh-CN" altLang="en-US" dirty="0"/>
                        <a:t>对应策略</a:t>
                      </a:r>
                      <a:endParaRPr kumimoji="1" lang="ja-JP" altLang="en-US" dirty="0"/>
                    </a:p>
                  </a:txBody>
                  <a:tcPr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solidFill>
                      <a:schemeClr val="accent3">
                        <a:lumMod val="60000"/>
                        <a:lumOff val="40000"/>
                      </a:schemeClr>
                    </a:solidFill>
                  </a:tcPr>
                </a:tc>
                <a:extLst>
                  <a:ext uri="{0D108BD9-81ED-4DB2-BD59-A6C34878D82A}">
                    <a16:rowId xmlns:a16="http://schemas.microsoft.com/office/drawing/2014/main" val="3010941798"/>
                  </a:ext>
                </a:extLst>
              </a:tr>
              <a:tr h="432512">
                <a:tc>
                  <a:txBody>
                    <a:bodyPr/>
                    <a:lstStyle/>
                    <a:p>
                      <a:r>
                        <a:rPr kumimoji="1" lang="ja-JP" altLang="en-US" sz="1400" dirty="0"/>
                        <a:t>［例１］</a:t>
                      </a:r>
                      <a:r>
                        <a:rPr kumimoji="1" lang="en-US" altLang="ja-JP" sz="1400" dirty="0"/>
                        <a:t>A</a:t>
                      </a:r>
                      <a:r>
                        <a:rPr kumimoji="1" lang="zh-CN" altLang="en-US" sz="1400" dirty="0"/>
                        <a:t>公司</a:t>
                      </a:r>
                      <a:endParaRPr kumimoji="1" lang="ja-JP" altLang="en-US" sz="140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300,000</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20.0%</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20.0%</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r>
                        <a:rPr kumimoji="1" lang="en-US" altLang="ja-JP" dirty="0"/>
                        <a:t>A</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B w="12700" cap="flat" cmpd="sng" algn="ctr">
                      <a:solidFill>
                        <a:schemeClr val="accent3">
                          <a:lumMod val="60000"/>
                          <a:lumOff val="40000"/>
                        </a:schemeClr>
                      </a:solidFill>
                      <a:prstDash val="solid"/>
                      <a:round/>
                      <a:headEnd type="none" w="med" len="med"/>
                      <a:tailEnd type="none" w="med" len="med"/>
                    </a:lnB>
                    <a:noFill/>
                  </a:tcPr>
                </a:tc>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2306202954"/>
                  </a:ext>
                </a:extLst>
              </a:tr>
              <a:tr h="432512">
                <a:tc>
                  <a:txBody>
                    <a:bodyPr/>
                    <a:lstStyle/>
                    <a:p>
                      <a:r>
                        <a:rPr kumimoji="1" lang="ja-JP" altLang="en-US" sz="1400" dirty="0"/>
                        <a:t>［例２］</a:t>
                      </a:r>
                      <a:r>
                        <a:rPr kumimoji="1" lang="en-US" altLang="ja-JP" sz="1400" dirty="0"/>
                        <a:t>B</a:t>
                      </a:r>
                      <a:r>
                        <a:rPr kumimoji="1" lang="zh-CN" altLang="en-US" sz="1400" dirty="0"/>
                        <a:t>公司</a:t>
                      </a:r>
                      <a:endParaRPr kumimoji="1" lang="ja-JP" altLang="en-US" sz="1400" dirty="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225,000</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15.0%</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35.0%</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r>
                        <a:rPr kumimoji="1" lang="en-US" altLang="ja-JP" dirty="0"/>
                        <a:t>A</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90274669"/>
                  </a:ext>
                </a:extLst>
              </a:tr>
              <a:tr h="432512">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492572807"/>
                  </a:ext>
                </a:extLst>
              </a:tr>
              <a:tr h="432512">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692770884"/>
                  </a:ext>
                </a:extLst>
              </a:tr>
              <a:tr h="432512">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232131678"/>
                  </a:ext>
                </a:extLst>
              </a:tr>
              <a:tr h="432512">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423929351"/>
                  </a:ext>
                </a:extLst>
              </a:tr>
              <a:tr h="432512">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678163495"/>
                  </a:ext>
                </a:extLst>
              </a:tr>
              <a:tr h="432512">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080736258"/>
                  </a:ext>
                </a:extLst>
              </a:tr>
              <a:tr h="432512">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4186590930"/>
                  </a:ext>
                </a:extLst>
              </a:tr>
              <a:tr h="432512">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tc>
                  <a:txBody>
                    <a:bodyPr/>
                    <a:lstStyle/>
                    <a:p>
                      <a:pPr algn="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tc>
                  <a:txBody>
                    <a:bodyPr/>
                    <a:lstStyle/>
                    <a:p>
                      <a:pPr algn="r"/>
                      <a:r>
                        <a:rPr kumimoji="1" lang="en-US" altLang="ja-JP" dirty="0"/>
                        <a:t>%</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tc>
                  <a:txBody>
                    <a:bodyPr/>
                    <a:lstStyle/>
                    <a:p>
                      <a:pPr algn="r"/>
                      <a:r>
                        <a:rPr kumimoji="1" lang="en-US" altLang="ja-JP" dirty="0"/>
                        <a:t>%</a:t>
                      </a: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tc>
                  <a:txBody>
                    <a:bodyPr/>
                    <a:lstStyle/>
                    <a:p>
                      <a:pPr algn="ctr"/>
                      <a:endParaRPr kumimoji="1" lang="ja-JP" altLang="en-US"/>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tc>
                  <a:txBody>
                    <a:bodyPr/>
                    <a:lstStyle/>
                    <a:p>
                      <a:endParaRPr kumimoji="1" lang="ja-JP" altLang="en-US" sz="1400"/>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extLst>
                  <a:ext uri="{0D108BD9-81ED-4DB2-BD59-A6C34878D82A}">
                    <a16:rowId xmlns:a16="http://schemas.microsoft.com/office/drawing/2014/main" val="3338409782"/>
                  </a:ext>
                </a:extLst>
              </a:tr>
              <a:tr h="432512">
                <a:tc>
                  <a:txBody>
                    <a:bodyPr/>
                    <a:lstStyle/>
                    <a:p>
                      <a:r>
                        <a:rPr kumimoji="1" lang="ja-JP" altLang="en-US"/>
                        <a:t>合計</a:t>
                      </a:r>
                    </a:p>
                  </a:txBody>
                  <a:tcPr anchor="ctr">
                    <a:lnL w="12700" cap="flat" cmpd="sng" algn="ctr">
                      <a:solidFill>
                        <a:schemeClr val="accent3">
                          <a:lumMod val="20000"/>
                          <a:lumOff val="80000"/>
                        </a:schemeClr>
                      </a:solidFill>
                      <a:prstDash val="solid"/>
                      <a:round/>
                      <a:headEnd type="none" w="med" len="med"/>
                      <a:tailEnd type="none" w="med" len="med"/>
                    </a:lnL>
                    <a:solidFill>
                      <a:schemeClr val="accent3">
                        <a:lumMod val="20000"/>
                        <a:lumOff val="80000"/>
                      </a:schemeClr>
                    </a:solidFill>
                  </a:tcPr>
                </a:tc>
                <a:tc>
                  <a:txBody>
                    <a:bodyPr/>
                    <a:lstStyle/>
                    <a:p>
                      <a:pPr algn="r"/>
                      <a:r>
                        <a:rPr kumimoji="1" lang="en-US" altLang="ja-JP" dirty="0"/>
                        <a:t>1,500,000</a:t>
                      </a:r>
                      <a:endParaRPr kumimoji="1" lang="ja-JP" altLang="en-US"/>
                    </a:p>
                  </a:txBody>
                  <a:tcPr anchor="ctr">
                    <a:solidFill>
                      <a:schemeClr val="accent3">
                        <a:lumMod val="20000"/>
                        <a:lumOff val="80000"/>
                      </a:schemeClr>
                    </a:solidFill>
                  </a:tcPr>
                </a:tc>
                <a:tc>
                  <a:txBody>
                    <a:bodyPr/>
                    <a:lstStyle/>
                    <a:p>
                      <a:pPr algn="r"/>
                      <a:endParaRPr kumimoji="1" lang="en-US" altLang="ja-JP" dirty="0"/>
                    </a:p>
                  </a:txBody>
                  <a:tcPr anchor="ctr">
                    <a:solidFill>
                      <a:schemeClr val="accent3">
                        <a:lumMod val="20000"/>
                        <a:lumOff val="80000"/>
                      </a:schemeClr>
                    </a:solidFill>
                  </a:tcPr>
                </a:tc>
                <a:tc>
                  <a:txBody>
                    <a:bodyPr/>
                    <a:lstStyle/>
                    <a:p>
                      <a:pPr algn="r"/>
                      <a:r>
                        <a:rPr kumimoji="1" lang="en-US" altLang="ja-JP" dirty="0"/>
                        <a:t>100%</a:t>
                      </a:r>
                      <a:endParaRPr kumimoji="1" lang="ja-JP" altLang="en-US"/>
                    </a:p>
                  </a:txBody>
                  <a:tcPr anchor="ctr">
                    <a:solidFill>
                      <a:schemeClr val="accent3">
                        <a:lumMod val="20000"/>
                        <a:lumOff val="80000"/>
                      </a:schemeClr>
                    </a:solidFill>
                  </a:tcPr>
                </a:tc>
                <a:tc>
                  <a:txBody>
                    <a:bodyPr/>
                    <a:lstStyle/>
                    <a:p>
                      <a:pPr algn="ctr"/>
                      <a:endParaRPr kumimoji="1" lang="ja-JP" altLang="en-US"/>
                    </a:p>
                  </a:txBody>
                  <a:tcPr anchor="ctr">
                    <a:solidFill>
                      <a:schemeClr val="accent3">
                        <a:lumMod val="20000"/>
                        <a:lumOff val="80000"/>
                      </a:schemeClr>
                    </a:solidFill>
                  </a:tcPr>
                </a:tc>
                <a:tc>
                  <a:txBody>
                    <a:bodyPr/>
                    <a:lstStyle/>
                    <a:p>
                      <a:endParaRPr kumimoji="1" lang="ja-JP" altLang="en-US" dirty="0"/>
                    </a:p>
                  </a:txBody>
                  <a:tcPr anchor="ctr">
                    <a:lnR w="12700" cap="flat" cmpd="sng" algn="ctr">
                      <a:solidFill>
                        <a:schemeClr val="accent3">
                          <a:lumMod val="20000"/>
                          <a:lumOff val="80000"/>
                        </a:schemeClr>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450136971"/>
                  </a:ext>
                </a:extLst>
              </a:tr>
            </a:tbl>
          </a:graphicData>
        </a:graphic>
      </p:graphicFrame>
    </p:spTree>
    <p:extLst>
      <p:ext uri="{BB962C8B-B14F-4D97-AF65-F5344CB8AC3E}">
        <p14:creationId xmlns:p14="http://schemas.microsoft.com/office/powerpoint/2010/main" val="29502767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1800" dirty="0">
                <a:solidFill>
                  <a:schemeClr val="bg1"/>
                </a:solidFill>
              </a:rPr>
              <a:t>44</a:t>
            </a:r>
            <a:r>
              <a:rPr lang="ja-JP" altLang="en-US" sz="1800" dirty="0">
                <a:solidFill>
                  <a:schemeClr val="bg1"/>
                </a:solidFill>
              </a:rPr>
              <a:t>　</a:t>
            </a:r>
            <a:r>
              <a:rPr lang="zh-CN" altLang="en-US" sz="1800" dirty="0">
                <a:solidFill>
                  <a:schemeClr val="bg1"/>
                </a:solidFill>
              </a:rPr>
              <a:t>波士顿矩阵</a:t>
            </a:r>
            <a:r>
              <a:rPr lang="en-US" altLang="ja-JP" sz="8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184</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将本公司的事业落实到“市场增长率”和“市场占有率”的两轴矩阵中，讨论分配经营资源的优先顺序。</a:t>
            </a:r>
            <a:endParaRPr lang="en-US" altLang="ja-JP" sz="1138" dirty="0"/>
          </a:p>
        </p:txBody>
      </p:sp>
      <p:sp>
        <p:nvSpPr>
          <p:cNvPr id="5" name="上下矢印 4">
            <a:extLst>
              <a:ext uri="{FF2B5EF4-FFF2-40B4-BE49-F238E27FC236}">
                <a16:creationId xmlns:a16="http://schemas.microsoft.com/office/drawing/2014/main" id="{4AF61D93-F124-6945-B9B8-51ADF8E5A093}"/>
              </a:ext>
            </a:extLst>
          </p:cNvPr>
          <p:cNvSpPr/>
          <p:nvPr/>
        </p:nvSpPr>
        <p:spPr>
          <a:xfrm flipH="1" flipV="1">
            <a:off x="1684639" y="1333138"/>
            <a:ext cx="350036" cy="4473302"/>
          </a:xfrm>
          <a:prstGeom prst="up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386FBA98-9AFB-DA4C-A8AD-4370B82C7AF9}"/>
              </a:ext>
            </a:extLst>
          </p:cNvPr>
          <p:cNvSpPr txBox="1"/>
          <p:nvPr/>
        </p:nvSpPr>
        <p:spPr>
          <a:xfrm>
            <a:off x="1317085" y="2894121"/>
            <a:ext cx="461665" cy="1261655"/>
          </a:xfrm>
          <a:prstGeom prst="rect">
            <a:avLst/>
          </a:prstGeom>
          <a:noFill/>
        </p:spPr>
        <p:txBody>
          <a:bodyPr vert="eaVert" wrap="square" rtlCol="0">
            <a:spAutoFit/>
          </a:bodyPr>
          <a:lstStyle/>
          <a:p>
            <a:r>
              <a:rPr kumimoji="1" lang="zh-CN" altLang="en-US" dirty="0"/>
              <a:t>销售增长率</a:t>
            </a:r>
            <a:endParaRPr kumimoji="1" lang="ja-JP" altLang="en-US" dirty="0"/>
          </a:p>
        </p:txBody>
      </p:sp>
      <p:sp>
        <p:nvSpPr>
          <p:cNvPr id="7" name="テキスト ボックス 6">
            <a:extLst>
              <a:ext uri="{FF2B5EF4-FFF2-40B4-BE49-F238E27FC236}">
                <a16:creationId xmlns:a16="http://schemas.microsoft.com/office/drawing/2014/main" id="{A1EA86B1-CA74-034E-908A-3006250F7048}"/>
              </a:ext>
            </a:extLst>
          </p:cNvPr>
          <p:cNvSpPr txBox="1"/>
          <p:nvPr/>
        </p:nvSpPr>
        <p:spPr>
          <a:xfrm>
            <a:off x="1677556" y="1094180"/>
            <a:ext cx="364202" cy="307777"/>
          </a:xfrm>
          <a:prstGeom prst="rect">
            <a:avLst/>
          </a:prstGeom>
          <a:noFill/>
        </p:spPr>
        <p:txBody>
          <a:bodyPr wrap="none" rtlCol="0">
            <a:spAutoFit/>
          </a:bodyPr>
          <a:lstStyle/>
          <a:p>
            <a:r>
              <a:rPr kumimoji="1" lang="ja-JP" altLang="en-US" sz="1400"/>
              <a:t>高</a:t>
            </a:r>
          </a:p>
        </p:txBody>
      </p:sp>
      <p:sp>
        <p:nvSpPr>
          <p:cNvPr id="8" name="テキスト ボックス 7">
            <a:extLst>
              <a:ext uri="{FF2B5EF4-FFF2-40B4-BE49-F238E27FC236}">
                <a16:creationId xmlns:a16="http://schemas.microsoft.com/office/drawing/2014/main" id="{C8F615FD-0432-694C-820D-68BE3C689D17}"/>
              </a:ext>
            </a:extLst>
          </p:cNvPr>
          <p:cNvSpPr txBox="1"/>
          <p:nvPr/>
        </p:nvSpPr>
        <p:spPr>
          <a:xfrm>
            <a:off x="1677556" y="5745480"/>
            <a:ext cx="364202" cy="307777"/>
          </a:xfrm>
          <a:prstGeom prst="rect">
            <a:avLst/>
          </a:prstGeom>
          <a:noFill/>
        </p:spPr>
        <p:txBody>
          <a:bodyPr wrap="none" rtlCol="0">
            <a:spAutoFit/>
          </a:bodyPr>
          <a:lstStyle/>
          <a:p>
            <a:r>
              <a:rPr kumimoji="1" lang="ja-JP" altLang="en-US" sz="1400"/>
              <a:t>低</a:t>
            </a:r>
          </a:p>
        </p:txBody>
      </p:sp>
      <p:sp>
        <p:nvSpPr>
          <p:cNvPr id="9" name="上下矢印 8">
            <a:extLst>
              <a:ext uri="{FF2B5EF4-FFF2-40B4-BE49-F238E27FC236}">
                <a16:creationId xmlns:a16="http://schemas.microsoft.com/office/drawing/2014/main" id="{A341387D-BF39-214C-B5A6-A0FA2A010095}"/>
              </a:ext>
            </a:extLst>
          </p:cNvPr>
          <p:cNvSpPr/>
          <p:nvPr/>
        </p:nvSpPr>
        <p:spPr>
          <a:xfrm rot="5400000" flipH="1" flipV="1">
            <a:off x="4252579" y="3864889"/>
            <a:ext cx="350036" cy="4473302"/>
          </a:xfrm>
          <a:prstGeom prst="up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138772E3-E7A2-A34E-A517-F9913D52FBFD}"/>
              </a:ext>
            </a:extLst>
          </p:cNvPr>
          <p:cNvSpPr txBox="1"/>
          <p:nvPr/>
        </p:nvSpPr>
        <p:spPr>
          <a:xfrm>
            <a:off x="6563581" y="5956967"/>
            <a:ext cx="364202" cy="307777"/>
          </a:xfrm>
          <a:prstGeom prst="rect">
            <a:avLst/>
          </a:prstGeom>
          <a:noFill/>
        </p:spPr>
        <p:txBody>
          <a:bodyPr wrap="none" rtlCol="0">
            <a:spAutoFit/>
          </a:bodyPr>
          <a:lstStyle/>
          <a:p>
            <a:r>
              <a:rPr kumimoji="1" lang="ja-JP" altLang="en-US" sz="1400"/>
              <a:t>低</a:t>
            </a:r>
          </a:p>
        </p:txBody>
      </p:sp>
      <p:sp>
        <p:nvSpPr>
          <p:cNvPr id="11" name="テキスト ボックス 10">
            <a:extLst>
              <a:ext uri="{FF2B5EF4-FFF2-40B4-BE49-F238E27FC236}">
                <a16:creationId xmlns:a16="http://schemas.microsoft.com/office/drawing/2014/main" id="{9BEF2994-16AA-B042-8601-0DA8CB1222D8}"/>
              </a:ext>
            </a:extLst>
          </p:cNvPr>
          <p:cNvSpPr txBox="1"/>
          <p:nvPr/>
        </p:nvSpPr>
        <p:spPr>
          <a:xfrm>
            <a:off x="1935407" y="5978341"/>
            <a:ext cx="364202" cy="307777"/>
          </a:xfrm>
          <a:prstGeom prst="rect">
            <a:avLst/>
          </a:prstGeom>
          <a:noFill/>
        </p:spPr>
        <p:txBody>
          <a:bodyPr wrap="none" rtlCol="0">
            <a:spAutoFit/>
          </a:bodyPr>
          <a:lstStyle/>
          <a:p>
            <a:r>
              <a:rPr kumimoji="1" lang="ja-JP" altLang="en-US" sz="1400"/>
              <a:t>高</a:t>
            </a:r>
          </a:p>
        </p:txBody>
      </p:sp>
      <p:grpSp>
        <p:nvGrpSpPr>
          <p:cNvPr id="4" name="グループ化 3">
            <a:extLst>
              <a:ext uri="{FF2B5EF4-FFF2-40B4-BE49-F238E27FC236}">
                <a16:creationId xmlns:a16="http://schemas.microsoft.com/office/drawing/2014/main" id="{5D27622D-C13F-484D-89A4-F83CB22843CC}"/>
              </a:ext>
            </a:extLst>
          </p:cNvPr>
          <p:cNvGrpSpPr/>
          <p:nvPr/>
        </p:nvGrpSpPr>
        <p:grpSpPr>
          <a:xfrm>
            <a:off x="2048841" y="1150620"/>
            <a:ext cx="4802477" cy="4754880"/>
            <a:chOff x="2048841" y="1150620"/>
            <a:chExt cx="4802477" cy="4754880"/>
          </a:xfrm>
        </p:grpSpPr>
        <p:sp>
          <p:nvSpPr>
            <p:cNvPr id="12" name="正方形/長方形 11">
              <a:extLst>
                <a:ext uri="{FF2B5EF4-FFF2-40B4-BE49-F238E27FC236}">
                  <a16:creationId xmlns:a16="http://schemas.microsoft.com/office/drawing/2014/main" id="{3F5430FC-D6A6-0449-A421-92846478C32F}"/>
                </a:ext>
              </a:extLst>
            </p:cNvPr>
            <p:cNvSpPr/>
            <p:nvPr/>
          </p:nvSpPr>
          <p:spPr>
            <a:xfrm>
              <a:off x="2048841" y="115062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明星产品</a:t>
              </a:r>
              <a:endParaRPr kumimoji="1" lang="en-US" altLang="zh-CN" dirty="0">
                <a:solidFill>
                  <a:schemeClr val="accent3">
                    <a:lumMod val="75000"/>
                  </a:schemeClr>
                </a:solidFill>
              </a:endParaRPr>
            </a:p>
            <a:p>
              <a:r>
                <a:rPr kumimoji="1" lang="zh-CN" altLang="en-US" sz="1200" dirty="0">
                  <a:solidFill>
                    <a:schemeClr val="accent3">
                      <a:lumMod val="75000"/>
                    </a:schemeClr>
                  </a:solidFill>
                </a:rPr>
                <a:t>资金投入</a:t>
              </a:r>
              <a:r>
                <a:rPr kumimoji="1" lang="ja-JP" altLang="en-US" sz="1200" dirty="0">
                  <a:solidFill>
                    <a:schemeClr val="accent3">
                      <a:lumMod val="75000"/>
                    </a:schemeClr>
                  </a:solidFill>
                </a:rPr>
                <a:t>：多</a:t>
              </a:r>
              <a:endParaRPr kumimoji="1" lang="en-US" altLang="ja-JP" sz="1200" dirty="0">
                <a:solidFill>
                  <a:schemeClr val="accent3">
                    <a:lumMod val="75000"/>
                  </a:schemeClr>
                </a:solidFill>
              </a:endParaRPr>
            </a:p>
            <a:p>
              <a:r>
                <a:rPr kumimoji="1" lang="zh-CN" altLang="en-US" sz="1200" dirty="0">
                  <a:solidFill>
                    <a:schemeClr val="accent3">
                      <a:lumMod val="75000"/>
                    </a:schemeClr>
                  </a:solidFill>
                </a:rPr>
                <a:t>资金产出</a:t>
              </a:r>
              <a:r>
                <a:rPr kumimoji="1" lang="ja-JP" altLang="en-US" sz="1200" dirty="0">
                  <a:solidFill>
                    <a:schemeClr val="accent3">
                      <a:lumMod val="75000"/>
                    </a:schemeClr>
                  </a:solidFill>
                </a:rPr>
                <a:t>：多</a:t>
              </a:r>
              <a:endParaRPr kumimoji="1" lang="en-US" altLang="ja-JP" sz="1200" dirty="0">
                <a:solidFill>
                  <a:schemeClr val="accent3">
                    <a:lumMod val="75000"/>
                  </a:schemeClr>
                </a:solidFill>
              </a:endParaRPr>
            </a:p>
          </p:txBody>
        </p:sp>
        <p:sp>
          <p:nvSpPr>
            <p:cNvPr id="14" name="正方形/長方形 13">
              <a:extLst>
                <a:ext uri="{FF2B5EF4-FFF2-40B4-BE49-F238E27FC236}">
                  <a16:creationId xmlns:a16="http://schemas.microsoft.com/office/drawing/2014/main" id="{545D9E3F-6AE0-EE43-9586-B5A4AAB3064E}"/>
                </a:ext>
              </a:extLst>
            </p:cNvPr>
            <p:cNvSpPr/>
            <p:nvPr/>
          </p:nvSpPr>
          <p:spPr>
            <a:xfrm>
              <a:off x="2048841" y="3528060"/>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金牛产品</a:t>
              </a:r>
              <a:endParaRPr kumimoji="1" lang="en-US" altLang="zh-CN" dirty="0">
                <a:solidFill>
                  <a:schemeClr val="accent3">
                    <a:lumMod val="75000"/>
                  </a:schemeClr>
                </a:solidFill>
              </a:endParaRPr>
            </a:p>
            <a:p>
              <a:r>
                <a:rPr kumimoji="1" lang="zh-CN" altLang="en-US" sz="1200" dirty="0">
                  <a:solidFill>
                    <a:schemeClr val="accent3">
                      <a:lumMod val="75000"/>
                    </a:schemeClr>
                  </a:solidFill>
                </a:rPr>
                <a:t>资金投入</a:t>
              </a:r>
              <a:r>
                <a:rPr kumimoji="1" lang="ja-JP" altLang="en-US" sz="1200" dirty="0">
                  <a:solidFill>
                    <a:schemeClr val="accent3">
                      <a:lumMod val="75000"/>
                    </a:schemeClr>
                  </a:solidFill>
                </a:rPr>
                <a:t>：</a:t>
              </a:r>
              <a:r>
                <a:rPr kumimoji="1" lang="zh-CN" altLang="en-US" sz="1200" dirty="0">
                  <a:solidFill>
                    <a:schemeClr val="accent3">
                      <a:lumMod val="75000"/>
                    </a:schemeClr>
                  </a:solidFill>
                </a:rPr>
                <a:t>少</a:t>
              </a:r>
              <a:endParaRPr kumimoji="1" lang="en-US" altLang="ja-JP" sz="1200" dirty="0">
                <a:solidFill>
                  <a:schemeClr val="accent3">
                    <a:lumMod val="75000"/>
                  </a:schemeClr>
                </a:solidFill>
              </a:endParaRPr>
            </a:p>
            <a:p>
              <a:r>
                <a:rPr kumimoji="1" lang="zh-CN" altLang="en-US" sz="1200" dirty="0">
                  <a:solidFill>
                    <a:schemeClr val="accent3">
                      <a:lumMod val="75000"/>
                    </a:schemeClr>
                  </a:solidFill>
                </a:rPr>
                <a:t>资金产出</a:t>
              </a:r>
              <a:r>
                <a:rPr kumimoji="1" lang="ja-JP" altLang="en-US" sz="1200" dirty="0">
                  <a:solidFill>
                    <a:schemeClr val="accent3">
                      <a:lumMod val="75000"/>
                    </a:schemeClr>
                  </a:solidFill>
                </a:rPr>
                <a:t>：</a:t>
              </a:r>
              <a:r>
                <a:rPr kumimoji="1" lang="zh-CN" altLang="en-US" sz="1200" dirty="0">
                  <a:solidFill>
                    <a:schemeClr val="accent3">
                      <a:lumMod val="75000"/>
                    </a:schemeClr>
                  </a:solidFill>
                </a:rPr>
                <a:t>多</a:t>
              </a:r>
              <a:endParaRPr kumimoji="1" lang="en-US" altLang="ja-JP" sz="1200" dirty="0">
                <a:solidFill>
                  <a:schemeClr val="accent3">
                    <a:lumMod val="75000"/>
                  </a:schemeClr>
                </a:solidFill>
              </a:endParaRPr>
            </a:p>
          </p:txBody>
        </p:sp>
        <p:sp>
          <p:nvSpPr>
            <p:cNvPr id="15" name="正方形/長方形 14">
              <a:extLst>
                <a:ext uri="{FF2B5EF4-FFF2-40B4-BE49-F238E27FC236}">
                  <a16:creationId xmlns:a16="http://schemas.microsoft.com/office/drawing/2014/main" id="{49B5DB5F-ACD5-A742-A5B0-6F93C61BA5F8}"/>
                </a:ext>
              </a:extLst>
            </p:cNvPr>
            <p:cNvSpPr/>
            <p:nvPr/>
          </p:nvSpPr>
          <p:spPr>
            <a:xfrm>
              <a:off x="4450079" y="3524949"/>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瘦狗产品</a:t>
              </a:r>
              <a:endParaRPr kumimoji="1" lang="en-US" altLang="zh-CN" dirty="0">
                <a:solidFill>
                  <a:schemeClr val="accent3">
                    <a:lumMod val="75000"/>
                  </a:schemeClr>
                </a:solidFill>
              </a:endParaRPr>
            </a:p>
            <a:p>
              <a:r>
                <a:rPr kumimoji="1" lang="zh-CN" altLang="en-US" sz="1200" dirty="0">
                  <a:solidFill>
                    <a:schemeClr val="accent3">
                      <a:lumMod val="75000"/>
                    </a:schemeClr>
                  </a:solidFill>
                </a:rPr>
                <a:t>资金投入</a:t>
              </a:r>
              <a:r>
                <a:rPr kumimoji="1" lang="ja-JP" altLang="en-US" sz="1200" dirty="0">
                  <a:solidFill>
                    <a:schemeClr val="accent3">
                      <a:lumMod val="75000"/>
                    </a:schemeClr>
                  </a:solidFill>
                </a:rPr>
                <a:t>：少</a:t>
              </a:r>
              <a:endParaRPr kumimoji="1" lang="en-US" altLang="ja-JP" sz="1200" dirty="0">
                <a:solidFill>
                  <a:schemeClr val="accent3">
                    <a:lumMod val="75000"/>
                  </a:schemeClr>
                </a:solidFill>
              </a:endParaRPr>
            </a:p>
            <a:p>
              <a:r>
                <a:rPr kumimoji="1" lang="zh-CN" altLang="en-US" sz="1200" dirty="0">
                  <a:solidFill>
                    <a:schemeClr val="accent3">
                      <a:lumMod val="75000"/>
                    </a:schemeClr>
                  </a:solidFill>
                </a:rPr>
                <a:t>资金产出</a:t>
              </a:r>
              <a:r>
                <a:rPr kumimoji="1" lang="ja-JP" altLang="en-US" sz="1200" dirty="0">
                  <a:solidFill>
                    <a:schemeClr val="accent3">
                      <a:lumMod val="75000"/>
                    </a:schemeClr>
                  </a:solidFill>
                </a:rPr>
                <a:t>：少</a:t>
              </a:r>
              <a:endParaRPr kumimoji="1" lang="en-US" altLang="ja-JP" sz="1200" dirty="0">
                <a:solidFill>
                  <a:schemeClr val="accent3">
                    <a:lumMod val="75000"/>
                  </a:schemeClr>
                </a:solidFill>
              </a:endParaRPr>
            </a:p>
          </p:txBody>
        </p:sp>
      </p:grpSp>
      <p:sp>
        <p:nvSpPr>
          <p:cNvPr id="16" name="テキスト ボックス 15">
            <a:extLst>
              <a:ext uri="{FF2B5EF4-FFF2-40B4-BE49-F238E27FC236}">
                <a16:creationId xmlns:a16="http://schemas.microsoft.com/office/drawing/2014/main" id="{E0E10D9E-1049-D746-9BAD-C5F6072F140F}"/>
              </a:ext>
            </a:extLst>
          </p:cNvPr>
          <p:cNvSpPr txBox="1"/>
          <p:nvPr/>
        </p:nvSpPr>
        <p:spPr>
          <a:xfrm>
            <a:off x="3780666" y="6228707"/>
            <a:ext cx="1338828" cy="369332"/>
          </a:xfrm>
          <a:prstGeom prst="rect">
            <a:avLst/>
          </a:prstGeom>
          <a:noFill/>
        </p:spPr>
        <p:txBody>
          <a:bodyPr wrap="none" rtlCol="0">
            <a:spAutoFit/>
          </a:bodyPr>
          <a:lstStyle/>
          <a:p>
            <a:r>
              <a:rPr kumimoji="1" lang="zh-CN" altLang="en-US" dirty="0"/>
              <a:t>市场占有率</a:t>
            </a:r>
            <a:endParaRPr kumimoji="1" lang="ja-JP" altLang="en-US" dirty="0"/>
          </a:p>
        </p:txBody>
      </p:sp>
      <p:sp>
        <p:nvSpPr>
          <p:cNvPr id="19" name="正方形/長方形 11">
            <a:extLst>
              <a:ext uri="{FF2B5EF4-FFF2-40B4-BE49-F238E27FC236}">
                <a16:creationId xmlns:a16="http://schemas.microsoft.com/office/drawing/2014/main" id="{AC10192D-5C78-FD42-11E0-B7B25AC5B666}"/>
              </a:ext>
            </a:extLst>
          </p:cNvPr>
          <p:cNvSpPr/>
          <p:nvPr/>
        </p:nvSpPr>
        <p:spPr>
          <a:xfrm>
            <a:off x="4449369" y="1154059"/>
            <a:ext cx="2401239" cy="2377440"/>
          </a:xfrm>
          <a:prstGeom prst="rect">
            <a:avLst/>
          </a:prstGeom>
          <a:solidFill>
            <a:schemeClr val="bg2"/>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问题产品</a:t>
            </a:r>
            <a:endParaRPr kumimoji="1" lang="en-US" altLang="zh-CN" dirty="0">
              <a:solidFill>
                <a:schemeClr val="accent3">
                  <a:lumMod val="75000"/>
                </a:schemeClr>
              </a:solidFill>
            </a:endParaRPr>
          </a:p>
          <a:p>
            <a:r>
              <a:rPr kumimoji="1" lang="zh-CN" altLang="en-US" sz="1200" dirty="0">
                <a:solidFill>
                  <a:schemeClr val="accent3">
                    <a:lumMod val="75000"/>
                  </a:schemeClr>
                </a:solidFill>
              </a:rPr>
              <a:t>资金投入</a:t>
            </a:r>
            <a:r>
              <a:rPr kumimoji="1" lang="ja-JP" altLang="en-US" sz="1200" dirty="0">
                <a:solidFill>
                  <a:schemeClr val="accent3">
                    <a:lumMod val="75000"/>
                  </a:schemeClr>
                </a:solidFill>
              </a:rPr>
              <a:t>：多</a:t>
            </a:r>
            <a:endParaRPr kumimoji="1" lang="en-US" altLang="ja-JP" sz="1200" dirty="0">
              <a:solidFill>
                <a:schemeClr val="accent3">
                  <a:lumMod val="75000"/>
                </a:schemeClr>
              </a:solidFill>
            </a:endParaRPr>
          </a:p>
          <a:p>
            <a:r>
              <a:rPr kumimoji="1" lang="zh-CN" altLang="en-US" sz="1200" dirty="0">
                <a:solidFill>
                  <a:schemeClr val="accent3">
                    <a:lumMod val="75000"/>
                  </a:schemeClr>
                </a:solidFill>
              </a:rPr>
              <a:t>资金产出</a:t>
            </a:r>
            <a:r>
              <a:rPr kumimoji="1" lang="ja-JP" altLang="en-US" sz="1200" dirty="0">
                <a:solidFill>
                  <a:schemeClr val="accent3">
                    <a:lumMod val="75000"/>
                  </a:schemeClr>
                </a:solidFill>
              </a:rPr>
              <a:t>：</a:t>
            </a:r>
            <a:r>
              <a:rPr kumimoji="1" lang="zh-CN" altLang="en-US" sz="1200" dirty="0">
                <a:solidFill>
                  <a:schemeClr val="accent3">
                    <a:lumMod val="75000"/>
                  </a:schemeClr>
                </a:solidFill>
              </a:rPr>
              <a:t>少</a:t>
            </a:r>
            <a:endParaRPr kumimoji="1" lang="en-US" altLang="ja-JP" sz="1200" dirty="0">
              <a:solidFill>
                <a:schemeClr val="accent3">
                  <a:lumMod val="75000"/>
                </a:schemeClr>
              </a:solidFill>
            </a:endParaRPr>
          </a:p>
        </p:txBody>
      </p:sp>
    </p:spTree>
    <p:extLst>
      <p:ext uri="{BB962C8B-B14F-4D97-AF65-F5344CB8AC3E}">
        <p14:creationId xmlns:p14="http://schemas.microsoft.com/office/powerpoint/2010/main" val="8757771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1800" dirty="0">
                <a:solidFill>
                  <a:schemeClr val="bg1"/>
                </a:solidFill>
              </a:rPr>
              <a:t>45</a:t>
            </a:r>
            <a:r>
              <a:rPr lang="ja-JP" altLang="en-US" sz="1800" dirty="0">
                <a:solidFill>
                  <a:schemeClr val="bg1"/>
                </a:solidFill>
              </a:rPr>
              <a:t>　</a:t>
            </a:r>
            <a:r>
              <a:rPr lang="zh-CN" altLang="en-US" sz="1800" dirty="0">
                <a:solidFill>
                  <a:schemeClr val="bg1"/>
                </a:solidFill>
              </a:rPr>
              <a:t>定位地图</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188</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将本公司和竞争对手，或者本公司和竞争对手提供的产品和服务放在定位地图，寻找能够实现差异化的位置。可以根据目的调整基准轴</a:t>
            </a:r>
            <a:r>
              <a:rPr lang="ja-JP" altLang="en-US" sz="1138" dirty="0"/>
              <a:t>。</a:t>
            </a:r>
            <a:endParaRPr lang="en-US" altLang="ja-JP" sz="1138" dirty="0"/>
          </a:p>
        </p:txBody>
      </p:sp>
      <p:sp>
        <p:nvSpPr>
          <p:cNvPr id="5" name="正方形/長方形 4">
            <a:extLst>
              <a:ext uri="{FF2B5EF4-FFF2-40B4-BE49-F238E27FC236}">
                <a16:creationId xmlns:a16="http://schemas.microsoft.com/office/drawing/2014/main" id="{D386DA39-FA55-7643-A8F9-FC876A4DF45B}"/>
              </a:ext>
            </a:extLst>
          </p:cNvPr>
          <p:cNvSpPr/>
          <p:nvPr/>
        </p:nvSpPr>
        <p:spPr>
          <a:xfrm>
            <a:off x="2548889" y="1379220"/>
            <a:ext cx="4808220" cy="480822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上下矢印 5">
            <a:extLst>
              <a:ext uri="{FF2B5EF4-FFF2-40B4-BE49-F238E27FC236}">
                <a16:creationId xmlns:a16="http://schemas.microsoft.com/office/drawing/2014/main" id="{A4DD8975-D997-8245-866D-A689AE12969C}"/>
              </a:ext>
            </a:extLst>
          </p:cNvPr>
          <p:cNvSpPr/>
          <p:nvPr/>
        </p:nvSpPr>
        <p:spPr>
          <a:xfrm flipH="1" flipV="1">
            <a:off x="4823577" y="1379220"/>
            <a:ext cx="258839" cy="4808220"/>
          </a:xfrm>
          <a:prstGeom prst="up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上下矢印 6">
            <a:extLst>
              <a:ext uri="{FF2B5EF4-FFF2-40B4-BE49-F238E27FC236}">
                <a16:creationId xmlns:a16="http://schemas.microsoft.com/office/drawing/2014/main" id="{12C456DA-777E-204D-9DD0-DCF014DAB6A7}"/>
              </a:ext>
            </a:extLst>
          </p:cNvPr>
          <p:cNvSpPr/>
          <p:nvPr/>
        </p:nvSpPr>
        <p:spPr>
          <a:xfrm rot="5400000" flipH="1" flipV="1">
            <a:off x="4821675" y="1379220"/>
            <a:ext cx="262648" cy="4808220"/>
          </a:xfrm>
          <a:prstGeom prst="up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E91088C-24B2-C049-BDB6-B644FFD02BE7}"/>
              </a:ext>
            </a:extLst>
          </p:cNvPr>
          <p:cNvSpPr txBox="1"/>
          <p:nvPr/>
        </p:nvSpPr>
        <p:spPr>
          <a:xfrm>
            <a:off x="2099737" y="3328542"/>
            <a:ext cx="461665" cy="1058402"/>
          </a:xfrm>
          <a:prstGeom prst="rect">
            <a:avLst/>
          </a:prstGeom>
          <a:noFill/>
        </p:spPr>
        <p:txBody>
          <a:bodyPr vert="eaVert" wrap="square" rtlCol="0">
            <a:spAutoFit/>
          </a:bodyPr>
          <a:lstStyle/>
          <a:p>
            <a:r>
              <a:rPr kumimoji="1" lang="zh-CN" altLang="en-US" dirty="0"/>
              <a:t>重视设计</a:t>
            </a:r>
            <a:endParaRPr kumimoji="1" lang="ja-JP" altLang="en-US" dirty="0"/>
          </a:p>
        </p:txBody>
      </p:sp>
      <p:sp>
        <p:nvSpPr>
          <p:cNvPr id="9" name="テキスト ボックス 8">
            <a:extLst>
              <a:ext uri="{FF2B5EF4-FFF2-40B4-BE49-F238E27FC236}">
                <a16:creationId xmlns:a16="http://schemas.microsoft.com/office/drawing/2014/main" id="{15D7E095-1F88-B64C-A387-FED070B23AA0}"/>
              </a:ext>
            </a:extLst>
          </p:cNvPr>
          <p:cNvSpPr txBox="1"/>
          <p:nvPr/>
        </p:nvSpPr>
        <p:spPr>
          <a:xfrm>
            <a:off x="4514417" y="6191374"/>
            <a:ext cx="877163" cy="369332"/>
          </a:xfrm>
          <a:prstGeom prst="rect">
            <a:avLst/>
          </a:prstGeom>
          <a:noFill/>
        </p:spPr>
        <p:txBody>
          <a:bodyPr wrap="none" rtlCol="0">
            <a:spAutoFit/>
          </a:bodyPr>
          <a:lstStyle/>
          <a:p>
            <a:r>
              <a:rPr kumimoji="1" lang="zh-CN" altLang="en-US" dirty="0"/>
              <a:t>低价格</a:t>
            </a:r>
            <a:endParaRPr kumimoji="1" lang="ja-JP" altLang="en-US" dirty="0"/>
          </a:p>
        </p:txBody>
      </p:sp>
      <p:sp>
        <p:nvSpPr>
          <p:cNvPr id="10" name="テキスト ボックス 9">
            <a:extLst>
              <a:ext uri="{FF2B5EF4-FFF2-40B4-BE49-F238E27FC236}">
                <a16:creationId xmlns:a16="http://schemas.microsoft.com/office/drawing/2014/main" id="{2139BBA5-6BC1-F84A-97A8-0F03D4174C70}"/>
              </a:ext>
            </a:extLst>
          </p:cNvPr>
          <p:cNvSpPr txBox="1"/>
          <p:nvPr/>
        </p:nvSpPr>
        <p:spPr>
          <a:xfrm>
            <a:off x="7357109" y="3332766"/>
            <a:ext cx="461665" cy="1049953"/>
          </a:xfrm>
          <a:prstGeom prst="rect">
            <a:avLst/>
          </a:prstGeom>
          <a:noFill/>
        </p:spPr>
        <p:txBody>
          <a:bodyPr vert="eaVert" wrap="square" rtlCol="0">
            <a:spAutoFit/>
          </a:bodyPr>
          <a:lstStyle/>
          <a:p>
            <a:r>
              <a:rPr kumimoji="1" lang="zh-CN" altLang="en-US" dirty="0"/>
              <a:t>重视性能</a:t>
            </a:r>
            <a:endParaRPr kumimoji="1" lang="ja-JP" altLang="en-US" dirty="0"/>
          </a:p>
        </p:txBody>
      </p:sp>
      <p:sp>
        <p:nvSpPr>
          <p:cNvPr id="11" name="テキスト ボックス 10">
            <a:extLst>
              <a:ext uri="{FF2B5EF4-FFF2-40B4-BE49-F238E27FC236}">
                <a16:creationId xmlns:a16="http://schemas.microsoft.com/office/drawing/2014/main" id="{3D2BF55E-00D7-6B44-9F09-BEFA5147CC43}"/>
              </a:ext>
            </a:extLst>
          </p:cNvPr>
          <p:cNvSpPr txBox="1"/>
          <p:nvPr/>
        </p:nvSpPr>
        <p:spPr>
          <a:xfrm>
            <a:off x="4514418" y="1047921"/>
            <a:ext cx="877163" cy="369332"/>
          </a:xfrm>
          <a:prstGeom prst="rect">
            <a:avLst/>
          </a:prstGeom>
          <a:noFill/>
        </p:spPr>
        <p:txBody>
          <a:bodyPr wrap="none" rtlCol="0">
            <a:spAutoFit/>
          </a:bodyPr>
          <a:lstStyle/>
          <a:p>
            <a:r>
              <a:rPr kumimoji="1" lang="ja-JP" altLang="en-US" dirty="0"/>
              <a:t>高</a:t>
            </a:r>
            <a:r>
              <a:rPr kumimoji="1" lang="zh-CN" altLang="en-US" dirty="0"/>
              <a:t>价格</a:t>
            </a:r>
            <a:endParaRPr kumimoji="1" lang="ja-JP" altLang="en-US" dirty="0"/>
          </a:p>
        </p:txBody>
      </p:sp>
    </p:spTree>
    <p:extLst>
      <p:ext uri="{BB962C8B-B14F-4D97-AF65-F5344CB8AC3E}">
        <p14:creationId xmlns:p14="http://schemas.microsoft.com/office/powerpoint/2010/main" val="42877580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A6A010-3921-6F45-90F4-F80208A33D6B}"/>
              </a:ext>
            </a:extLst>
          </p:cNvPr>
          <p:cNvSpPr>
            <a:spLocks noGrp="1"/>
          </p:cNvSpPr>
          <p:nvPr>
            <p:ph type="ctrTitle"/>
          </p:nvPr>
        </p:nvSpPr>
        <p:spPr>
          <a:xfrm>
            <a:off x="354052" y="297294"/>
            <a:ext cx="4598947" cy="409636"/>
          </a:xfrm>
          <a:solidFill>
            <a:schemeClr val="accent2"/>
          </a:solidFill>
        </p:spPr>
        <p:txBody>
          <a:bodyPr anchor="ctr" anchorCtr="0">
            <a:normAutofit/>
          </a:bodyPr>
          <a:lstStyle/>
          <a:p>
            <a:pPr algn="l"/>
            <a:r>
              <a:rPr lang="en-US" altLang="ja-JP" sz="1800" dirty="0">
                <a:solidFill>
                  <a:schemeClr val="bg1"/>
                </a:solidFill>
              </a:rPr>
              <a:t>46</a:t>
            </a:r>
            <a:r>
              <a:rPr lang="ja-JP" altLang="en-US" sz="1800" dirty="0">
                <a:solidFill>
                  <a:schemeClr val="bg1"/>
                </a:solidFill>
              </a:rPr>
              <a:t>　</a:t>
            </a:r>
            <a:r>
              <a:rPr lang="zh-CN" altLang="en-US" sz="1800" dirty="0">
                <a:solidFill>
                  <a:schemeClr val="bg1"/>
                </a:solidFill>
              </a:rPr>
              <a:t>波特的三大基本战略</a:t>
            </a:r>
            <a:r>
              <a:rPr lang="ja-JP" altLang="en-US" sz="900" dirty="0">
                <a:solidFill>
                  <a:schemeClr val="bg1"/>
                </a:solidFill>
              </a:rPr>
              <a:t>  </a:t>
            </a:r>
            <a:r>
              <a:rPr lang="ja-JP" altLang="en-US" sz="1625" dirty="0">
                <a:solidFill>
                  <a:schemeClr val="bg1"/>
                </a:solidFill>
              </a:rPr>
              <a:t>→</a:t>
            </a:r>
            <a:r>
              <a:rPr lang="zh-CN" altLang="en-US" sz="1625" dirty="0">
                <a:solidFill>
                  <a:schemeClr val="bg1"/>
                </a:solidFill>
              </a:rPr>
              <a:t>本书第</a:t>
            </a:r>
            <a:r>
              <a:rPr lang="en-US" altLang="zh-CN" sz="1625" dirty="0">
                <a:solidFill>
                  <a:schemeClr val="bg1"/>
                </a:solidFill>
              </a:rPr>
              <a:t>192</a:t>
            </a:r>
            <a:r>
              <a:rPr lang="zh-CN" altLang="en-US" sz="1625" dirty="0">
                <a:solidFill>
                  <a:schemeClr val="bg1"/>
                </a:solidFill>
              </a:rPr>
              <a:t>页</a:t>
            </a:r>
            <a:endParaRPr lang="ja-JP" altLang="en-US" sz="2600" dirty="0">
              <a:solidFill>
                <a:schemeClr val="bg1"/>
              </a:solidFill>
            </a:endParaRPr>
          </a:p>
        </p:txBody>
      </p:sp>
      <p:sp>
        <p:nvSpPr>
          <p:cNvPr id="3" name="字幕 2">
            <a:extLst>
              <a:ext uri="{FF2B5EF4-FFF2-40B4-BE49-F238E27FC236}">
                <a16:creationId xmlns:a16="http://schemas.microsoft.com/office/drawing/2014/main" id="{4CD0D5EE-8191-3B4A-9266-F1665300C216}"/>
              </a:ext>
            </a:extLst>
          </p:cNvPr>
          <p:cNvSpPr>
            <a:spLocks noGrp="1"/>
          </p:cNvSpPr>
          <p:nvPr>
            <p:ph type="subTitle" idx="1"/>
          </p:nvPr>
        </p:nvSpPr>
        <p:spPr>
          <a:xfrm>
            <a:off x="4953000" y="297294"/>
            <a:ext cx="4598947" cy="409636"/>
          </a:xfrm>
          <a:solidFill>
            <a:schemeClr val="accent2">
              <a:lumMod val="20000"/>
              <a:lumOff val="80000"/>
            </a:schemeClr>
          </a:solidFill>
        </p:spPr>
        <p:txBody>
          <a:bodyPr anchor="ctr" anchorCtr="0">
            <a:normAutofit/>
          </a:bodyPr>
          <a:lstStyle/>
          <a:p>
            <a:pPr algn="l"/>
            <a:r>
              <a:rPr lang="zh-CN" altLang="en-US" sz="1138" dirty="0"/>
              <a:t>将本公司和竞争对手的经营环境套用三大基本战略，理解竞争对手采取的战略方向，确定本公司应该采取的战略。</a:t>
            </a:r>
            <a:endParaRPr lang="en-US" altLang="ja-JP" sz="1138" dirty="0"/>
          </a:p>
        </p:txBody>
      </p:sp>
      <p:sp>
        <p:nvSpPr>
          <p:cNvPr id="6" name="上下矢印 5">
            <a:extLst>
              <a:ext uri="{FF2B5EF4-FFF2-40B4-BE49-F238E27FC236}">
                <a16:creationId xmlns:a16="http://schemas.microsoft.com/office/drawing/2014/main" id="{C51220B1-8589-D840-AB0E-C55CFD1B8EC3}"/>
              </a:ext>
            </a:extLst>
          </p:cNvPr>
          <p:cNvSpPr/>
          <p:nvPr/>
        </p:nvSpPr>
        <p:spPr>
          <a:xfrm flipH="1" flipV="1">
            <a:off x="2248397" y="1064150"/>
            <a:ext cx="258839" cy="4667515"/>
          </a:xfrm>
          <a:prstGeom prst="up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上下矢印 6">
            <a:extLst>
              <a:ext uri="{FF2B5EF4-FFF2-40B4-BE49-F238E27FC236}">
                <a16:creationId xmlns:a16="http://schemas.microsoft.com/office/drawing/2014/main" id="{A53F4AE6-1CF7-7946-88B8-807409F98517}"/>
              </a:ext>
            </a:extLst>
          </p:cNvPr>
          <p:cNvSpPr/>
          <p:nvPr/>
        </p:nvSpPr>
        <p:spPr>
          <a:xfrm rot="5400000" flipH="1" flipV="1">
            <a:off x="4751725" y="3562760"/>
            <a:ext cx="262648" cy="4668339"/>
          </a:xfrm>
          <a:prstGeom prst="up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2C5096D-907F-6A48-B443-4F18BB75F632}"/>
              </a:ext>
            </a:extLst>
          </p:cNvPr>
          <p:cNvSpPr txBox="1"/>
          <p:nvPr/>
        </p:nvSpPr>
        <p:spPr>
          <a:xfrm>
            <a:off x="1827344" y="2774946"/>
            <a:ext cx="430887" cy="1696505"/>
          </a:xfrm>
          <a:prstGeom prst="rect">
            <a:avLst/>
          </a:prstGeom>
          <a:noFill/>
        </p:spPr>
        <p:txBody>
          <a:bodyPr vert="eaVert" wrap="square" rtlCol="0">
            <a:spAutoFit/>
          </a:bodyPr>
          <a:lstStyle/>
          <a:p>
            <a:r>
              <a:rPr kumimoji="1" lang="zh-CN" altLang="en-US" sz="1600" dirty="0"/>
              <a:t>战略目标的广度</a:t>
            </a:r>
            <a:endParaRPr kumimoji="1" lang="ja-JP" altLang="en-US" sz="1600" dirty="0"/>
          </a:p>
        </p:txBody>
      </p:sp>
      <p:sp>
        <p:nvSpPr>
          <p:cNvPr id="9" name="テキスト ボックス 8">
            <a:extLst>
              <a:ext uri="{FF2B5EF4-FFF2-40B4-BE49-F238E27FC236}">
                <a16:creationId xmlns:a16="http://schemas.microsoft.com/office/drawing/2014/main" id="{B6B9A239-BAA3-1C4E-96C4-2762FAA3F780}"/>
              </a:ext>
            </a:extLst>
          </p:cNvPr>
          <p:cNvSpPr txBox="1"/>
          <p:nvPr/>
        </p:nvSpPr>
        <p:spPr>
          <a:xfrm>
            <a:off x="4175726" y="6024030"/>
            <a:ext cx="1415772" cy="338554"/>
          </a:xfrm>
          <a:prstGeom prst="rect">
            <a:avLst/>
          </a:prstGeom>
          <a:noFill/>
        </p:spPr>
        <p:txBody>
          <a:bodyPr wrap="none" rtlCol="0">
            <a:spAutoFit/>
          </a:bodyPr>
          <a:lstStyle/>
          <a:p>
            <a:r>
              <a:rPr kumimoji="1" lang="zh-CN" altLang="en-US" sz="1600" dirty="0"/>
              <a:t>竞争优势类型</a:t>
            </a:r>
            <a:endParaRPr kumimoji="1" lang="ja-JP" altLang="en-US" sz="1600" dirty="0"/>
          </a:p>
        </p:txBody>
      </p:sp>
      <p:sp>
        <p:nvSpPr>
          <p:cNvPr id="11" name="テキスト ボックス 10">
            <a:extLst>
              <a:ext uri="{FF2B5EF4-FFF2-40B4-BE49-F238E27FC236}">
                <a16:creationId xmlns:a16="http://schemas.microsoft.com/office/drawing/2014/main" id="{9E536399-D129-5B47-8548-1202236495FF}"/>
              </a:ext>
            </a:extLst>
          </p:cNvPr>
          <p:cNvSpPr txBox="1"/>
          <p:nvPr/>
        </p:nvSpPr>
        <p:spPr>
          <a:xfrm>
            <a:off x="1298797" y="1064151"/>
            <a:ext cx="992579" cy="500137"/>
          </a:xfrm>
          <a:prstGeom prst="rect">
            <a:avLst/>
          </a:prstGeom>
          <a:noFill/>
        </p:spPr>
        <p:txBody>
          <a:bodyPr wrap="none" rtlCol="0">
            <a:spAutoFit/>
          </a:bodyPr>
          <a:lstStyle/>
          <a:p>
            <a:pPr algn="ctr"/>
            <a:r>
              <a:rPr kumimoji="1" lang="zh-CN" altLang="en-US" sz="1600" dirty="0"/>
              <a:t>广</a:t>
            </a:r>
            <a:endParaRPr kumimoji="1" lang="en-US" altLang="zh-CN" sz="1600" dirty="0"/>
          </a:p>
          <a:p>
            <a:pPr algn="ctr"/>
            <a:r>
              <a:rPr kumimoji="1" lang="ja-JP" altLang="en-US" sz="1050" dirty="0"/>
              <a:t>（</a:t>
            </a:r>
            <a:r>
              <a:rPr kumimoji="1" lang="zh-CN" altLang="en-US" sz="1050" dirty="0"/>
              <a:t>全体客户</a:t>
            </a:r>
            <a:r>
              <a:rPr kumimoji="1" lang="ja-JP" altLang="en-US" sz="1050" dirty="0"/>
              <a:t>）</a:t>
            </a:r>
          </a:p>
        </p:txBody>
      </p:sp>
      <p:sp>
        <p:nvSpPr>
          <p:cNvPr id="15" name="テキスト ボックス 14">
            <a:extLst>
              <a:ext uri="{FF2B5EF4-FFF2-40B4-BE49-F238E27FC236}">
                <a16:creationId xmlns:a16="http://schemas.microsoft.com/office/drawing/2014/main" id="{CA40D9B7-ECD3-2447-AEF5-54429D4A02CF}"/>
              </a:ext>
            </a:extLst>
          </p:cNvPr>
          <p:cNvSpPr txBox="1"/>
          <p:nvPr/>
        </p:nvSpPr>
        <p:spPr>
          <a:xfrm>
            <a:off x="1298797" y="5230837"/>
            <a:ext cx="992579" cy="500137"/>
          </a:xfrm>
          <a:prstGeom prst="rect">
            <a:avLst/>
          </a:prstGeom>
          <a:noFill/>
        </p:spPr>
        <p:txBody>
          <a:bodyPr wrap="none" rtlCol="0">
            <a:spAutoFit/>
          </a:bodyPr>
          <a:lstStyle/>
          <a:p>
            <a:pPr algn="ctr"/>
            <a:r>
              <a:rPr kumimoji="1" lang="zh-CN" altLang="en-US" sz="1600" dirty="0"/>
              <a:t>窄</a:t>
            </a:r>
            <a:endParaRPr kumimoji="1" lang="en-US" altLang="zh-CN" sz="1600" dirty="0"/>
          </a:p>
          <a:p>
            <a:pPr algn="ctr"/>
            <a:r>
              <a:rPr kumimoji="1" lang="ja-JP" altLang="en-US" sz="1050" dirty="0"/>
              <a:t>（</a:t>
            </a:r>
            <a:r>
              <a:rPr kumimoji="1" lang="zh-CN" altLang="en-US" sz="1050" dirty="0"/>
              <a:t>特定领域</a:t>
            </a:r>
            <a:r>
              <a:rPr kumimoji="1" lang="ja-JP" altLang="en-US" sz="1050" dirty="0"/>
              <a:t>）</a:t>
            </a:r>
          </a:p>
        </p:txBody>
      </p:sp>
      <p:sp>
        <p:nvSpPr>
          <p:cNvPr id="16" name="テキスト ボックス 15">
            <a:extLst>
              <a:ext uri="{FF2B5EF4-FFF2-40B4-BE49-F238E27FC236}">
                <a16:creationId xmlns:a16="http://schemas.microsoft.com/office/drawing/2014/main" id="{837451AA-8C13-CD4E-BB20-99AC583CB735}"/>
              </a:ext>
            </a:extLst>
          </p:cNvPr>
          <p:cNvSpPr txBox="1"/>
          <p:nvPr/>
        </p:nvSpPr>
        <p:spPr>
          <a:xfrm>
            <a:off x="2358703" y="6037486"/>
            <a:ext cx="1271051" cy="523220"/>
          </a:xfrm>
          <a:prstGeom prst="rect">
            <a:avLst/>
          </a:prstGeom>
          <a:noFill/>
        </p:spPr>
        <p:txBody>
          <a:bodyPr wrap="square" rtlCol="0">
            <a:spAutoFit/>
          </a:bodyPr>
          <a:lstStyle/>
          <a:p>
            <a:pPr algn="ctr"/>
            <a:r>
              <a:rPr kumimoji="1" lang="zh-CN" altLang="en-US" sz="1400" dirty="0"/>
              <a:t>比竞争对手</a:t>
            </a:r>
            <a:endParaRPr kumimoji="1" lang="en-US" altLang="zh-CN" sz="1400" dirty="0"/>
          </a:p>
          <a:p>
            <a:pPr algn="ctr"/>
            <a:r>
              <a:rPr kumimoji="1" lang="zh-CN" altLang="en-US" sz="1400" dirty="0"/>
              <a:t>成本低</a:t>
            </a:r>
            <a:endParaRPr kumimoji="1" lang="ja-JP" altLang="en-US" sz="1400" dirty="0"/>
          </a:p>
        </p:txBody>
      </p:sp>
      <p:grpSp>
        <p:nvGrpSpPr>
          <p:cNvPr id="5" name="グループ化 4">
            <a:extLst>
              <a:ext uri="{FF2B5EF4-FFF2-40B4-BE49-F238E27FC236}">
                <a16:creationId xmlns:a16="http://schemas.microsoft.com/office/drawing/2014/main" id="{0462661B-23CB-F646-998E-508D650AD9F7}"/>
              </a:ext>
            </a:extLst>
          </p:cNvPr>
          <p:cNvGrpSpPr/>
          <p:nvPr/>
        </p:nvGrpSpPr>
        <p:grpSpPr>
          <a:xfrm>
            <a:off x="2548884" y="1064151"/>
            <a:ext cx="4668334" cy="4667517"/>
            <a:chOff x="2548884" y="1064151"/>
            <a:chExt cx="4668334" cy="4667517"/>
          </a:xfrm>
        </p:grpSpPr>
        <p:sp>
          <p:nvSpPr>
            <p:cNvPr id="12" name="正方形/長方形 11">
              <a:extLst>
                <a:ext uri="{FF2B5EF4-FFF2-40B4-BE49-F238E27FC236}">
                  <a16:creationId xmlns:a16="http://schemas.microsoft.com/office/drawing/2014/main" id="{7CF86A65-D8DC-024C-AF25-07791EBEAFBC}"/>
                </a:ext>
              </a:extLst>
            </p:cNvPr>
            <p:cNvSpPr/>
            <p:nvPr/>
          </p:nvSpPr>
          <p:spPr>
            <a:xfrm>
              <a:off x="2548884" y="1064152"/>
              <a:ext cx="2333606" cy="2331403"/>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成本领先战略</a:t>
              </a:r>
              <a:endParaRPr kumimoji="1" lang="ja-JP" altLang="en-US" dirty="0">
                <a:solidFill>
                  <a:schemeClr val="accent3">
                    <a:lumMod val="75000"/>
                  </a:schemeClr>
                </a:solidFill>
              </a:endParaRPr>
            </a:p>
          </p:txBody>
        </p:sp>
        <p:sp>
          <p:nvSpPr>
            <p:cNvPr id="17" name="正方形/長方形 16">
              <a:extLst>
                <a:ext uri="{FF2B5EF4-FFF2-40B4-BE49-F238E27FC236}">
                  <a16:creationId xmlns:a16="http://schemas.microsoft.com/office/drawing/2014/main" id="{419D19D1-A8BC-B246-9FBF-03551FE27827}"/>
                </a:ext>
              </a:extLst>
            </p:cNvPr>
            <p:cNvSpPr/>
            <p:nvPr/>
          </p:nvSpPr>
          <p:spPr>
            <a:xfrm>
              <a:off x="4883612" y="1064151"/>
              <a:ext cx="2333606" cy="2331403"/>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差异化战略</a:t>
              </a:r>
              <a:endParaRPr kumimoji="1" lang="ja-JP" altLang="en-US" dirty="0">
                <a:solidFill>
                  <a:schemeClr val="accent3">
                    <a:lumMod val="75000"/>
                  </a:schemeClr>
                </a:solidFill>
              </a:endParaRPr>
            </a:p>
          </p:txBody>
        </p:sp>
        <p:sp>
          <p:nvSpPr>
            <p:cNvPr id="18" name="正方形/長方形 17">
              <a:extLst>
                <a:ext uri="{FF2B5EF4-FFF2-40B4-BE49-F238E27FC236}">
                  <a16:creationId xmlns:a16="http://schemas.microsoft.com/office/drawing/2014/main" id="{46AC34C3-C194-FB4B-A9EF-184D47FD6F48}"/>
                </a:ext>
              </a:extLst>
            </p:cNvPr>
            <p:cNvSpPr/>
            <p:nvPr/>
          </p:nvSpPr>
          <p:spPr>
            <a:xfrm>
              <a:off x="2548884" y="3400265"/>
              <a:ext cx="2333606" cy="2331403"/>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zh-CN" altLang="en-US" dirty="0">
                  <a:solidFill>
                    <a:schemeClr val="accent3">
                      <a:lumMod val="75000"/>
                    </a:schemeClr>
                  </a:solidFill>
                </a:rPr>
                <a:t>集中化战略</a:t>
              </a:r>
              <a:endParaRPr kumimoji="1" lang="en-US" altLang="ja-JP" dirty="0">
                <a:solidFill>
                  <a:schemeClr val="accent3">
                    <a:lumMod val="75000"/>
                  </a:schemeClr>
                </a:solidFill>
              </a:endParaRPr>
            </a:p>
            <a:p>
              <a:r>
                <a:rPr kumimoji="1" lang="ja-JP" altLang="en-US" sz="1600" dirty="0">
                  <a:solidFill>
                    <a:schemeClr val="accent3">
                      <a:lumMod val="75000"/>
                    </a:schemeClr>
                  </a:solidFill>
                </a:rPr>
                <a:t>（</a:t>
              </a:r>
              <a:r>
                <a:rPr kumimoji="1" lang="zh-CN" altLang="en-US" sz="1600" dirty="0">
                  <a:solidFill>
                    <a:schemeClr val="accent3">
                      <a:lumMod val="75000"/>
                    </a:schemeClr>
                  </a:solidFill>
                </a:rPr>
                <a:t>成本</a:t>
              </a:r>
              <a:r>
                <a:rPr kumimoji="1" lang="ja-JP" altLang="en-US" sz="1600" dirty="0">
                  <a:solidFill>
                    <a:schemeClr val="accent3">
                      <a:lumMod val="75000"/>
                    </a:schemeClr>
                  </a:solidFill>
                </a:rPr>
                <a:t>集中）</a:t>
              </a:r>
            </a:p>
          </p:txBody>
        </p:sp>
        <p:sp>
          <p:nvSpPr>
            <p:cNvPr id="19" name="正方形/長方形 18">
              <a:extLst>
                <a:ext uri="{FF2B5EF4-FFF2-40B4-BE49-F238E27FC236}">
                  <a16:creationId xmlns:a16="http://schemas.microsoft.com/office/drawing/2014/main" id="{CA7DB536-C9C3-4846-8AA4-1167D3E71A08}"/>
                </a:ext>
              </a:extLst>
            </p:cNvPr>
            <p:cNvSpPr/>
            <p:nvPr/>
          </p:nvSpPr>
          <p:spPr>
            <a:xfrm>
              <a:off x="4883612" y="3400264"/>
              <a:ext cx="2333606" cy="2331403"/>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dirty="0">
                  <a:solidFill>
                    <a:schemeClr val="accent3">
                      <a:lumMod val="75000"/>
                    </a:schemeClr>
                  </a:solidFill>
                </a:rPr>
                <a:t>集中</a:t>
              </a:r>
              <a:r>
                <a:rPr kumimoji="1" lang="zh-CN" altLang="en-US" dirty="0">
                  <a:solidFill>
                    <a:schemeClr val="accent3">
                      <a:lumMod val="75000"/>
                    </a:schemeClr>
                  </a:solidFill>
                </a:rPr>
                <a:t>化战略</a:t>
              </a:r>
              <a:endParaRPr kumimoji="1" lang="en-US" altLang="ja-JP" dirty="0">
                <a:solidFill>
                  <a:schemeClr val="accent3">
                    <a:lumMod val="75000"/>
                  </a:schemeClr>
                </a:solidFill>
              </a:endParaRPr>
            </a:p>
            <a:p>
              <a:r>
                <a:rPr kumimoji="1" lang="ja-JP" altLang="en-US" sz="1600" dirty="0">
                  <a:solidFill>
                    <a:schemeClr val="accent3">
                      <a:lumMod val="75000"/>
                    </a:schemeClr>
                  </a:solidFill>
                </a:rPr>
                <a:t>（</a:t>
              </a:r>
              <a:r>
                <a:rPr kumimoji="1" lang="zh-CN" altLang="en-US" sz="1600" dirty="0">
                  <a:solidFill>
                    <a:schemeClr val="accent3">
                      <a:lumMod val="75000"/>
                    </a:schemeClr>
                  </a:solidFill>
                </a:rPr>
                <a:t>差异化</a:t>
              </a:r>
              <a:r>
                <a:rPr kumimoji="1" lang="ja-JP" altLang="en-US" sz="1600" dirty="0">
                  <a:solidFill>
                    <a:schemeClr val="accent3">
                      <a:lumMod val="75000"/>
                    </a:schemeClr>
                  </a:solidFill>
                </a:rPr>
                <a:t>集中）</a:t>
              </a:r>
            </a:p>
          </p:txBody>
        </p:sp>
      </p:grpSp>
      <p:sp>
        <p:nvSpPr>
          <p:cNvPr id="20" name="テキスト ボックス 19">
            <a:extLst>
              <a:ext uri="{FF2B5EF4-FFF2-40B4-BE49-F238E27FC236}">
                <a16:creationId xmlns:a16="http://schemas.microsoft.com/office/drawing/2014/main" id="{FF86F56E-EFDB-C945-BC7C-301DB3B43BE9}"/>
              </a:ext>
            </a:extLst>
          </p:cNvPr>
          <p:cNvSpPr txBox="1"/>
          <p:nvPr/>
        </p:nvSpPr>
        <p:spPr>
          <a:xfrm>
            <a:off x="6086059" y="6037486"/>
            <a:ext cx="1271050" cy="523220"/>
          </a:xfrm>
          <a:prstGeom prst="rect">
            <a:avLst/>
          </a:prstGeom>
          <a:noFill/>
        </p:spPr>
        <p:txBody>
          <a:bodyPr wrap="square" rtlCol="0">
            <a:spAutoFit/>
          </a:bodyPr>
          <a:lstStyle/>
          <a:p>
            <a:pPr algn="ctr"/>
            <a:r>
              <a:rPr kumimoji="1" lang="zh-CN" altLang="en-US" sz="1400" dirty="0"/>
              <a:t>得到顾客认可的特殊性</a:t>
            </a:r>
            <a:endParaRPr kumimoji="1" lang="ja-JP" altLang="en-US" sz="1400" dirty="0"/>
          </a:p>
        </p:txBody>
      </p:sp>
    </p:spTree>
    <p:extLst>
      <p:ext uri="{BB962C8B-B14F-4D97-AF65-F5344CB8AC3E}">
        <p14:creationId xmlns:p14="http://schemas.microsoft.com/office/powerpoint/2010/main" val="1371958703"/>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4719</TotalTime>
  <Words>3317</Words>
  <Application>Microsoft Office PowerPoint</Application>
  <PresentationFormat>A4 纸张(210x297 毫米)</PresentationFormat>
  <Paragraphs>803</Paragraphs>
  <Slides>46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46</vt:i4>
      </vt:variant>
    </vt:vector>
  </HeadingPairs>
  <TitlesOfParts>
    <vt:vector size="53" baseType="lpstr">
      <vt:lpstr>游ゴシック Light</vt:lpstr>
      <vt:lpstr>等线 Light</vt:lpstr>
      <vt:lpstr>宋体</vt:lpstr>
      <vt:lpstr>Arial</vt:lpstr>
      <vt:lpstr>Calibri</vt:lpstr>
      <vt:lpstr>Calibri Light</vt:lpstr>
      <vt:lpstr>Office テーマ</vt:lpstr>
      <vt:lpstr>01　ＭＥＣＥ原则 →本书第2页</vt:lpstr>
      <vt:lpstr>02　金字塔结构 →本书第6页</vt:lpstr>
      <vt:lpstr>03　六顶思考帽法 →本书第10页</vt:lpstr>
      <vt:lpstr>04　认知重建 →本书第14页</vt:lpstr>
      <vt:lpstr>05　ＰＲＥＰ法 →本书第18页</vt:lpstr>
      <vt:lpstr>06　归纳法与演绎法 →本书第22页</vt:lpstr>
      <vt:lpstr>07书面头脑风暴法 →本书第28页</vt:lpstr>
      <vt:lpstr>08　ＫＪ法 →本书第32页</vt:lpstr>
      <vt:lpstr>09　ＳＣＡＭＰＥＲ法 →本书第36页</vt:lpstr>
      <vt:lpstr>10　曼陀罗思考法 →本书第40页</vt:lpstr>
      <vt:lpstr>11　利弊均衡表 →本书第44页</vt:lpstr>
      <vt:lpstr>12　支付矩阵 →本书第48页</vt:lpstr>
      <vt:lpstr>13　决策矩阵 →本书第52页</vt:lpstr>
      <vt:lpstr>14　逻辑树 →本书第58页</vt:lpstr>
      <vt:lpstr>15　流程图  →本书第62页</vt:lpstr>
      <vt:lpstr>16　差距分析  →本书第66页</vt:lpstr>
      <vt:lpstr>17　议题树 →本书第70页</vt:lpstr>
      <vt:lpstr>18　ＡＢＣ理论  →本书第74页</vt:lpstr>
      <vt:lpstr>19　空—雨—伞  →本书第78页</vt:lpstr>
      <vt:lpstr>20　重要度／紧急度矩阵  →本书第82页</vt:lpstr>
      <vt:lpstr>21　假设思考  →本书第86页</vt:lpstr>
      <vt:lpstr>22　ＰＥＳＴ分析  →本书第92页</vt:lpstr>
      <vt:lpstr>23　五力分析  →本书第96页</vt:lpstr>
      <vt:lpstr>24　３Ｃ分析  →本书第100页</vt:lpstr>
      <vt:lpstr>25　ＳＴＰ分析  →本书第104页</vt:lpstr>
      <vt:lpstr>26　市场营销组合→本书第108页</vt:lpstr>
      <vt:lpstr>27　用户画像分析  →本书第112页</vt:lpstr>
      <vt:lpstr>28　产品生命周期  →本书第116页</vt:lpstr>
      <vt:lpstr>29　ＡＩＤＭＡ模型  →本书第120页</vt:lpstr>
      <vt:lpstr>30　消费者旅程  →本书第124页</vt:lpstr>
      <vt:lpstr>31核心竞争力分析  →本书第128页</vt:lpstr>
      <vt:lpstr>32　品牌资产  →本书第132页</vt:lpstr>
      <vt:lpstr>33　７Ｓ分析  →本书第138页</vt:lpstr>
      <vt:lpstr>34　马斯洛需求理论  →本书第142页</vt:lpstr>
      <vt:lpstr>35　卡茨管理技能模型   →本书第146页</vt:lpstr>
      <vt:lpstr>36　ＰＭ理論 →第150页</vt:lpstr>
      <vt:lpstr>37　５Ｗ１Ｈ  →本书第154页</vt:lpstr>
      <vt:lpstr>38　ＫＰＩ树  →本书第158页</vt:lpstr>
      <vt:lpstr>39　ＰＤＣＡ  →本书第162页</vt:lpstr>
      <vt:lpstr>40　ＳＷＯＴ分析  →本书第168页</vt:lpstr>
      <vt:lpstr>41　价值链分析  →本书第172页</vt:lpstr>
      <vt:lpstr>42　安索夫矩阵  →本书第176页</vt:lpstr>
      <vt:lpstr>43　帕累托法则  →本书第180页</vt:lpstr>
      <vt:lpstr>44　波士顿矩阵 →本书第184页</vt:lpstr>
      <vt:lpstr>45　定位地图  →本书第188页</vt:lpstr>
      <vt:lpstr>46　波特的三大基本战略  →本书第192页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MECE→本誌10ページ</dc:title>
  <dc:creator>岩佐 陸生</dc:creator>
  <cp:lastModifiedBy>周 磊</cp:lastModifiedBy>
  <cp:revision>239</cp:revision>
  <cp:lastPrinted>2020-12-21T10:22:32Z</cp:lastPrinted>
  <dcterms:created xsi:type="dcterms:W3CDTF">2020-11-30T10:49:50Z</dcterms:created>
  <dcterms:modified xsi:type="dcterms:W3CDTF">2023-02-15T02:31:42Z</dcterms:modified>
</cp:coreProperties>
</file>

<file path=docProps/custom.xml><?xml version="1.0" encoding="utf-8"?>
<Properties xmlns:vt="http://schemas.openxmlformats.org/officeDocument/2006/docPropsVTypes" xmlns="http://schemas.openxmlformats.org/officeDocument/2006/custom-properties">
  <property name="CWM578eeab0794e11f1aecb3fa12ecb3ea1" pid="2" fmtid="{D5CDD505-2E9C-101B-9397-08002B2CF9AE}">
    <vt:lpwstr>CWMcMvGv1IRVSiV7R1L4YP2/UBdatYZE3fY7XUiaW3nLdTli847XiscAVPZ8b1RpyeM5t2yN2JZhDJBb02WJz3mIA==</vt:lpwstr>
  </property>
  <property fmtid="{D5CDD505-2E9C-101B-9397-08002B2CF9AE}" pid="3" name="CWMda1e6e1079a811f1890c8d9f090c8d9f">
    <vt:lpwstr>CWMBbJwbZi7stuDKG6ZW+20iI7DFcRs7LWh6MdMEVGzZz6ujKMZfvA9M3kfLQvGw7DlQkUro+h9HUt64prWRueWlQ==</vt:lpwstr>
  </property>
</Properties>
</file>